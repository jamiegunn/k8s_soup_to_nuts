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this is not a talk about documentation. It is the difference between a team that owns a pile of runbooks and a team that owns a map. The three phrases are the models the site already ships — each is a handful of words you can say in an incident channel. Four questions: why they matter, how we help someone build one, how they spread, and what ours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compression number is real: 284 pages, and four models sit above all of it. The disagreement example is the throttled-app field note — a week lost because two correct numbers were read as a contradiction instead of as two lenses. For leaders: incident length is mostly the time between the first command and the right command. A runbook cannot close that gap, because a runbook assumes you already know which one to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four were actually written, and it is teachable. Step 2 is the one people skip: the discipline is not finding three things, it is arguing why there is not a fourth. Step 4 is where a model earns belief. Step 5 has the order that matters — tactics hang off the model, they are not the entry point. When coaching someone building one for their own domain — the CI pipeline, the data platform — walk these six and hold them at step 2 until they can say why not N+1.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correction worth making explicitly. A model is not a tactic and cannot be rolled out like one. Instructions spread by being published and required; orientation spreads by being demonstrated at the moment someone is disoriented — which means the people with the most airtime in an incident channel are the distribution mechanism, not the wiki. The 'dies when' row is the warning for leaders: the fastest way to kill a model is to make it a mandatory field in a review template, because that converts a way of seeing into a compliance task and everyone starts performing it instead of using it. The measure is linguistic — you hear the vocabulary come back from someone who never read the page — and that is a lagging-free signal available in week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is a loop, and that is the load-bearing part: the request you set at Door 1 is the denominator the autoscaler divides by at Door 3, and Door 2 decides whether either number is believable. Nine gallery rows, all real: the readiness probe that took down prod is a Door 2 setting causing a Door 3-looking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is a zoom, not a toolbox: each lens's blind spot is precisely the next lens's field of view, which is why a confusing number is resolved by changing lens rather than by staring harder through the same one. Thirteen gallery rows. This is the model that pays for itself the first time kubectl top and a JVM gauge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last, with every console line captured on a live cluster. The crossroads is the practical payoff: lifecycle failures present as path failures, so glance down the vertical road first — thirty seconds — and only bisect across when all five verbs pass. All five passing with the service still wrong is the sixth question, which hands back to the Lenses.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last. This is what step 5 of the recipe means: the tactics are real and detailed, but they are reached through the model, not instead of it. Note the ordering inside each question — the symptoms are a rule-out list with the one number that rules each in, which is orientation applied to a tactical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6720840" y="1280160"/>
            <a:ext cx="1691640" cy="1691640"/>
          </a:xfrm>
          <a:prstGeom prst="ellipse">
            <a:avLst/>
          </a:prstGeom>
          <a:solidFill>
            <a:srgbClr val="2680C2"/>
          </a:solidFill>
          <a:ln w="12700">
            <a:solidFill>
              <a:srgbClr val="2680C2"/>
            </a:solidFill>
            <a:prstDash val="solid"/>
          </a:ln>
        </p:spPr>
      </p:sp>
      <p:pic>
        <p:nvPicPr>
          <p:cNvPr id="3" name="Image 0" descr="preencoded.png">    </p:cNvPr>
          <p:cNvPicPr>
            <a:picLocks noChangeAspect="1"/>
          </p:cNvPicPr>
          <p:nvPr/>
        </p:nvPicPr>
        <p:blipFill>
          <a:blip r:embed="rId1"/>
          <a:stretch>
            <a:fillRect/>
          </a:stretch>
        </p:blipFill>
        <p:spPr>
          <a:xfrm>
            <a:off x="7126834" y="1686154"/>
            <a:ext cx="879653" cy="879653"/>
          </a:xfrm>
          <a:prstGeom prst="rect">
            <a:avLst/>
          </a:prstGeom>
        </p:spPr>
      </p:pic>
      <p:sp>
        <p:nvSpPr>
          <p:cNvPr id="4" name="Text 1"/>
          <p:cNvSpPr txBox="1"/>
          <p:nvPr/>
        </p:nvSpPr>
        <p:spPr>
          <a:xfrm>
            <a:off x="548640" y="1207008"/>
            <a:ext cx="585216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Mental Models</a:t>
            </a:r>
            <a:endParaRPr lang="en-US" sz="4800" dirty="0"/>
          </a:p>
        </p:txBody>
      </p:sp>
      <p:sp>
        <p:nvSpPr>
          <p:cNvPr id="5" name="Text 2"/>
          <p:cNvSpPr txBox="1"/>
          <p:nvPr/>
        </p:nvSpPr>
        <p:spPr>
          <a:xfrm>
            <a:off x="548640" y="2176272"/>
            <a:ext cx="5760720" cy="822960"/>
          </a:xfrm>
          <a:prstGeom prst="rect">
            <a:avLst/>
          </a:prstGeom>
          <a:noFill/>
          <a:ln/>
        </p:spPr>
        <p:txBody>
          <a:bodyPr wrap="square" lIns="0" tIns="0" rIns="0" bIns="0" rtlCol="0" anchor="ctr"/>
          <a:lstStyle/>
          <a:p>
            <a:pPr indent="0" marL="0">
              <a:buNone/>
            </a:pPr>
            <a:r>
              <a:rPr lang="en-US" sz="1700" dirty="0">
                <a:solidFill>
                  <a:srgbClr val="D9E2EC"/>
                </a:solidFill>
                <a:latin typeface="Calibri" pitchFamily="34" charset="0"/>
                <a:ea typeface="Calibri" pitchFamily="34" charset="-122"/>
                <a:cs typeface="Calibri" pitchFamily="34" charset="-120"/>
              </a:rPr>
              <a:t>Why they matter, how we help people build them, how they spread — three we have already built, and the tactical layer they carry.</a:t>
            </a:r>
            <a:endParaRPr lang="en-US" sz="1700" dirty="0"/>
          </a:p>
        </p:txBody>
      </p:sp>
      <p:sp>
        <p:nvSpPr>
          <p:cNvPr id="6" name="Text 3"/>
          <p:cNvSpPr txBox="1"/>
          <p:nvPr/>
        </p:nvSpPr>
        <p:spPr>
          <a:xfrm>
            <a:off x="548640" y="3246120"/>
            <a:ext cx="8046720" cy="365760"/>
          </a:xfrm>
          <a:prstGeom prst="rect">
            <a:avLst/>
          </a:prstGeom>
          <a:noFill/>
          <a:ln/>
        </p:spPr>
        <p:txBody>
          <a:bodyPr wrap="square" lIns="0" tIns="0" rIns="0" bIns="0" rtlCol="0" anchor="ctr"/>
          <a:lstStyle/>
          <a:p>
            <a:pPr indent="0" marL="0">
              <a:buNone/>
            </a:pPr>
            <a:r>
              <a:rPr lang="en-US" sz="1400" b="1" dirty="0">
                <a:solidFill>
                  <a:srgbClr val="4098D7"/>
                </a:solidFill>
                <a:latin typeface="Calibri" pitchFamily="34" charset="0"/>
                <a:ea typeface="Calibri" pitchFamily="34" charset="-122"/>
                <a:cs typeface="Calibri" pitchFamily="34" charset="-120"/>
              </a:rPr>
              <a:t>cost · truth · response</a:t>
            </a:r>
            <a:pPr indent="0" marL="0">
              <a:buNone/>
            </a:pPr>
            <a:r>
              <a:rPr lang="en-US" sz="1400" b="1" dirty="0">
                <a:solidFill>
                  <a:srgbClr val="4098D7"/>
                </a:solidFill>
                <a:latin typeface="Calibri" pitchFamily="34" charset="0"/>
                <a:ea typeface="Calibri" pitchFamily="34" charset="-122"/>
                <a:cs typeface="Calibri" pitchFamily="34" charset="-120"/>
              </a:rPr>
              <a:t>     cost · report · interrogation</a:t>
            </a:r>
            <a:pPr indent="0" marL="0">
              <a:buNone/>
            </a:pPr>
            <a:r>
              <a:rPr lang="en-US" sz="1400" b="1" dirty="0">
                <a:solidFill>
                  <a:srgbClr val="4098D7"/>
                </a:solidFill>
                <a:latin typeface="Calibri" pitchFamily="34" charset="0"/>
                <a:ea typeface="Calibri" pitchFamily="34" charset="-122"/>
                <a:cs typeface="Calibri" pitchFamily="34" charset="-120"/>
              </a:rPr>
              <a:t>     down · across · descend</a:t>
            </a:r>
            <a:endParaRPr lang="en-US" sz="1400" dirty="0"/>
          </a:p>
        </p:txBody>
      </p:sp>
      <p:sp>
        <p:nvSpPr>
          <p:cNvPr id="7" name="Text 4"/>
          <p:cNvSpPr txBox="1"/>
          <p:nvPr/>
        </p:nvSpPr>
        <p:spPr>
          <a:xfrm>
            <a:off x="548640" y="4389120"/>
            <a:ext cx="8046720" cy="320040"/>
          </a:xfrm>
          <a:prstGeom prst="rect">
            <a:avLst/>
          </a:prstGeom>
          <a:noFill/>
          <a:ln/>
        </p:spPr>
        <p:txBody>
          <a:bodyPr wrap="square" lIns="0" tIns="0" rIns="0" bIns="0" rtlCol="0" anchor="ctr"/>
          <a:lstStyle/>
          <a:p>
            <a:pPr indent="0" marL="0">
              <a:buNone/>
            </a:pPr>
            <a:r>
              <a:rPr lang="en-US" sz="1100" dirty="0">
                <a:solidFill>
                  <a:srgbClr val="829AB1"/>
                </a:solidFill>
                <a:latin typeface="Calibri" pitchFamily="34" charset="0"/>
                <a:ea typeface="Calibri" pitchFamily="34" charset="-122"/>
                <a:cs typeface="Calibri" pitchFamily="34" charset="-120"/>
              </a:rPr>
              <a:t>K8s Soup to Nuts  ·  for technical leaders, engineering leads, and the platform team</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66928"/>
          </a:xfrm>
          <a:prstGeom prst="rect">
            <a:avLst/>
          </a:prstGeom>
          <a:noFill/>
          <a:ln/>
        </p:spPr>
        <p:txBody>
          <a:bodyPr wrap="square" lIns="0" tIns="0" rIns="0" bIns="0" rtlCol="0" anchor="ctr"/>
          <a:lstStyle/>
          <a:p>
            <a:pPr indent="0" marL="0">
              <a:buNone/>
            </a:pPr>
            <a:r>
              <a:rPr lang="en-US" sz="3200" b="1" dirty="0">
                <a:solidFill>
                  <a:srgbClr val="102A43"/>
                </a:solidFill>
                <a:latin typeface="Cambria" pitchFamily="34" charset="0"/>
                <a:ea typeface="Cambria" pitchFamily="34" charset="-122"/>
                <a:cs typeface="Cambria" pitchFamily="34" charset="-120"/>
              </a:rPr>
              <a:t>Why they matter</a:t>
            </a:r>
            <a:endParaRPr lang="en-US" sz="3200" dirty="0"/>
          </a:p>
        </p:txBody>
      </p:sp>
      <p:sp>
        <p:nvSpPr>
          <p:cNvPr id="3" name="Text 1"/>
          <p:cNvSpPr txBox="1"/>
          <p:nvPr/>
        </p:nvSpPr>
        <p:spPr>
          <a:xfrm>
            <a:off x="457200" y="914400"/>
            <a:ext cx="8229600" cy="320040"/>
          </a:xfrm>
          <a:prstGeom prst="rect">
            <a:avLst/>
          </a:prstGeom>
          <a:noFill/>
          <a:ln/>
        </p:spPr>
        <p:txBody>
          <a:bodyPr wrap="square" lIns="0" tIns="0" rIns="0" bIns="0" rtlCol="0" anchor="ctr"/>
          <a:lstStyle/>
          <a:p>
            <a:pPr indent="0" marL="0">
              <a:buNone/>
            </a:pPr>
            <a:r>
              <a:rPr lang="en-US" sz="1300" i="1" dirty="0">
                <a:solidFill>
                  <a:srgbClr val="486581"/>
                </a:solidFill>
                <a:latin typeface="Calibri" pitchFamily="34" charset="0"/>
                <a:ea typeface="Calibri" pitchFamily="34" charset="-122"/>
                <a:cs typeface="Calibri" pitchFamily="34" charset="-120"/>
              </a:rPr>
              <a:t>A runbook tells you what to do. A model tells you where you are — which is what decides what to do.</a:t>
            </a:r>
            <a:endParaRPr lang="en-US" sz="1300" dirty="0"/>
          </a:p>
        </p:txBody>
      </p:sp>
      <p:sp>
        <p:nvSpPr>
          <p:cNvPr id="4" name="Shape 2"/>
          <p:cNvSpPr/>
          <p:nvPr/>
        </p:nvSpPr>
        <p:spPr>
          <a:xfrm>
            <a:off x="457200" y="1371600"/>
            <a:ext cx="3246120" cy="2788920"/>
          </a:xfrm>
          <a:prstGeom prst="roundRect">
            <a:avLst>
              <a:gd name="adj" fmla="val 2623"/>
            </a:avLst>
          </a:prstGeom>
          <a:solidFill>
            <a:srgbClr val="102A43"/>
          </a:solidFill>
          <a:ln w="12700">
            <a:solidFill>
              <a:srgbClr val="102A43"/>
            </a:solidFill>
            <a:prstDash val="solid"/>
          </a:ln>
        </p:spPr>
      </p:sp>
      <p:sp>
        <p:nvSpPr>
          <p:cNvPr id="5" name="Text 3"/>
          <p:cNvSpPr txBox="1"/>
          <p:nvPr/>
        </p:nvSpPr>
        <p:spPr>
          <a:xfrm>
            <a:off x="658368" y="1463040"/>
            <a:ext cx="2834640" cy="731520"/>
          </a:xfrm>
          <a:prstGeom prst="rect">
            <a:avLst/>
          </a:prstGeom>
          <a:noFill/>
          <a:ln/>
        </p:spPr>
        <p:txBody>
          <a:bodyPr wrap="square" lIns="0" tIns="0" rIns="0" bIns="0" rtlCol="0" anchor="ctr"/>
          <a:lstStyle/>
          <a:p>
            <a:pPr indent="0" marL="0">
              <a:buNone/>
            </a:pPr>
            <a:r>
              <a:rPr lang="en-US" sz="5200" b="1" dirty="0">
                <a:solidFill>
                  <a:srgbClr val="4098D7"/>
                </a:solidFill>
                <a:latin typeface="Cambria" pitchFamily="34" charset="0"/>
                <a:ea typeface="Cambria" pitchFamily="34" charset="-122"/>
                <a:cs typeface="Cambria" pitchFamily="34" charset="-120"/>
              </a:rPr>
              <a:t>284</a:t>
            </a:r>
            <a:endParaRPr lang="en-US" sz="5200" dirty="0"/>
          </a:p>
        </p:txBody>
      </p:sp>
      <p:sp>
        <p:nvSpPr>
          <p:cNvPr id="6" name="Text 4"/>
          <p:cNvSpPr txBox="1"/>
          <p:nvPr/>
        </p:nvSpPr>
        <p:spPr>
          <a:xfrm>
            <a:off x="658368" y="2194560"/>
            <a:ext cx="2834640" cy="457200"/>
          </a:xfrm>
          <a:prstGeom prst="rect">
            <a:avLst/>
          </a:prstGeom>
          <a:noFill/>
          <a:ln/>
        </p:spPr>
        <p:txBody>
          <a:bodyPr wrap="square" lIns="0" tIns="0" rIns="0" bIns="0" rtlCol="0" anchor="ctr"/>
          <a:lstStyle/>
          <a:p>
            <a:pPr indent="0" marL="0">
              <a:buNone/>
            </a:pPr>
            <a:r>
              <a:rPr lang="en-US" sz="1250" dirty="0">
                <a:solidFill>
                  <a:srgbClr val="D9E2EC"/>
                </a:solidFill>
                <a:latin typeface="Calibri" pitchFamily="34" charset="0"/>
                <a:ea typeface="Calibri" pitchFamily="34" charset="-122"/>
                <a:cs typeface="Calibri" pitchFamily="34" charset="-120"/>
              </a:rPr>
              <a:t>pages, 21 runbooks, 16 field notes on the site —</a:t>
            </a:r>
            <a:endParaRPr lang="en-US" sz="1250" dirty="0"/>
          </a:p>
        </p:txBody>
      </p:sp>
      <p:sp>
        <p:nvSpPr>
          <p:cNvPr id="7" name="Text 5"/>
          <p:cNvSpPr txBox="1"/>
          <p:nvPr/>
        </p:nvSpPr>
        <p:spPr>
          <a:xfrm>
            <a:off x="658368" y="2633472"/>
            <a:ext cx="2834640" cy="731520"/>
          </a:xfrm>
          <a:prstGeom prst="rect">
            <a:avLst/>
          </a:prstGeom>
          <a:noFill/>
          <a:ln/>
        </p:spPr>
        <p:txBody>
          <a:bodyPr wrap="square" lIns="0" tIns="0" rIns="0" bIns="0" rtlCol="0" anchor="ctr"/>
          <a:lstStyle/>
          <a:p>
            <a:pPr indent="0" marL="0">
              <a:buNone/>
            </a:pPr>
            <a:r>
              <a:rPr lang="en-US" sz="5200" b="1" dirty="0">
                <a:solidFill>
                  <a:srgbClr val="4098D7"/>
                </a:solidFill>
                <a:latin typeface="Cambria" pitchFamily="34" charset="0"/>
                <a:ea typeface="Cambria" pitchFamily="34" charset="-122"/>
                <a:cs typeface="Cambria" pitchFamily="34" charset="-120"/>
              </a:rPr>
              <a:t>4</a:t>
            </a:r>
            <a:endParaRPr lang="en-US" sz="5200" dirty="0"/>
          </a:p>
        </p:txBody>
      </p:sp>
      <p:sp>
        <p:nvSpPr>
          <p:cNvPr id="8" name="Text 6"/>
          <p:cNvSpPr txBox="1"/>
          <p:nvPr/>
        </p:nvSpPr>
        <p:spPr>
          <a:xfrm>
            <a:off x="658368" y="3364992"/>
            <a:ext cx="2834640" cy="731520"/>
          </a:xfrm>
          <a:prstGeom prst="rect">
            <a:avLst/>
          </a:prstGeom>
          <a:noFill/>
          <a:ln/>
        </p:spPr>
        <p:txBody>
          <a:bodyPr wrap="square" lIns="0" tIns="0" rIns="0" bIns="0" rtlCol="0" anchor="ctr"/>
          <a:lstStyle/>
          <a:p>
            <a:pPr indent="0" marL="0">
              <a:buNone/>
            </a:pPr>
            <a:r>
              <a:rPr lang="en-US" sz="1250" dirty="0">
                <a:solidFill>
                  <a:srgbClr val="D9E2EC"/>
                </a:solidFill>
                <a:latin typeface="Calibri" pitchFamily="34" charset="0"/>
                <a:ea typeface="Calibri" pitchFamily="34" charset="-122"/>
                <a:cs typeface="Calibri" pitchFamily="34" charset="-120"/>
              </a:rPr>
              <a:t>models a new engineer can hold on day one. Everything else is a refinement inside one of them.</a:t>
            </a:r>
            <a:endParaRPr lang="en-US" sz="1250" dirty="0"/>
          </a:p>
        </p:txBody>
      </p:sp>
      <p:sp>
        <p:nvSpPr>
          <p:cNvPr id="9" name="Shape 7"/>
          <p:cNvSpPr/>
          <p:nvPr/>
        </p:nvSpPr>
        <p:spPr>
          <a:xfrm>
            <a:off x="4114800" y="1344168"/>
            <a:ext cx="457200" cy="457200"/>
          </a:xfrm>
          <a:prstGeom prst="ellipse">
            <a:avLst/>
          </a:prstGeom>
          <a:solidFill>
            <a:srgbClr val="2680C2"/>
          </a:solidFill>
          <a:ln w="12700">
            <a:solidFill>
              <a:srgbClr val="2680C2"/>
            </a:solidFill>
            <a:prstDash val="solid"/>
          </a:ln>
        </p:spPr>
      </p:sp>
      <p:pic>
        <p:nvPicPr>
          <p:cNvPr id="10" name="Image 0" descr="preencoded.png">    </p:cNvPr>
          <p:cNvPicPr>
            <a:picLocks noChangeAspect="1"/>
          </p:cNvPicPr>
          <p:nvPr/>
        </p:nvPicPr>
        <p:blipFill>
          <a:blip r:embed="rId1"/>
          <a:stretch>
            <a:fillRect/>
          </a:stretch>
        </p:blipFill>
        <p:spPr>
          <a:xfrm>
            <a:off x="4224528" y="1453896"/>
            <a:ext cx="237744" cy="237744"/>
          </a:xfrm>
          <a:prstGeom prst="rect">
            <a:avLst/>
          </a:prstGeom>
        </p:spPr>
      </p:pic>
      <p:sp>
        <p:nvSpPr>
          <p:cNvPr id="11" name="Text 8"/>
          <p:cNvSpPr txBox="1"/>
          <p:nvPr/>
        </p:nvSpPr>
        <p:spPr>
          <a:xfrm>
            <a:off x="4709160" y="1307592"/>
            <a:ext cx="3977640" cy="274320"/>
          </a:xfrm>
          <a:prstGeom prst="rect">
            <a:avLst/>
          </a:prstGeom>
          <a:noFill/>
          <a:ln/>
        </p:spPr>
        <p:txBody>
          <a:bodyPr wrap="square" lIns="0" tIns="0" rIns="0" bIns="0" rtlCol="0" anchor="ctr"/>
          <a:lstStyle/>
          <a:p>
            <a:pPr indent="0" marL="0">
              <a:buNone/>
            </a:pPr>
            <a:r>
              <a:rPr lang="en-US" sz="1400" b="1" dirty="0">
                <a:solidFill>
                  <a:srgbClr val="102A43"/>
                </a:solidFill>
                <a:latin typeface="Calibri" pitchFamily="34" charset="0"/>
                <a:ea typeface="Calibri" pitchFamily="34" charset="-122"/>
                <a:cs typeface="Calibri" pitchFamily="34" charset="-120"/>
              </a:rPr>
              <a:t>They compress</a:t>
            </a:r>
            <a:endParaRPr lang="en-US" sz="1400" dirty="0"/>
          </a:p>
        </p:txBody>
      </p:sp>
      <p:sp>
        <p:nvSpPr>
          <p:cNvPr id="12" name="Text 9"/>
          <p:cNvSpPr txBox="1"/>
          <p:nvPr/>
        </p:nvSpPr>
        <p:spPr>
          <a:xfrm>
            <a:off x="4709160" y="1572768"/>
            <a:ext cx="3977640" cy="457200"/>
          </a:xfrm>
          <a:prstGeom prst="rect">
            <a:avLst/>
          </a:prstGeom>
          <a:noFill/>
          <a:ln/>
        </p:spPr>
        <p:txBody>
          <a:bodyPr wrap="square" lIns="0" tIns="0" rIns="0" bIns="0" rtlCol="0" anchor="ctr"/>
          <a:lstStyle/>
          <a:p>
            <a:pPr indent="0" marL="0">
              <a:buNone/>
            </a:pPr>
            <a:r>
              <a:rPr lang="en-US" sz="1050" dirty="0">
                <a:solidFill>
                  <a:srgbClr val="486581"/>
                </a:solidFill>
                <a:latin typeface="Calibri" pitchFamily="34" charset="0"/>
                <a:ea typeface="Calibri" pitchFamily="34" charset="-122"/>
                <a:cs typeface="Calibri" pitchFamily="34" charset="-120"/>
              </a:rPr>
              <a:t>The smallest complete set: Kubernetes needs exactly three things from a workload, and there is no fourth. Hold three questions; derive the rest.</a:t>
            </a:r>
            <a:endParaRPr lang="en-US" sz="1050" dirty="0"/>
          </a:p>
        </p:txBody>
      </p:sp>
      <p:sp>
        <p:nvSpPr>
          <p:cNvPr id="13" name="Shape 10"/>
          <p:cNvSpPr/>
          <p:nvPr/>
        </p:nvSpPr>
        <p:spPr>
          <a:xfrm>
            <a:off x="4114800" y="2093976"/>
            <a:ext cx="457200" cy="457200"/>
          </a:xfrm>
          <a:prstGeom prst="ellipse">
            <a:avLst/>
          </a:prstGeom>
          <a:solidFill>
            <a:srgbClr val="2680C2"/>
          </a:solidFill>
          <a:ln w="12700">
            <a:solidFill>
              <a:srgbClr val="2680C2"/>
            </a:solidFill>
            <a:prstDash val="solid"/>
          </a:ln>
        </p:spPr>
      </p:sp>
      <p:pic>
        <p:nvPicPr>
          <p:cNvPr id="14" name="Image 1" descr="preencoded.png">    </p:cNvPr>
          <p:cNvPicPr>
            <a:picLocks noChangeAspect="1"/>
          </p:cNvPicPr>
          <p:nvPr/>
        </p:nvPicPr>
        <p:blipFill>
          <a:blip r:embed="rId2"/>
          <a:stretch>
            <a:fillRect/>
          </a:stretch>
        </p:blipFill>
        <p:spPr>
          <a:xfrm>
            <a:off x="4224528" y="2203704"/>
            <a:ext cx="237744" cy="237744"/>
          </a:xfrm>
          <a:prstGeom prst="rect">
            <a:avLst/>
          </a:prstGeom>
        </p:spPr>
      </p:pic>
      <p:sp>
        <p:nvSpPr>
          <p:cNvPr id="15" name="Text 11"/>
          <p:cNvSpPr txBox="1"/>
          <p:nvPr/>
        </p:nvSpPr>
        <p:spPr>
          <a:xfrm>
            <a:off x="4709160" y="2057400"/>
            <a:ext cx="3977640" cy="274320"/>
          </a:xfrm>
          <a:prstGeom prst="rect">
            <a:avLst/>
          </a:prstGeom>
          <a:noFill/>
          <a:ln/>
        </p:spPr>
        <p:txBody>
          <a:bodyPr wrap="square" lIns="0" tIns="0" rIns="0" bIns="0" rtlCol="0" anchor="ctr"/>
          <a:lstStyle/>
          <a:p>
            <a:pPr indent="0" marL="0">
              <a:buNone/>
            </a:pPr>
            <a:r>
              <a:rPr lang="en-US" sz="1400" b="1" dirty="0">
                <a:solidFill>
                  <a:srgbClr val="102A43"/>
                </a:solidFill>
                <a:latin typeface="Calibri" pitchFamily="34" charset="0"/>
                <a:ea typeface="Calibri" pitchFamily="34" charset="-122"/>
                <a:cs typeface="Calibri" pitchFamily="34" charset="-120"/>
              </a:rPr>
              <a:t>They make disagreement resolvable</a:t>
            </a:r>
            <a:endParaRPr lang="en-US" sz="1400" dirty="0"/>
          </a:p>
        </p:txBody>
      </p:sp>
      <p:sp>
        <p:nvSpPr>
          <p:cNvPr id="16" name="Text 12"/>
          <p:cNvSpPr txBox="1"/>
          <p:nvPr/>
        </p:nvSpPr>
        <p:spPr>
          <a:xfrm>
            <a:off x="4709160" y="2322576"/>
            <a:ext cx="3977640" cy="457200"/>
          </a:xfrm>
          <a:prstGeom prst="rect">
            <a:avLst/>
          </a:prstGeom>
          <a:noFill/>
          <a:ln/>
        </p:spPr>
        <p:txBody>
          <a:bodyPr wrap="square" lIns="0" tIns="0" rIns="0" bIns="0" rtlCol="0" anchor="ctr"/>
          <a:lstStyle/>
          <a:p>
            <a:pPr indent="0" marL="0">
              <a:buNone/>
            </a:pPr>
            <a:r>
              <a:rPr lang="en-US" sz="1050" dirty="0">
                <a:solidFill>
                  <a:srgbClr val="486581"/>
                </a:solidFill>
                <a:latin typeface="Calibri" pitchFamily="34" charset="0"/>
                <a:ea typeface="Calibri" pitchFamily="34" charset="-122"/>
                <a:cs typeface="Calibri" pitchFamily="34" charset="-120"/>
              </a:rPr>
              <a:t>kubectl top says 40% CPU while p99 triples. Without the lenses that was a week blaming GC and the database; with them, two instruments, one truth.</a:t>
            </a:r>
            <a:endParaRPr lang="en-US" sz="1050" dirty="0"/>
          </a:p>
        </p:txBody>
      </p:sp>
      <p:sp>
        <p:nvSpPr>
          <p:cNvPr id="17" name="Shape 13"/>
          <p:cNvSpPr/>
          <p:nvPr/>
        </p:nvSpPr>
        <p:spPr>
          <a:xfrm>
            <a:off x="4114800" y="2843784"/>
            <a:ext cx="457200" cy="457200"/>
          </a:xfrm>
          <a:prstGeom prst="ellipse">
            <a:avLst/>
          </a:prstGeom>
          <a:solidFill>
            <a:srgbClr val="2680C2"/>
          </a:solidFill>
          <a:ln w="12700">
            <a:solidFill>
              <a:srgbClr val="2680C2"/>
            </a:solidFill>
            <a:prstDash val="solid"/>
          </a:ln>
        </p:spPr>
      </p:sp>
      <p:pic>
        <p:nvPicPr>
          <p:cNvPr id="18" name="Image 2" descr="preencoded.png">    </p:cNvPr>
          <p:cNvPicPr>
            <a:picLocks noChangeAspect="1"/>
          </p:cNvPicPr>
          <p:nvPr/>
        </p:nvPicPr>
        <p:blipFill>
          <a:blip r:embed="rId3"/>
          <a:stretch>
            <a:fillRect/>
          </a:stretch>
        </p:blipFill>
        <p:spPr>
          <a:xfrm>
            <a:off x="4224528" y="2953512"/>
            <a:ext cx="237744" cy="237744"/>
          </a:xfrm>
          <a:prstGeom prst="rect">
            <a:avLst/>
          </a:prstGeom>
        </p:spPr>
      </p:pic>
      <p:sp>
        <p:nvSpPr>
          <p:cNvPr id="19" name="Text 14"/>
          <p:cNvSpPr txBox="1"/>
          <p:nvPr/>
        </p:nvSpPr>
        <p:spPr>
          <a:xfrm>
            <a:off x="4709160" y="2807208"/>
            <a:ext cx="3977640" cy="274320"/>
          </a:xfrm>
          <a:prstGeom prst="rect">
            <a:avLst/>
          </a:prstGeom>
          <a:noFill/>
          <a:ln/>
        </p:spPr>
        <p:txBody>
          <a:bodyPr wrap="square" lIns="0" tIns="0" rIns="0" bIns="0" rtlCol="0" anchor="ctr"/>
          <a:lstStyle/>
          <a:p>
            <a:pPr indent="0" marL="0">
              <a:buNone/>
            </a:pPr>
            <a:r>
              <a:rPr lang="en-US" sz="1400" b="1" dirty="0">
                <a:solidFill>
                  <a:srgbClr val="102A43"/>
                </a:solidFill>
                <a:latin typeface="Calibri" pitchFamily="34" charset="0"/>
                <a:ea typeface="Calibri" pitchFamily="34" charset="-122"/>
                <a:cs typeface="Calibri" pitchFamily="34" charset="-120"/>
              </a:rPr>
              <a:t>The first command is the right one</a:t>
            </a:r>
            <a:endParaRPr lang="en-US" sz="1400" dirty="0"/>
          </a:p>
        </p:txBody>
      </p:sp>
      <p:sp>
        <p:nvSpPr>
          <p:cNvPr id="20" name="Text 15"/>
          <p:cNvSpPr txBox="1"/>
          <p:nvPr/>
        </p:nvSpPr>
        <p:spPr>
          <a:xfrm>
            <a:off x="4709160" y="3072384"/>
            <a:ext cx="3977640" cy="457200"/>
          </a:xfrm>
          <a:prstGeom prst="rect">
            <a:avLst/>
          </a:prstGeom>
          <a:noFill/>
          <a:ln/>
        </p:spPr>
        <p:txBody>
          <a:bodyPr wrap="square" lIns="0" tIns="0" rIns="0" bIns="0" rtlCol="0" anchor="ctr"/>
          <a:lstStyle/>
          <a:p>
            <a:pPr indent="0" marL="0">
              <a:buNone/>
            </a:pPr>
            <a:r>
              <a:rPr lang="en-US" sz="1050" dirty="0">
                <a:solidFill>
                  <a:srgbClr val="486581"/>
                </a:solidFill>
                <a:latin typeface="Calibri" pitchFamily="34" charset="0"/>
                <a:ea typeface="Calibri" pitchFamily="34" charset="-122"/>
                <a:cs typeface="Calibri" pitchFamily="34" charset="-120"/>
              </a:rPr>
              <a:t>Which door? which lens? which verb? Orientation is most of an incident's length — the model shortens the gap a runbook cannot.</a:t>
            </a:r>
            <a:endParaRPr lang="en-US" sz="1050" dirty="0"/>
          </a:p>
        </p:txBody>
      </p:sp>
      <p:sp>
        <p:nvSpPr>
          <p:cNvPr id="21" name="Shape 16"/>
          <p:cNvSpPr/>
          <p:nvPr/>
        </p:nvSpPr>
        <p:spPr>
          <a:xfrm>
            <a:off x="4114800" y="3593592"/>
            <a:ext cx="457200" cy="457200"/>
          </a:xfrm>
          <a:prstGeom prst="ellipse">
            <a:avLst/>
          </a:prstGeom>
          <a:solidFill>
            <a:srgbClr val="2680C2"/>
          </a:solidFill>
          <a:ln w="12700">
            <a:solidFill>
              <a:srgbClr val="2680C2"/>
            </a:solidFill>
            <a:prstDash val="solid"/>
          </a:ln>
        </p:spPr>
      </p:sp>
      <p:pic>
        <p:nvPicPr>
          <p:cNvPr id="22" name="Image 3" descr="preencoded.png">    </p:cNvPr>
          <p:cNvPicPr>
            <a:picLocks noChangeAspect="1"/>
          </p:cNvPicPr>
          <p:nvPr/>
        </p:nvPicPr>
        <p:blipFill>
          <a:blip r:embed="rId4"/>
          <a:stretch>
            <a:fillRect/>
          </a:stretch>
        </p:blipFill>
        <p:spPr>
          <a:xfrm>
            <a:off x="4224528" y="3703320"/>
            <a:ext cx="237744" cy="237744"/>
          </a:xfrm>
          <a:prstGeom prst="rect">
            <a:avLst/>
          </a:prstGeom>
        </p:spPr>
      </p:pic>
      <p:sp>
        <p:nvSpPr>
          <p:cNvPr id="23" name="Text 17"/>
          <p:cNvSpPr txBox="1"/>
          <p:nvPr/>
        </p:nvSpPr>
        <p:spPr>
          <a:xfrm>
            <a:off x="4709160" y="3557016"/>
            <a:ext cx="3977640" cy="274320"/>
          </a:xfrm>
          <a:prstGeom prst="rect">
            <a:avLst/>
          </a:prstGeom>
          <a:noFill/>
          <a:ln/>
        </p:spPr>
        <p:txBody>
          <a:bodyPr wrap="square" lIns="0" tIns="0" rIns="0" bIns="0" rtlCol="0" anchor="ctr"/>
          <a:lstStyle/>
          <a:p>
            <a:pPr indent="0" marL="0">
              <a:buNone/>
            </a:pPr>
            <a:r>
              <a:rPr lang="en-US" sz="1400" b="1" dirty="0">
                <a:solidFill>
                  <a:srgbClr val="102A43"/>
                </a:solidFill>
                <a:latin typeface="Calibri" pitchFamily="34" charset="0"/>
                <a:ea typeface="Calibri" pitchFamily="34" charset="-122"/>
                <a:cs typeface="Calibri" pitchFamily="34" charset="-120"/>
              </a:rPr>
              <a:t>They transfer</a:t>
            </a:r>
            <a:endParaRPr lang="en-US" sz="1400" dirty="0"/>
          </a:p>
        </p:txBody>
      </p:sp>
      <p:sp>
        <p:nvSpPr>
          <p:cNvPr id="24" name="Text 18"/>
          <p:cNvSpPr txBox="1"/>
          <p:nvPr/>
        </p:nvSpPr>
        <p:spPr>
          <a:xfrm>
            <a:off x="4709160" y="3822192"/>
            <a:ext cx="3977640" cy="457200"/>
          </a:xfrm>
          <a:prstGeom prst="rect">
            <a:avLst/>
          </a:prstGeom>
          <a:noFill/>
          <a:ln/>
        </p:spPr>
        <p:txBody>
          <a:bodyPr wrap="square" lIns="0" tIns="0" rIns="0" bIns="0" rtlCol="0" anchor="ctr"/>
          <a:lstStyle/>
          <a:p>
            <a:pPr indent="0" marL="0">
              <a:buNone/>
            </a:pPr>
            <a:r>
              <a:rPr lang="en-US" sz="1050" dirty="0">
                <a:solidFill>
                  <a:srgbClr val="486581"/>
                </a:solidFill>
                <a:latin typeface="Calibri" pitchFamily="34" charset="0"/>
                <a:ea typeface="Calibri" pitchFamily="34" charset="-122"/>
                <a:cs typeface="Calibri" pitchFamily="34" charset="-120"/>
              </a:rPr>
              <a:t>Runbooks are a list; a model is how you navigate the list. Onboarding becomes four pictures and the habit of asking their questions.</a:t>
            </a:r>
            <a:endParaRPr lang="en-US" sz="1050" dirty="0"/>
          </a:p>
        </p:txBody>
      </p:sp>
      <p:sp>
        <p:nvSpPr>
          <p:cNvPr id="25" name="Text 19"/>
          <p:cNvSpPr txBox="1"/>
          <p:nvPr/>
        </p:nvSpPr>
        <p:spPr>
          <a:xfrm>
            <a:off x="457200" y="4407408"/>
            <a:ext cx="8229600" cy="457200"/>
          </a:xfrm>
          <a:prstGeom prst="rect">
            <a:avLst/>
          </a:prstGeom>
          <a:noFill/>
          <a:ln/>
        </p:spPr>
        <p:txBody>
          <a:bodyPr wrap="square" lIns="0" tIns="0" rIns="0" bIns="0" rtlCol="0" anchor="ctr"/>
          <a:lstStyle/>
          <a:p>
            <a:pPr indent="0" marL="0">
              <a:buNone/>
            </a:pPr>
            <a:r>
              <a:rPr lang="en-US" sz="1100" i="1" dirty="0">
                <a:solidFill>
                  <a:srgbClr val="486581"/>
                </a:solidFill>
                <a:latin typeface="Calibri" pitchFamily="34" charset="0"/>
                <a:ea typeface="Calibri" pitchFamily="34" charset="-122"/>
                <a:cs typeface="Calibri" pitchFamily="34" charset="-120"/>
              </a:rPr>
              <a:t>The failure galleries — nearly forty documented misreadings — are the evidence: every one is a correct number read at the wrong door, through the wrong lens, or a road away from the fault.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66928"/>
          </a:xfrm>
          <a:prstGeom prst="rect">
            <a:avLst/>
          </a:prstGeom>
          <a:noFill/>
          <a:ln/>
        </p:spPr>
        <p:txBody>
          <a:bodyPr wrap="square" lIns="0" tIns="0" rIns="0" bIns="0" rtlCol="0" anchor="ctr"/>
          <a:lstStyle/>
          <a:p>
            <a:pPr indent="0" marL="0">
              <a:buNone/>
            </a:pPr>
            <a:r>
              <a:rPr lang="en-US" sz="3200" b="1" dirty="0">
                <a:solidFill>
                  <a:srgbClr val="102A43"/>
                </a:solidFill>
                <a:latin typeface="Cambria" pitchFamily="34" charset="0"/>
                <a:ea typeface="Cambria" pitchFamily="34" charset="-122"/>
                <a:cs typeface="Cambria" pitchFamily="34" charset="-120"/>
              </a:rPr>
              <a:t>How we help others build one</a:t>
            </a:r>
            <a:endParaRPr lang="en-US" sz="3200" dirty="0"/>
          </a:p>
        </p:txBody>
      </p:sp>
      <p:sp>
        <p:nvSpPr>
          <p:cNvPr id="3" name="Text 1"/>
          <p:cNvSpPr txBox="1"/>
          <p:nvPr/>
        </p:nvSpPr>
        <p:spPr>
          <a:xfrm>
            <a:off x="457200" y="914400"/>
            <a:ext cx="8229600" cy="320040"/>
          </a:xfrm>
          <a:prstGeom prst="rect">
            <a:avLst/>
          </a:prstGeom>
          <a:noFill/>
          <a:ln/>
        </p:spPr>
        <p:txBody>
          <a:bodyPr wrap="square" lIns="0" tIns="0" rIns="0" bIns="0" rtlCol="0" anchor="ctr"/>
          <a:lstStyle/>
          <a:p>
            <a:pPr indent="0" marL="0">
              <a:buNone/>
            </a:pPr>
            <a:r>
              <a:rPr lang="en-US" sz="1300" i="1" dirty="0">
                <a:solidFill>
                  <a:srgbClr val="486581"/>
                </a:solidFill>
                <a:latin typeface="Calibri" pitchFamily="34" charset="0"/>
                <a:ea typeface="Calibri" pitchFamily="34" charset="-122"/>
                <a:cs typeface="Calibri" pitchFamily="34" charset="-120"/>
              </a:rPr>
              <a:t>The recipe behind all four of ours — six moves, in order.</a:t>
            </a:r>
            <a:endParaRPr lang="en-US" sz="1300" dirty="0"/>
          </a:p>
        </p:txBody>
      </p:sp>
      <p:sp>
        <p:nvSpPr>
          <p:cNvPr id="4" name="Shape 2"/>
          <p:cNvSpPr/>
          <p:nvPr/>
        </p:nvSpPr>
        <p:spPr>
          <a:xfrm>
            <a:off x="457200" y="1371600"/>
            <a:ext cx="2651760" cy="1417320"/>
          </a:xfrm>
          <a:prstGeom prst="roundRect">
            <a:avLst>
              <a:gd name="adj" fmla="val 3871"/>
            </a:avLst>
          </a:prstGeom>
          <a:solidFill>
            <a:srgbClr val="F0F4F8"/>
          </a:solidFill>
          <a:ln w="12700">
            <a:solidFill>
              <a:srgbClr val="D9E2EC"/>
            </a:solidFill>
            <a:prstDash val="solid"/>
          </a:ln>
        </p:spPr>
      </p:sp>
      <p:sp>
        <p:nvSpPr>
          <p:cNvPr id="5" name="Shape 3"/>
          <p:cNvSpPr/>
          <p:nvPr/>
        </p:nvSpPr>
        <p:spPr>
          <a:xfrm>
            <a:off x="594360" y="1508760"/>
            <a:ext cx="384048" cy="384048"/>
          </a:xfrm>
          <a:prstGeom prst="ellipse">
            <a:avLst/>
          </a:prstGeom>
          <a:solidFill>
            <a:srgbClr val="102A43"/>
          </a:solidFill>
          <a:ln w="12700">
            <a:solidFill>
              <a:srgbClr val="102A43"/>
            </a:solidFill>
            <a:prstDash val="solid"/>
          </a:ln>
        </p:spPr>
      </p:sp>
      <p:sp>
        <p:nvSpPr>
          <p:cNvPr id="6" name="Text 4"/>
          <p:cNvSpPr txBox="1"/>
          <p:nvPr/>
        </p:nvSpPr>
        <p:spPr>
          <a:xfrm>
            <a:off x="594360" y="15087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7" name="Text 5"/>
          <p:cNvSpPr txBox="1"/>
          <p:nvPr/>
        </p:nvSpPr>
        <p:spPr>
          <a:xfrm>
            <a:off x="1078992" y="1499616"/>
            <a:ext cx="1920240" cy="411480"/>
          </a:xfrm>
          <a:prstGeom prst="rect">
            <a:avLst/>
          </a:prstGeom>
          <a:noFill/>
          <a:ln/>
        </p:spPr>
        <p:txBody>
          <a:bodyPr wrap="square" lIns="0" tIns="0" rIns="0" bIns="0" rtlCol="0" anchor="ctr"/>
          <a:lstStyle/>
          <a:p>
            <a:pPr indent="0" marL="0">
              <a:buNone/>
            </a:pPr>
            <a:r>
              <a:rPr lang="en-US" sz="1300" b="1" dirty="0">
                <a:solidFill>
                  <a:srgbClr val="102A43"/>
                </a:solidFill>
                <a:latin typeface="Calibri" pitchFamily="34" charset="0"/>
                <a:ea typeface="Calibri" pitchFamily="34" charset="-122"/>
                <a:cs typeface="Calibri" pitchFamily="34" charset="-120"/>
              </a:rPr>
              <a:t>Strip the domain to its job</a:t>
            </a:r>
            <a:endParaRPr lang="en-US" sz="1300" dirty="0"/>
          </a:p>
        </p:txBody>
      </p:sp>
      <p:sp>
        <p:nvSpPr>
          <p:cNvPr id="8" name="Text 6"/>
          <p:cNvSpPr txBox="1"/>
          <p:nvPr/>
        </p:nvSpPr>
        <p:spPr>
          <a:xfrm>
            <a:off x="594360" y="1975104"/>
            <a:ext cx="2377440" cy="731520"/>
          </a:xfrm>
          <a:prstGeom prst="rect">
            <a:avLst/>
          </a:prstGeom>
          <a:noFill/>
          <a:ln/>
        </p:spPr>
        <p:txBody>
          <a:bodyPr wrap="square" lIns="0" tIns="0" rIns="0" bIns="0" rtlCol="0" anchor="t"/>
          <a:lstStyle/>
          <a:p>
            <a:pPr indent="0" marL="0">
              <a:buNone/>
            </a:pPr>
            <a:r>
              <a:rPr lang="en-US" sz="1000" dirty="0">
                <a:solidFill>
                  <a:srgbClr val="486581"/>
                </a:solidFill>
                <a:latin typeface="Calibri" pitchFamily="34" charset="0"/>
                <a:ea typeface="Calibri" pitchFamily="34" charset="-122"/>
                <a:cs typeface="Calibri" pitchFamily="34" charset="-120"/>
              </a:rPr>
              <a:t>“Kubernetes is a control system; to run one workload it needs exactly three things.” Start from what the system is for, not from its feature list.</a:t>
            </a:r>
            <a:endParaRPr lang="en-US" sz="1000" dirty="0"/>
          </a:p>
        </p:txBody>
      </p:sp>
      <p:sp>
        <p:nvSpPr>
          <p:cNvPr id="9" name="Shape 7"/>
          <p:cNvSpPr/>
          <p:nvPr/>
        </p:nvSpPr>
        <p:spPr>
          <a:xfrm>
            <a:off x="3429000" y="1371600"/>
            <a:ext cx="2651760" cy="1417320"/>
          </a:xfrm>
          <a:prstGeom prst="roundRect">
            <a:avLst>
              <a:gd name="adj" fmla="val 3871"/>
            </a:avLst>
          </a:prstGeom>
          <a:solidFill>
            <a:srgbClr val="F0F4F8"/>
          </a:solidFill>
          <a:ln w="12700">
            <a:solidFill>
              <a:srgbClr val="D9E2EC"/>
            </a:solidFill>
            <a:prstDash val="solid"/>
          </a:ln>
        </p:spPr>
      </p:sp>
      <p:sp>
        <p:nvSpPr>
          <p:cNvPr id="10" name="Shape 8"/>
          <p:cNvSpPr/>
          <p:nvPr/>
        </p:nvSpPr>
        <p:spPr>
          <a:xfrm>
            <a:off x="3566160" y="1508760"/>
            <a:ext cx="384048" cy="384048"/>
          </a:xfrm>
          <a:prstGeom prst="ellipse">
            <a:avLst/>
          </a:prstGeom>
          <a:solidFill>
            <a:srgbClr val="102A43"/>
          </a:solidFill>
          <a:ln w="12700">
            <a:solidFill>
              <a:srgbClr val="102A43"/>
            </a:solidFill>
            <a:prstDash val="solid"/>
          </a:ln>
        </p:spPr>
      </p:sp>
      <p:sp>
        <p:nvSpPr>
          <p:cNvPr id="11" name="Text 9"/>
          <p:cNvSpPr txBox="1"/>
          <p:nvPr/>
        </p:nvSpPr>
        <p:spPr>
          <a:xfrm>
            <a:off x="3566160" y="15087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2" name="Text 10"/>
          <p:cNvSpPr txBox="1"/>
          <p:nvPr/>
        </p:nvSpPr>
        <p:spPr>
          <a:xfrm>
            <a:off x="4050792" y="1499616"/>
            <a:ext cx="1920240" cy="411480"/>
          </a:xfrm>
          <a:prstGeom prst="rect">
            <a:avLst/>
          </a:prstGeom>
          <a:noFill/>
          <a:ln/>
        </p:spPr>
        <p:txBody>
          <a:bodyPr wrap="square" lIns="0" tIns="0" rIns="0" bIns="0" rtlCol="0" anchor="ctr"/>
          <a:lstStyle/>
          <a:p>
            <a:pPr indent="0" marL="0">
              <a:buNone/>
            </a:pPr>
            <a:r>
              <a:rPr lang="en-US" sz="1300" b="1" dirty="0">
                <a:solidFill>
                  <a:srgbClr val="102A43"/>
                </a:solidFill>
                <a:latin typeface="Calibri" pitchFamily="34" charset="0"/>
                <a:ea typeface="Calibri" pitchFamily="34" charset="-122"/>
                <a:cs typeface="Calibri" pitchFamily="34" charset="-120"/>
              </a:rPr>
              <a:t>Find the smallest complete set</a:t>
            </a:r>
            <a:endParaRPr lang="en-US" sz="1300" dirty="0"/>
          </a:p>
        </p:txBody>
      </p:sp>
      <p:sp>
        <p:nvSpPr>
          <p:cNvPr id="13" name="Text 11"/>
          <p:cNvSpPr txBox="1"/>
          <p:nvPr/>
        </p:nvSpPr>
        <p:spPr>
          <a:xfrm>
            <a:off x="3566160" y="1975104"/>
            <a:ext cx="2377440" cy="731520"/>
          </a:xfrm>
          <a:prstGeom prst="rect">
            <a:avLst/>
          </a:prstGeom>
          <a:noFill/>
          <a:ln/>
        </p:spPr>
        <p:txBody>
          <a:bodyPr wrap="square" lIns="0" tIns="0" rIns="0" bIns="0" rtlCol="0" anchor="t"/>
          <a:lstStyle/>
          <a:p>
            <a:pPr indent="0" marL="0">
              <a:buNone/>
            </a:pPr>
            <a:r>
              <a:rPr lang="en-US" sz="1000" dirty="0">
                <a:solidFill>
                  <a:srgbClr val="486581"/>
                </a:solidFill>
                <a:latin typeface="Calibri" pitchFamily="34" charset="0"/>
                <a:ea typeface="Calibri" pitchFamily="34" charset="-122"/>
                <a:cs typeface="Calibri" pitchFamily="34" charset="-120"/>
              </a:rPr>
              <a:t>Three doors, three lenses, five verbs — and say why there is no N+1. If a fourth fits, the set was not complete; if it is a refinement of one, the set holds.</a:t>
            </a:r>
            <a:endParaRPr lang="en-US" sz="1000" dirty="0"/>
          </a:p>
        </p:txBody>
      </p:sp>
      <p:sp>
        <p:nvSpPr>
          <p:cNvPr id="14" name="Shape 12"/>
          <p:cNvSpPr/>
          <p:nvPr/>
        </p:nvSpPr>
        <p:spPr>
          <a:xfrm>
            <a:off x="6400800" y="1371600"/>
            <a:ext cx="2651760" cy="1417320"/>
          </a:xfrm>
          <a:prstGeom prst="roundRect">
            <a:avLst>
              <a:gd name="adj" fmla="val 3871"/>
            </a:avLst>
          </a:prstGeom>
          <a:solidFill>
            <a:srgbClr val="F0F4F8"/>
          </a:solidFill>
          <a:ln w="12700">
            <a:solidFill>
              <a:srgbClr val="D9E2EC"/>
            </a:solidFill>
            <a:prstDash val="solid"/>
          </a:ln>
        </p:spPr>
      </p:sp>
      <p:sp>
        <p:nvSpPr>
          <p:cNvPr id="15" name="Shape 13"/>
          <p:cNvSpPr/>
          <p:nvPr/>
        </p:nvSpPr>
        <p:spPr>
          <a:xfrm>
            <a:off x="6537960" y="1508760"/>
            <a:ext cx="384048" cy="384048"/>
          </a:xfrm>
          <a:prstGeom prst="ellipse">
            <a:avLst/>
          </a:prstGeom>
          <a:solidFill>
            <a:srgbClr val="102A43"/>
          </a:solidFill>
          <a:ln w="12700">
            <a:solidFill>
              <a:srgbClr val="102A43"/>
            </a:solidFill>
            <a:prstDash val="solid"/>
          </a:ln>
        </p:spPr>
      </p:sp>
      <p:sp>
        <p:nvSpPr>
          <p:cNvPr id="16" name="Text 14"/>
          <p:cNvSpPr txBox="1"/>
          <p:nvPr/>
        </p:nvSpPr>
        <p:spPr>
          <a:xfrm>
            <a:off x="6537960" y="15087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7" name="Text 15"/>
          <p:cNvSpPr txBox="1"/>
          <p:nvPr/>
        </p:nvSpPr>
        <p:spPr>
          <a:xfrm>
            <a:off x="7022592" y="1499616"/>
            <a:ext cx="1920240" cy="411480"/>
          </a:xfrm>
          <a:prstGeom prst="rect">
            <a:avLst/>
          </a:prstGeom>
          <a:noFill/>
          <a:ln/>
        </p:spPr>
        <p:txBody>
          <a:bodyPr wrap="square" lIns="0" tIns="0" rIns="0" bIns="0" rtlCol="0" anchor="ctr"/>
          <a:lstStyle/>
          <a:p>
            <a:pPr indent="0" marL="0">
              <a:buNone/>
            </a:pPr>
            <a:r>
              <a:rPr lang="en-US" sz="1300" b="1" dirty="0">
                <a:solidFill>
                  <a:srgbClr val="102A43"/>
                </a:solidFill>
                <a:latin typeface="Calibri" pitchFamily="34" charset="0"/>
                <a:ea typeface="Calibri" pitchFamily="34" charset="-122"/>
                <a:cs typeface="Calibri" pitchFamily="34" charset="-120"/>
              </a:rPr>
              <a:t>Give the parts a shape</a:t>
            </a:r>
            <a:endParaRPr lang="en-US" sz="1300" dirty="0"/>
          </a:p>
        </p:txBody>
      </p:sp>
      <p:sp>
        <p:nvSpPr>
          <p:cNvPr id="18" name="Text 16"/>
          <p:cNvSpPr txBox="1"/>
          <p:nvPr/>
        </p:nvSpPr>
        <p:spPr>
          <a:xfrm>
            <a:off x="6537960" y="1975104"/>
            <a:ext cx="2377440" cy="731520"/>
          </a:xfrm>
          <a:prstGeom prst="rect">
            <a:avLst/>
          </a:prstGeom>
          <a:noFill/>
          <a:ln/>
        </p:spPr>
        <p:txBody>
          <a:bodyPr wrap="square" lIns="0" tIns="0" rIns="0" bIns="0" rtlCol="0" anchor="t"/>
          <a:lstStyle/>
          <a:p>
            <a:pPr indent="0" marL="0">
              <a:buNone/>
            </a:pPr>
            <a:r>
              <a:rPr lang="en-US" sz="1000" dirty="0">
                <a:solidFill>
                  <a:srgbClr val="486581"/>
                </a:solidFill>
                <a:latin typeface="Calibri" pitchFamily="34" charset="0"/>
                <a:ea typeface="Calibri" pitchFamily="34" charset="-122"/>
                <a:cs typeface="Calibri" pitchFamily="34" charset="-120"/>
              </a:rPr>
              <a:t>A loop, a zoom, two roads and a ladder. The shape says how the parts relate; a list of parts is not yet a model.</a:t>
            </a:r>
            <a:endParaRPr lang="en-US" sz="1000" dirty="0"/>
          </a:p>
        </p:txBody>
      </p:sp>
      <p:sp>
        <p:nvSpPr>
          <p:cNvPr id="19" name="Shape 17"/>
          <p:cNvSpPr/>
          <p:nvPr/>
        </p:nvSpPr>
        <p:spPr>
          <a:xfrm>
            <a:off x="457200" y="3063240"/>
            <a:ext cx="2651760" cy="1417320"/>
          </a:xfrm>
          <a:prstGeom prst="roundRect">
            <a:avLst>
              <a:gd name="adj" fmla="val 3871"/>
            </a:avLst>
          </a:prstGeom>
          <a:solidFill>
            <a:srgbClr val="F0F4F8"/>
          </a:solidFill>
          <a:ln w="12700">
            <a:solidFill>
              <a:srgbClr val="D9E2EC"/>
            </a:solidFill>
            <a:prstDash val="solid"/>
          </a:ln>
        </p:spPr>
      </p:sp>
      <p:sp>
        <p:nvSpPr>
          <p:cNvPr id="20" name="Shape 18"/>
          <p:cNvSpPr/>
          <p:nvPr/>
        </p:nvSpPr>
        <p:spPr>
          <a:xfrm>
            <a:off x="594360" y="3200400"/>
            <a:ext cx="384048" cy="384048"/>
          </a:xfrm>
          <a:prstGeom prst="ellipse">
            <a:avLst/>
          </a:prstGeom>
          <a:solidFill>
            <a:srgbClr val="102A43"/>
          </a:solidFill>
          <a:ln w="12700">
            <a:solidFill>
              <a:srgbClr val="102A43"/>
            </a:solidFill>
            <a:prstDash val="solid"/>
          </a:ln>
        </p:spPr>
      </p:sp>
      <p:sp>
        <p:nvSpPr>
          <p:cNvPr id="21" name="Text 19"/>
          <p:cNvSpPr txBox="1"/>
          <p:nvPr/>
        </p:nvSpPr>
        <p:spPr>
          <a:xfrm>
            <a:off x="594360" y="320040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22" name="Text 20"/>
          <p:cNvSpPr txBox="1"/>
          <p:nvPr/>
        </p:nvSpPr>
        <p:spPr>
          <a:xfrm>
            <a:off x="1078992" y="3191256"/>
            <a:ext cx="1920240" cy="411480"/>
          </a:xfrm>
          <a:prstGeom prst="rect">
            <a:avLst/>
          </a:prstGeom>
          <a:noFill/>
          <a:ln/>
        </p:spPr>
        <p:txBody>
          <a:bodyPr wrap="square" lIns="0" tIns="0" rIns="0" bIns="0" rtlCol="0" anchor="ctr"/>
          <a:lstStyle/>
          <a:p>
            <a:pPr indent="0" marL="0">
              <a:buNone/>
            </a:pPr>
            <a:r>
              <a:rPr lang="en-US" sz="1300" b="1" dirty="0">
                <a:solidFill>
                  <a:srgbClr val="102A43"/>
                </a:solidFill>
                <a:latin typeface="Calibri" pitchFamily="34" charset="0"/>
                <a:ea typeface="Calibri" pitchFamily="34" charset="-122"/>
                <a:cs typeface="Calibri" pitchFamily="34" charset="-120"/>
              </a:rPr>
              <a:t>Prove it with real misreadings</a:t>
            </a:r>
            <a:endParaRPr lang="en-US" sz="1300" dirty="0"/>
          </a:p>
        </p:txBody>
      </p:sp>
      <p:sp>
        <p:nvSpPr>
          <p:cNvPr id="23" name="Text 21"/>
          <p:cNvSpPr txBox="1"/>
          <p:nvPr/>
        </p:nvSpPr>
        <p:spPr>
          <a:xfrm>
            <a:off x="594360" y="3666744"/>
            <a:ext cx="2377440" cy="731520"/>
          </a:xfrm>
          <a:prstGeom prst="rect">
            <a:avLst/>
          </a:prstGeom>
          <a:noFill/>
          <a:ln/>
        </p:spPr>
        <p:txBody>
          <a:bodyPr wrap="square" lIns="0" tIns="0" rIns="0" bIns="0" rtlCol="0" anchor="t"/>
          <a:lstStyle/>
          <a:p>
            <a:pPr indent="0" marL="0">
              <a:buNone/>
            </a:pPr>
            <a:r>
              <a:rPr lang="en-US" sz="1000" dirty="0">
                <a:solidFill>
                  <a:srgbClr val="486581"/>
                </a:solidFill>
                <a:latin typeface="Calibri" pitchFamily="34" charset="0"/>
                <a:ea typeface="Calibri" pitchFamily="34" charset="-122"/>
                <a:cs typeface="Calibri" pitchFamily="34" charset="-120"/>
              </a:rPr>
              <a:t>A gallery of incidents people lived through, each explained as a correct number seen through the wrong part. Trust comes from the gallery, not the diagram.</a:t>
            </a:r>
            <a:endParaRPr lang="en-US" sz="1000" dirty="0"/>
          </a:p>
        </p:txBody>
      </p:sp>
      <p:sp>
        <p:nvSpPr>
          <p:cNvPr id="24" name="Shape 22"/>
          <p:cNvSpPr/>
          <p:nvPr/>
        </p:nvSpPr>
        <p:spPr>
          <a:xfrm>
            <a:off x="3429000" y="3063240"/>
            <a:ext cx="2651760" cy="1417320"/>
          </a:xfrm>
          <a:prstGeom prst="roundRect">
            <a:avLst>
              <a:gd name="adj" fmla="val 3871"/>
            </a:avLst>
          </a:prstGeom>
          <a:solidFill>
            <a:srgbClr val="F0F4F8"/>
          </a:solidFill>
          <a:ln w="12700">
            <a:solidFill>
              <a:srgbClr val="D9E2EC"/>
            </a:solidFill>
            <a:prstDash val="solid"/>
          </a:ln>
        </p:spPr>
      </p:sp>
      <p:sp>
        <p:nvSpPr>
          <p:cNvPr id="25" name="Shape 23"/>
          <p:cNvSpPr/>
          <p:nvPr/>
        </p:nvSpPr>
        <p:spPr>
          <a:xfrm>
            <a:off x="3566160" y="3200400"/>
            <a:ext cx="384048" cy="384048"/>
          </a:xfrm>
          <a:prstGeom prst="ellipse">
            <a:avLst/>
          </a:prstGeom>
          <a:solidFill>
            <a:srgbClr val="102A43"/>
          </a:solidFill>
          <a:ln w="12700">
            <a:solidFill>
              <a:srgbClr val="102A43"/>
            </a:solidFill>
            <a:prstDash val="solid"/>
          </a:ln>
        </p:spPr>
      </p:sp>
      <p:sp>
        <p:nvSpPr>
          <p:cNvPr id="26" name="Text 24"/>
          <p:cNvSpPr txBox="1"/>
          <p:nvPr/>
        </p:nvSpPr>
        <p:spPr>
          <a:xfrm>
            <a:off x="3566160" y="320040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5</a:t>
            </a:r>
            <a:endParaRPr lang="en-US" sz="1200" dirty="0"/>
          </a:p>
        </p:txBody>
      </p:sp>
      <p:sp>
        <p:nvSpPr>
          <p:cNvPr id="27" name="Text 25"/>
          <p:cNvSpPr txBox="1"/>
          <p:nvPr/>
        </p:nvSpPr>
        <p:spPr>
          <a:xfrm>
            <a:off x="4050792" y="3191256"/>
            <a:ext cx="1920240" cy="411480"/>
          </a:xfrm>
          <a:prstGeom prst="rect">
            <a:avLst/>
          </a:prstGeom>
          <a:noFill/>
          <a:ln/>
        </p:spPr>
        <p:txBody>
          <a:bodyPr wrap="square" lIns="0" tIns="0" rIns="0" bIns="0" rtlCol="0" anchor="ctr"/>
          <a:lstStyle/>
          <a:p>
            <a:pPr indent="0" marL="0">
              <a:buNone/>
            </a:pPr>
            <a:r>
              <a:rPr lang="en-US" sz="1300" b="1" dirty="0">
                <a:solidFill>
                  <a:srgbClr val="102A43"/>
                </a:solidFill>
                <a:latin typeface="Calibri" pitchFamily="34" charset="0"/>
                <a:ea typeface="Calibri" pitchFamily="34" charset="-122"/>
                <a:cs typeface="Calibri" pitchFamily="34" charset="-120"/>
              </a:rPr>
              <a:t>Attach the tactics — behind it</a:t>
            </a:r>
            <a:endParaRPr lang="en-US" sz="1300" dirty="0"/>
          </a:p>
        </p:txBody>
      </p:sp>
      <p:sp>
        <p:nvSpPr>
          <p:cNvPr id="28" name="Text 26"/>
          <p:cNvSpPr txBox="1"/>
          <p:nvPr/>
        </p:nvSpPr>
        <p:spPr>
          <a:xfrm>
            <a:off x="3566160" y="3666744"/>
            <a:ext cx="2377440" cy="731520"/>
          </a:xfrm>
          <a:prstGeom prst="rect">
            <a:avLst/>
          </a:prstGeom>
          <a:noFill/>
          <a:ln/>
        </p:spPr>
        <p:txBody>
          <a:bodyPr wrap="square" lIns="0" tIns="0" rIns="0" bIns="0" rtlCol="0" anchor="t"/>
          <a:lstStyle/>
          <a:p>
            <a:pPr indent="0" marL="0">
              <a:buNone/>
            </a:pPr>
            <a:r>
              <a:rPr lang="en-US" sz="1000" dirty="0">
                <a:solidFill>
                  <a:srgbClr val="486581"/>
                </a:solidFill>
                <a:latin typeface="Calibri" pitchFamily="34" charset="0"/>
                <a:ea typeface="Calibri" pitchFamily="34" charset="-122"/>
                <a:cs typeface="Calibri" pitchFamily="34" charset="-120"/>
              </a:rPr>
              <a:t>Commands, console output, the artifact table, a script. The tactics are the payoff for orienting; they are never the way in.</a:t>
            </a:r>
            <a:endParaRPr lang="en-US" sz="1000" dirty="0"/>
          </a:p>
        </p:txBody>
      </p:sp>
      <p:sp>
        <p:nvSpPr>
          <p:cNvPr id="29" name="Shape 27"/>
          <p:cNvSpPr/>
          <p:nvPr/>
        </p:nvSpPr>
        <p:spPr>
          <a:xfrm>
            <a:off x="6400800" y="3063240"/>
            <a:ext cx="2651760" cy="1417320"/>
          </a:xfrm>
          <a:prstGeom prst="roundRect">
            <a:avLst>
              <a:gd name="adj" fmla="val 3871"/>
            </a:avLst>
          </a:prstGeom>
          <a:solidFill>
            <a:srgbClr val="F0F4F8"/>
          </a:solidFill>
          <a:ln w="12700">
            <a:solidFill>
              <a:srgbClr val="D9E2EC"/>
            </a:solidFill>
            <a:prstDash val="solid"/>
          </a:ln>
        </p:spPr>
      </p:sp>
      <p:sp>
        <p:nvSpPr>
          <p:cNvPr id="30" name="Shape 28"/>
          <p:cNvSpPr/>
          <p:nvPr/>
        </p:nvSpPr>
        <p:spPr>
          <a:xfrm>
            <a:off x="6537960" y="3200400"/>
            <a:ext cx="384048" cy="384048"/>
          </a:xfrm>
          <a:prstGeom prst="ellipse">
            <a:avLst/>
          </a:prstGeom>
          <a:solidFill>
            <a:srgbClr val="2680C2"/>
          </a:solidFill>
          <a:ln w="12700">
            <a:solidFill>
              <a:srgbClr val="2680C2"/>
            </a:solidFill>
            <a:prstDash val="solid"/>
          </a:ln>
        </p:spPr>
      </p:sp>
      <p:sp>
        <p:nvSpPr>
          <p:cNvPr id="31" name="Text 29"/>
          <p:cNvSpPr txBox="1"/>
          <p:nvPr/>
        </p:nvSpPr>
        <p:spPr>
          <a:xfrm>
            <a:off x="6537960" y="320040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6</a:t>
            </a:r>
            <a:endParaRPr lang="en-US" sz="1200" dirty="0"/>
          </a:p>
        </p:txBody>
      </p:sp>
      <p:sp>
        <p:nvSpPr>
          <p:cNvPr id="32" name="Text 30"/>
          <p:cNvSpPr txBox="1"/>
          <p:nvPr/>
        </p:nvSpPr>
        <p:spPr>
          <a:xfrm>
            <a:off x="7022592" y="3191256"/>
            <a:ext cx="1920240" cy="411480"/>
          </a:xfrm>
          <a:prstGeom prst="rect">
            <a:avLst/>
          </a:prstGeom>
          <a:noFill/>
          <a:ln/>
        </p:spPr>
        <p:txBody>
          <a:bodyPr wrap="square" lIns="0" tIns="0" rIns="0" bIns="0" rtlCol="0" anchor="ctr"/>
          <a:lstStyle/>
          <a:p>
            <a:pPr indent="0" marL="0">
              <a:buNone/>
            </a:pPr>
            <a:r>
              <a:rPr lang="en-US" sz="1300" b="1" dirty="0">
                <a:solidFill>
                  <a:srgbClr val="102A43"/>
                </a:solidFill>
                <a:latin typeface="Calibri" pitchFamily="34" charset="0"/>
                <a:ea typeface="Calibri" pitchFamily="34" charset="-122"/>
                <a:cs typeface="Calibri" pitchFamily="34" charset="-120"/>
              </a:rPr>
              <a:t>Name it</a:t>
            </a:r>
            <a:endParaRPr lang="en-US" sz="1300" dirty="0"/>
          </a:p>
        </p:txBody>
      </p:sp>
      <p:sp>
        <p:nvSpPr>
          <p:cNvPr id="33" name="Text 31"/>
          <p:cNvSpPr txBox="1"/>
          <p:nvPr/>
        </p:nvSpPr>
        <p:spPr>
          <a:xfrm>
            <a:off x="6537960" y="3666744"/>
            <a:ext cx="2377440" cy="731520"/>
          </a:xfrm>
          <a:prstGeom prst="rect">
            <a:avLst/>
          </a:prstGeom>
          <a:noFill/>
          <a:ln/>
        </p:spPr>
        <p:txBody>
          <a:bodyPr wrap="square" lIns="0" tIns="0" rIns="0" bIns="0" rtlCol="0" anchor="t"/>
          <a:lstStyle/>
          <a:p>
            <a:pPr indent="0" marL="0">
              <a:buNone/>
            </a:pPr>
            <a:r>
              <a:rPr lang="en-US" sz="1000" dirty="0">
                <a:solidFill>
                  <a:srgbClr val="486581"/>
                </a:solidFill>
                <a:latin typeface="Calibri" pitchFamily="34" charset="0"/>
                <a:ea typeface="Calibri" pitchFamily="34" charset="-122"/>
                <a:cs typeface="Calibri" pitchFamily="34" charset="-120"/>
              </a:rPr>
              <a:t>Short enough to say out loud: “that’s a Door 2 problem”, “which verb failed?”. A model without a name cannot be asked for.</a:t>
            </a:r>
            <a:endParaRPr lang="en-US" sz="1000" dirty="0"/>
          </a:p>
        </p:txBody>
      </p:sp>
      <p:sp>
        <p:nvSpPr>
          <p:cNvPr id="34" name="Text 32"/>
          <p:cNvSpPr txBox="1"/>
          <p:nvPr/>
        </p:nvSpPr>
        <p:spPr>
          <a:xfrm>
            <a:off x="457200" y="4754880"/>
            <a:ext cx="8229600" cy="274320"/>
          </a:xfrm>
          <a:prstGeom prst="rect">
            <a:avLst/>
          </a:prstGeom>
          <a:noFill/>
          <a:ln/>
        </p:spPr>
        <p:txBody>
          <a:bodyPr wrap="square" lIns="0" tIns="0" rIns="0" bIns="0" rtlCol="0" anchor="ctr"/>
          <a:lstStyle/>
          <a:p>
            <a:pPr indent="0" marL="0">
              <a:buNone/>
            </a:pPr>
            <a:r>
              <a:rPr lang="en-US" sz="1100" i="1" dirty="0">
                <a:solidFill>
                  <a:srgbClr val="0A558C"/>
                </a:solidFill>
                <a:latin typeface="Calibri" pitchFamily="34" charset="0"/>
                <a:ea typeface="Calibri" pitchFamily="34" charset="-122"/>
                <a:cs typeface="Calibri" pitchFamily="34" charset="-120"/>
              </a:rPr>
              <a:t>Done when: a number that makes no sense through one part is explained by another part — not by looking harder at the same one.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66928"/>
          </a:xfrm>
          <a:prstGeom prst="rect">
            <a:avLst/>
          </a:prstGeom>
          <a:noFill/>
          <a:ln/>
        </p:spPr>
        <p:txBody>
          <a:bodyPr wrap="square" lIns="0" tIns="0" rIns="0" bIns="0" rtlCol="0" anchor="ctr"/>
          <a:lstStyle/>
          <a:p>
            <a:pPr indent="0" marL="0">
              <a:buNone/>
            </a:pPr>
            <a:r>
              <a:rPr lang="en-US" sz="3200" b="1" dirty="0">
                <a:solidFill>
                  <a:srgbClr val="102A43"/>
                </a:solidFill>
                <a:latin typeface="Cambria" pitchFamily="34" charset="0"/>
                <a:ea typeface="Cambria" pitchFamily="34" charset="-122"/>
                <a:cs typeface="Cambria" pitchFamily="34" charset="-120"/>
              </a:rPr>
              <a:t>How they spread</a:t>
            </a:r>
            <a:endParaRPr lang="en-US" sz="3200" dirty="0"/>
          </a:p>
        </p:txBody>
      </p:sp>
      <p:sp>
        <p:nvSpPr>
          <p:cNvPr id="3" name="Text 1"/>
          <p:cNvSpPr txBox="1"/>
          <p:nvPr/>
        </p:nvSpPr>
        <p:spPr>
          <a:xfrm>
            <a:off x="457200" y="914400"/>
            <a:ext cx="8229600" cy="320040"/>
          </a:xfrm>
          <a:prstGeom prst="rect">
            <a:avLst/>
          </a:prstGeom>
          <a:noFill/>
          <a:ln/>
        </p:spPr>
        <p:txBody>
          <a:bodyPr wrap="square" lIns="0" tIns="0" rIns="0" bIns="0" rtlCol="0" anchor="ctr"/>
          <a:lstStyle/>
          <a:p>
            <a:pPr indent="0" marL="0">
              <a:buNone/>
            </a:pPr>
            <a:r>
              <a:rPr lang="en-US" sz="1300" i="1" dirty="0">
                <a:solidFill>
                  <a:srgbClr val="486581"/>
                </a:solidFill>
                <a:latin typeface="Calibri" pitchFamily="34" charset="0"/>
                <a:ea typeface="Calibri" pitchFamily="34" charset="-122"/>
                <a:cs typeface="Calibri" pitchFamily="34" charset="-120"/>
              </a:rPr>
              <a:t>A model is an orientation tool, not an instruction. You cannot mandate a way of seeing — you can only show it to someone who is lost.</a:t>
            </a:r>
            <a:endParaRPr lang="en-US" sz="1300" dirty="0"/>
          </a:p>
        </p:txBody>
      </p:sp>
      <p:sp>
        <p:nvSpPr>
          <p:cNvPr id="4" name="Shape 2"/>
          <p:cNvSpPr/>
          <p:nvPr/>
        </p:nvSpPr>
        <p:spPr>
          <a:xfrm>
            <a:off x="457200" y="1371600"/>
            <a:ext cx="4023360" cy="2359152"/>
          </a:xfrm>
          <a:prstGeom prst="roundRect">
            <a:avLst>
              <a:gd name="adj" fmla="val 2713"/>
            </a:avLst>
          </a:prstGeom>
          <a:solidFill>
            <a:srgbClr val="102A43"/>
          </a:solidFill>
          <a:ln w="12700">
            <a:solidFill>
              <a:srgbClr val="102A43"/>
            </a:solidFill>
            <a:prstDash val="solid"/>
          </a:ln>
        </p:spPr>
      </p:sp>
      <p:sp>
        <p:nvSpPr>
          <p:cNvPr id="5" name="Text 3"/>
          <p:cNvSpPr txBox="1"/>
          <p:nvPr/>
        </p:nvSpPr>
        <p:spPr>
          <a:xfrm>
            <a:off x="658368" y="1481328"/>
            <a:ext cx="3621024"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Orientation — the model</a:t>
            </a:r>
            <a:endParaRPr lang="en-US" sz="1250" dirty="0"/>
          </a:p>
        </p:txBody>
      </p:sp>
      <p:sp>
        <p:nvSpPr>
          <p:cNvPr id="6" name="Text 4"/>
          <p:cNvSpPr txBox="1"/>
          <p:nvPr/>
        </p:nvSpPr>
        <p:spPr>
          <a:xfrm>
            <a:off x="658368" y="1847088"/>
            <a:ext cx="1051560" cy="219456"/>
          </a:xfrm>
          <a:prstGeom prst="rect">
            <a:avLst/>
          </a:prstGeom>
          <a:noFill/>
          <a:ln/>
        </p:spPr>
        <p:txBody>
          <a:bodyPr wrap="square" lIns="0" tIns="0" rIns="0" bIns="0" rtlCol="0" anchor="ctr"/>
          <a:lstStyle/>
          <a:p>
            <a:pPr indent="0" marL="0">
              <a:buNone/>
            </a:pPr>
            <a:r>
              <a:rPr lang="en-US" sz="800" b="1" spc="80" kern="0" dirty="0">
                <a:solidFill>
                  <a:srgbClr val="4098D7"/>
                </a:solidFill>
                <a:latin typeface="Calibri" pitchFamily="34" charset="0"/>
                <a:ea typeface="Calibri" pitchFamily="34" charset="-122"/>
                <a:cs typeface="Calibri" pitchFamily="34" charset="-120"/>
              </a:rPr>
              <a:t>ANSWERS</a:t>
            </a:r>
            <a:endParaRPr lang="en-US" sz="800" dirty="0"/>
          </a:p>
        </p:txBody>
      </p:sp>
      <p:sp>
        <p:nvSpPr>
          <p:cNvPr id="7" name="Text 5"/>
          <p:cNvSpPr txBox="1"/>
          <p:nvPr/>
        </p:nvSpPr>
        <p:spPr>
          <a:xfrm>
            <a:off x="1755648" y="1819656"/>
            <a:ext cx="2523744" cy="384048"/>
          </a:xfrm>
          <a:prstGeom prst="rect">
            <a:avLst/>
          </a:prstGeom>
          <a:noFill/>
          <a:ln/>
        </p:spPr>
        <p:txBody>
          <a:bodyPr wrap="square" lIns="0" tIns="0" rIns="0" bIns="0" rtlCol="0" anchor="ctr"/>
          <a:lstStyle/>
          <a:p>
            <a:pPr indent="0" marL="0">
              <a:buNone/>
            </a:pPr>
            <a:r>
              <a:rPr lang="en-US" sz="1050" dirty="0">
                <a:solidFill>
                  <a:srgbClr val="D9E2EC"/>
                </a:solidFill>
                <a:latin typeface="Calibri" pitchFamily="34" charset="0"/>
                <a:ea typeface="Calibri" pitchFamily="34" charset="-122"/>
                <a:cs typeface="Calibri" pitchFamily="34" charset="-120"/>
              </a:rPr>
              <a:t>Where am I? What kind of problem is this?</a:t>
            </a:r>
            <a:endParaRPr lang="en-US" sz="1050" dirty="0"/>
          </a:p>
        </p:txBody>
      </p:sp>
      <p:sp>
        <p:nvSpPr>
          <p:cNvPr id="8" name="Text 6"/>
          <p:cNvSpPr txBox="1"/>
          <p:nvPr/>
        </p:nvSpPr>
        <p:spPr>
          <a:xfrm>
            <a:off x="658368" y="2304288"/>
            <a:ext cx="1051560" cy="219456"/>
          </a:xfrm>
          <a:prstGeom prst="rect">
            <a:avLst/>
          </a:prstGeom>
          <a:noFill/>
          <a:ln/>
        </p:spPr>
        <p:txBody>
          <a:bodyPr wrap="square" lIns="0" tIns="0" rIns="0" bIns="0" rtlCol="0" anchor="ctr"/>
          <a:lstStyle/>
          <a:p>
            <a:pPr indent="0" marL="0">
              <a:buNone/>
            </a:pPr>
            <a:r>
              <a:rPr lang="en-US" sz="800" b="1" spc="80" kern="0" dirty="0">
                <a:solidFill>
                  <a:srgbClr val="4098D7"/>
                </a:solidFill>
                <a:latin typeface="Calibri" pitchFamily="34" charset="0"/>
                <a:ea typeface="Calibri" pitchFamily="34" charset="-122"/>
                <a:cs typeface="Calibri" pitchFamily="34" charset="-120"/>
              </a:rPr>
              <a:t>SPREADS BY</a:t>
            </a:r>
            <a:endParaRPr lang="en-US" sz="800" dirty="0"/>
          </a:p>
        </p:txBody>
      </p:sp>
      <p:sp>
        <p:nvSpPr>
          <p:cNvPr id="9" name="Text 7"/>
          <p:cNvSpPr txBox="1"/>
          <p:nvPr/>
        </p:nvSpPr>
        <p:spPr>
          <a:xfrm>
            <a:off x="1755648" y="2276856"/>
            <a:ext cx="2523744" cy="384048"/>
          </a:xfrm>
          <a:prstGeom prst="rect">
            <a:avLst/>
          </a:prstGeom>
          <a:noFill/>
          <a:ln/>
        </p:spPr>
        <p:txBody>
          <a:bodyPr wrap="square" lIns="0" tIns="0" rIns="0" bIns="0" rtlCol="0" anchor="ctr"/>
          <a:lstStyle/>
          <a:p>
            <a:pPr indent="0" marL="0">
              <a:buNone/>
            </a:pPr>
            <a:r>
              <a:rPr lang="en-US" sz="1050" dirty="0">
                <a:solidFill>
                  <a:srgbClr val="D9E2EC"/>
                </a:solidFill>
                <a:latin typeface="Calibri" pitchFamily="34" charset="0"/>
                <a:ea typeface="Calibri" pitchFamily="34" charset="-122"/>
                <a:cs typeface="Calibri" pitchFamily="34" charset="-120"/>
              </a:rPr>
              <a:t>Being used out loud at the moment of confusion</a:t>
            </a:r>
            <a:endParaRPr lang="en-US" sz="1050" dirty="0"/>
          </a:p>
        </p:txBody>
      </p:sp>
      <p:sp>
        <p:nvSpPr>
          <p:cNvPr id="10" name="Text 8"/>
          <p:cNvSpPr txBox="1"/>
          <p:nvPr/>
        </p:nvSpPr>
        <p:spPr>
          <a:xfrm>
            <a:off x="658368" y="2761488"/>
            <a:ext cx="1051560" cy="219456"/>
          </a:xfrm>
          <a:prstGeom prst="rect">
            <a:avLst/>
          </a:prstGeom>
          <a:noFill/>
          <a:ln/>
        </p:spPr>
        <p:txBody>
          <a:bodyPr wrap="square" lIns="0" tIns="0" rIns="0" bIns="0" rtlCol="0" anchor="ctr"/>
          <a:lstStyle/>
          <a:p>
            <a:pPr indent="0" marL="0">
              <a:buNone/>
            </a:pPr>
            <a:r>
              <a:rPr lang="en-US" sz="800" b="1" spc="80" kern="0" dirty="0">
                <a:solidFill>
                  <a:srgbClr val="4098D7"/>
                </a:solidFill>
                <a:latin typeface="Calibri" pitchFamily="34" charset="0"/>
                <a:ea typeface="Calibri" pitchFamily="34" charset="-122"/>
                <a:cs typeface="Calibri" pitchFamily="34" charset="-120"/>
              </a:rPr>
              <a:t>ADOPTED WHEN</a:t>
            </a:r>
            <a:endParaRPr lang="en-US" sz="800" dirty="0"/>
          </a:p>
        </p:txBody>
      </p:sp>
      <p:sp>
        <p:nvSpPr>
          <p:cNvPr id="11" name="Text 9"/>
          <p:cNvSpPr txBox="1"/>
          <p:nvPr/>
        </p:nvSpPr>
        <p:spPr>
          <a:xfrm>
            <a:off x="1755648" y="2734056"/>
            <a:ext cx="2523744" cy="384048"/>
          </a:xfrm>
          <a:prstGeom prst="rect">
            <a:avLst/>
          </a:prstGeom>
          <a:noFill/>
          <a:ln/>
        </p:spPr>
        <p:txBody>
          <a:bodyPr wrap="square" lIns="0" tIns="0" rIns="0" bIns="0" rtlCol="0" anchor="ctr"/>
          <a:lstStyle/>
          <a:p>
            <a:pPr indent="0" marL="0">
              <a:buNone/>
            </a:pPr>
            <a:r>
              <a:rPr lang="en-US" sz="1050" dirty="0">
                <a:solidFill>
                  <a:srgbClr val="D9E2EC"/>
                </a:solidFill>
                <a:latin typeface="Calibri" pitchFamily="34" charset="0"/>
                <a:ea typeface="Calibri" pitchFamily="34" charset="-122"/>
                <a:cs typeface="Calibri" pitchFamily="34" charset="-120"/>
              </a:rPr>
              <a:t>People use the words without being asked</a:t>
            </a:r>
            <a:endParaRPr lang="en-US" sz="1050" dirty="0"/>
          </a:p>
        </p:txBody>
      </p:sp>
      <p:sp>
        <p:nvSpPr>
          <p:cNvPr id="12" name="Text 10"/>
          <p:cNvSpPr txBox="1"/>
          <p:nvPr/>
        </p:nvSpPr>
        <p:spPr>
          <a:xfrm>
            <a:off x="658368" y="3218688"/>
            <a:ext cx="1051560" cy="219456"/>
          </a:xfrm>
          <a:prstGeom prst="rect">
            <a:avLst/>
          </a:prstGeom>
          <a:noFill/>
          <a:ln/>
        </p:spPr>
        <p:txBody>
          <a:bodyPr wrap="square" lIns="0" tIns="0" rIns="0" bIns="0" rtlCol="0" anchor="ctr"/>
          <a:lstStyle/>
          <a:p>
            <a:pPr indent="0" marL="0">
              <a:buNone/>
            </a:pPr>
            <a:r>
              <a:rPr lang="en-US" sz="800" b="1" spc="80" kern="0" dirty="0">
                <a:solidFill>
                  <a:srgbClr val="4098D7"/>
                </a:solidFill>
                <a:latin typeface="Calibri" pitchFamily="34" charset="0"/>
                <a:ea typeface="Calibri" pitchFamily="34" charset="-122"/>
                <a:cs typeface="Calibri" pitchFamily="34" charset="-120"/>
              </a:rPr>
              <a:t>DIES WHEN</a:t>
            </a:r>
            <a:endParaRPr lang="en-US" sz="800" dirty="0"/>
          </a:p>
        </p:txBody>
      </p:sp>
      <p:sp>
        <p:nvSpPr>
          <p:cNvPr id="13" name="Text 11"/>
          <p:cNvSpPr txBox="1"/>
          <p:nvPr/>
        </p:nvSpPr>
        <p:spPr>
          <a:xfrm>
            <a:off x="1755648" y="3191256"/>
            <a:ext cx="2523744" cy="384048"/>
          </a:xfrm>
          <a:prstGeom prst="rect">
            <a:avLst/>
          </a:prstGeom>
          <a:noFill/>
          <a:ln/>
        </p:spPr>
        <p:txBody>
          <a:bodyPr wrap="square" lIns="0" tIns="0" rIns="0" bIns="0" rtlCol="0" anchor="ctr"/>
          <a:lstStyle/>
          <a:p>
            <a:pPr indent="0" marL="0">
              <a:buNone/>
            </a:pPr>
            <a:r>
              <a:rPr lang="en-US" sz="1050" dirty="0">
                <a:solidFill>
                  <a:srgbClr val="D9E2EC"/>
                </a:solidFill>
                <a:latin typeface="Calibri" pitchFamily="34" charset="0"/>
                <a:ea typeface="Calibri" pitchFamily="34" charset="-122"/>
                <a:cs typeface="Calibri" pitchFamily="34" charset="-120"/>
              </a:rPr>
              <a:t>It is mandated, quizzed, or made a checkbox</a:t>
            </a:r>
            <a:endParaRPr lang="en-US" sz="1050" dirty="0"/>
          </a:p>
        </p:txBody>
      </p:sp>
      <p:sp>
        <p:nvSpPr>
          <p:cNvPr id="14" name="Shape 12"/>
          <p:cNvSpPr/>
          <p:nvPr/>
        </p:nvSpPr>
        <p:spPr>
          <a:xfrm>
            <a:off x="4663440" y="1371600"/>
            <a:ext cx="4023360" cy="2359152"/>
          </a:xfrm>
          <a:prstGeom prst="roundRect">
            <a:avLst>
              <a:gd name="adj" fmla="val 2713"/>
            </a:avLst>
          </a:prstGeom>
          <a:solidFill>
            <a:srgbClr val="F0F4F8"/>
          </a:solidFill>
          <a:ln w="12700">
            <a:solidFill>
              <a:srgbClr val="D9E2EC"/>
            </a:solidFill>
            <a:prstDash val="solid"/>
          </a:ln>
        </p:spPr>
      </p:sp>
      <p:sp>
        <p:nvSpPr>
          <p:cNvPr id="15" name="Text 13"/>
          <p:cNvSpPr txBox="1"/>
          <p:nvPr/>
        </p:nvSpPr>
        <p:spPr>
          <a:xfrm>
            <a:off x="4864608" y="1481328"/>
            <a:ext cx="3621024" cy="274320"/>
          </a:xfrm>
          <a:prstGeom prst="rect">
            <a:avLst/>
          </a:prstGeom>
          <a:noFill/>
          <a:ln/>
        </p:spPr>
        <p:txBody>
          <a:bodyPr wrap="square" lIns="0" tIns="0" rIns="0" bIns="0" rtlCol="0" anchor="ctr"/>
          <a:lstStyle/>
          <a:p>
            <a:pPr indent="0" marL="0">
              <a:buNone/>
            </a:pPr>
            <a:r>
              <a:rPr lang="en-US" sz="1250" b="1" dirty="0">
                <a:solidFill>
                  <a:srgbClr val="102A43"/>
                </a:solidFill>
                <a:latin typeface="Calibri" pitchFamily="34" charset="0"/>
                <a:ea typeface="Calibri" pitchFamily="34" charset="-122"/>
                <a:cs typeface="Calibri" pitchFamily="34" charset="-120"/>
              </a:rPr>
              <a:t>Instruction — runbooks, scripts, checklists</a:t>
            </a:r>
            <a:endParaRPr lang="en-US" sz="1250" dirty="0"/>
          </a:p>
        </p:txBody>
      </p:sp>
      <p:sp>
        <p:nvSpPr>
          <p:cNvPr id="16" name="Text 14"/>
          <p:cNvSpPr txBox="1"/>
          <p:nvPr/>
        </p:nvSpPr>
        <p:spPr>
          <a:xfrm>
            <a:off x="4864608" y="1847088"/>
            <a:ext cx="1051560" cy="219456"/>
          </a:xfrm>
          <a:prstGeom prst="rect">
            <a:avLst/>
          </a:prstGeom>
          <a:noFill/>
          <a:ln/>
        </p:spPr>
        <p:txBody>
          <a:bodyPr wrap="square" lIns="0" tIns="0" rIns="0" bIns="0" rtlCol="0" anchor="ctr"/>
          <a:lstStyle/>
          <a:p>
            <a:pPr indent="0" marL="0">
              <a:buNone/>
            </a:pPr>
            <a:r>
              <a:rPr lang="en-US" sz="800" b="1" spc="80" kern="0" dirty="0">
                <a:solidFill>
                  <a:srgbClr val="486581"/>
                </a:solidFill>
                <a:latin typeface="Calibri" pitchFamily="34" charset="0"/>
                <a:ea typeface="Calibri" pitchFamily="34" charset="-122"/>
                <a:cs typeface="Calibri" pitchFamily="34" charset="-120"/>
              </a:rPr>
              <a:t>ANSWERS</a:t>
            </a:r>
            <a:endParaRPr lang="en-US" sz="800" dirty="0"/>
          </a:p>
        </p:txBody>
      </p:sp>
      <p:sp>
        <p:nvSpPr>
          <p:cNvPr id="17" name="Text 15"/>
          <p:cNvSpPr txBox="1"/>
          <p:nvPr/>
        </p:nvSpPr>
        <p:spPr>
          <a:xfrm>
            <a:off x="5961888" y="1819656"/>
            <a:ext cx="2523744" cy="384048"/>
          </a:xfrm>
          <a:prstGeom prst="rect">
            <a:avLst/>
          </a:prstGeom>
          <a:noFill/>
          <a:ln/>
        </p:spPr>
        <p:txBody>
          <a:bodyPr wrap="square" lIns="0" tIns="0" rIns="0" bIns="0" rtlCol="0" anchor="ctr"/>
          <a:lstStyle/>
          <a:p>
            <a:pPr indent="0" marL="0">
              <a:buNone/>
            </a:pPr>
            <a:r>
              <a:rPr lang="en-US" sz="1050" dirty="0">
                <a:solidFill>
                  <a:srgbClr val="486581"/>
                </a:solidFill>
                <a:latin typeface="Calibri" pitchFamily="34" charset="0"/>
                <a:ea typeface="Calibri" pitchFamily="34" charset="-122"/>
                <a:cs typeface="Calibri" pitchFamily="34" charset="-120"/>
              </a:rPr>
              <a:t>What do I type next?</a:t>
            </a:r>
            <a:endParaRPr lang="en-US" sz="1050" dirty="0"/>
          </a:p>
        </p:txBody>
      </p:sp>
      <p:sp>
        <p:nvSpPr>
          <p:cNvPr id="18" name="Text 16"/>
          <p:cNvSpPr txBox="1"/>
          <p:nvPr/>
        </p:nvSpPr>
        <p:spPr>
          <a:xfrm>
            <a:off x="4864608" y="2304288"/>
            <a:ext cx="1051560" cy="219456"/>
          </a:xfrm>
          <a:prstGeom prst="rect">
            <a:avLst/>
          </a:prstGeom>
          <a:noFill/>
          <a:ln/>
        </p:spPr>
        <p:txBody>
          <a:bodyPr wrap="square" lIns="0" tIns="0" rIns="0" bIns="0" rtlCol="0" anchor="ctr"/>
          <a:lstStyle/>
          <a:p>
            <a:pPr indent="0" marL="0">
              <a:buNone/>
            </a:pPr>
            <a:r>
              <a:rPr lang="en-US" sz="800" b="1" spc="80" kern="0" dirty="0">
                <a:solidFill>
                  <a:srgbClr val="486581"/>
                </a:solidFill>
                <a:latin typeface="Calibri" pitchFamily="34" charset="0"/>
                <a:ea typeface="Calibri" pitchFamily="34" charset="-122"/>
                <a:cs typeface="Calibri" pitchFamily="34" charset="-120"/>
              </a:rPr>
              <a:t>SPREADS BY</a:t>
            </a:r>
            <a:endParaRPr lang="en-US" sz="800" dirty="0"/>
          </a:p>
        </p:txBody>
      </p:sp>
      <p:sp>
        <p:nvSpPr>
          <p:cNvPr id="19" name="Text 17"/>
          <p:cNvSpPr txBox="1"/>
          <p:nvPr/>
        </p:nvSpPr>
        <p:spPr>
          <a:xfrm>
            <a:off x="5961888" y="2276856"/>
            <a:ext cx="2523744" cy="384048"/>
          </a:xfrm>
          <a:prstGeom prst="rect">
            <a:avLst/>
          </a:prstGeom>
          <a:noFill/>
          <a:ln/>
        </p:spPr>
        <p:txBody>
          <a:bodyPr wrap="square" lIns="0" tIns="0" rIns="0" bIns="0" rtlCol="0" anchor="ctr"/>
          <a:lstStyle/>
          <a:p>
            <a:pPr indent="0" marL="0">
              <a:buNone/>
            </a:pPr>
            <a:r>
              <a:rPr lang="en-US" sz="1050" dirty="0">
                <a:solidFill>
                  <a:srgbClr val="486581"/>
                </a:solidFill>
                <a:latin typeface="Calibri" pitchFamily="34" charset="0"/>
                <a:ea typeface="Calibri" pitchFamily="34" charset="-122"/>
                <a:cs typeface="Calibri" pitchFamily="34" charset="-120"/>
              </a:rPr>
              <a:t>Being published, linked, and required</a:t>
            </a:r>
            <a:endParaRPr lang="en-US" sz="1050" dirty="0"/>
          </a:p>
        </p:txBody>
      </p:sp>
      <p:sp>
        <p:nvSpPr>
          <p:cNvPr id="20" name="Text 18"/>
          <p:cNvSpPr txBox="1"/>
          <p:nvPr/>
        </p:nvSpPr>
        <p:spPr>
          <a:xfrm>
            <a:off x="4864608" y="2761488"/>
            <a:ext cx="1051560" cy="219456"/>
          </a:xfrm>
          <a:prstGeom prst="rect">
            <a:avLst/>
          </a:prstGeom>
          <a:noFill/>
          <a:ln/>
        </p:spPr>
        <p:txBody>
          <a:bodyPr wrap="square" lIns="0" tIns="0" rIns="0" bIns="0" rtlCol="0" anchor="ctr"/>
          <a:lstStyle/>
          <a:p>
            <a:pPr indent="0" marL="0">
              <a:buNone/>
            </a:pPr>
            <a:r>
              <a:rPr lang="en-US" sz="800" b="1" spc="80" kern="0" dirty="0">
                <a:solidFill>
                  <a:srgbClr val="486581"/>
                </a:solidFill>
                <a:latin typeface="Calibri" pitchFamily="34" charset="0"/>
                <a:ea typeface="Calibri" pitchFamily="34" charset="-122"/>
                <a:cs typeface="Calibri" pitchFamily="34" charset="-120"/>
              </a:rPr>
              <a:t>ADOPTED WHEN</a:t>
            </a:r>
            <a:endParaRPr lang="en-US" sz="800" dirty="0"/>
          </a:p>
        </p:txBody>
      </p:sp>
      <p:sp>
        <p:nvSpPr>
          <p:cNvPr id="21" name="Text 19"/>
          <p:cNvSpPr txBox="1"/>
          <p:nvPr/>
        </p:nvSpPr>
        <p:spPr>
          <a:xfrm>
            <a:off x="5961888" y="2734056"/>
            <a:ext cx="2523744" cy="384048"/>
          </a:xfrm>
          <a:prstGeom prst="rect">
            <a:avLst/>
          </a:prstGeom>
          <a:noFill/>
          <a:ln/>
        </p:spPr>
        <p:txBody>
          <a:bodyPr wrap="square" lIns="0" tIns="0" rIns="0" bIns="0" rtlCol="0" anchor="ctr"/>
          <a:lstStyle/>
          <a:p>
            <a:pPr indent="0" marL="0">
              <a:buNone/>
            </a:pPr>
            <a:r>
              <a:rPr lang="en-US" sz="1050" dirty="0">
                <a:solidFill>
                  <a:srgbClr val="486581"/>
                </a:solidFill>
                <a:latin typeface="Calibri" pitchFamily="34" charset="0"/>
                <a:ea typeface="Calibri" pitchFamily="34" charset="-122"/>
                <a:cs typeface="Calibri" pitchFamily="34" charset="-120"/>
              </a:rPr>
              <a:t>People follow the steps</a:t>
            </a:r>
            <a:endParaRPr lang="en-US" sz="1050" dirty="0"/>
          </a:p>
        </p:txBody>
      </p:sp>
      <p:sp>
        <p:nvSpPr>
          <p:cNvPr id="22" name="Text 20"/>
          <p:cNvSpPr txBox="1"/>
          <p:nvPr/>
        </p:nvSpPr>
        <p:spPr>
          <a:xfrm>
            <a:off x="4864608" y="3218688"/>
            <a:ext cx="1051560" cy="219456"/>
          </a:xfrm>
          <a:prstGeom prst="rect">
            <a:avLst/>
          </a:prstGeom>
          <a:noFill/>
          <a:ln/>
        </p:spPr>
        <p:txBody>
          <a:bodyPr wrap="square" lIns="0" tIns="0" rIns="0" bIns="0" rtlCol="0" anchor="ctr"/>
          <a:lstStyle/>
          <a:p>
            <a:pPr indent="0" marL="0">
              <a:buNone/>
            </a:pPr>
            <a:r>
              <a:rPr lang="en-US" sz="800" b="1" spc="80" kern="0" dirty="0">
                <a:solidFill>
                  <a:srgbClr val="486581"/>
                </a:solidFill>
                <a:latin typeface="Calibri" pitchFamily="34" charset="0"/>
                <a:ea typeface="Calibri" pitchFamily="34" charset="-122"/>
                <a:cs typeface="Calibri" pitchFamily="34" charset="-120"/>
              </a:rPr>
              <a:t>DIES WHEN</a:t>
            </a:r>
            <a:endParaRPr lang="en-US" sz="800" dirty="0"/>
          </a:p>
        </p:txBody>
      </p:sp>
      <p:sp>
        <p:nvSpPr>
          <p:cNvPr id="23" name="Text 21"/>
          <p:cNvSpPr txBox="1"/>
          <p:nvPr/>
        </p:nvSpPr>
        <p:spPr>
          <a:xfrm>
            <a:off x="5961888" y="3191256"/>
            <a:ext cx="2523744" cy="384048"/>
          </a:xfrm>
          <a:prstGeom prst="rect">
            <a:avLst/>
          </a:prstGeom>
          <a:noFill/>
          <a:ln/>
        </p:spPr>
        <p:txBody>
          <a:bodyPr wrap="square" lIns="0" tIns="0" rIns="0" bIns="0" rtlCol="0" anchor="ctr"/>
          <a:lstStyle/>
          <a:p>
            <a:pPr indent="0" marL="0">
              <a:buNone/>
            </a:pPr>
            <a:r>
              <a:rPr lang="en-US" sz="1050" dirty="0">
                <a:solidFill>
                  <a:srgbClr val="486581"/>
                </a:solidFill>
                <a:latin typeface="Calibri" pitchFamily="34" charset="0"/>
                <a:ea typeface="Calibri" pitchFamily="34" charset="-122"/>
                <a:cs typeface="Calibri" pitchFamily="34" charset="-120"/>
              </a:rPr>
              <a:t>It goes stale and nobody updates it</a:t>
            </a:r>
            <a:endParaRPr lang="en-US" sz="1050" dirty="0"/>
          </a:p>
        </p:txBody>
      </p:sp>
      <p:sp>
        <p:nvSpPr>
          <p:cNvPr id="24" name="Shape 22"/>
          <p:cNvSpPr/>
          <p:nvPr/>
        </p:nvSpPr>
        <p:spPr>
          <a:xfrm>
            <a:off x="457200" y="3886200"/>
            <a:ext cx="329184" cy="329184"/>
          </a:xfrm>
          <a:prstGeom prst="ellipse">
            <a:avLst/>
          </a:prstGeom>
          <a:solidFill>
            <a:srgbClr val="2680C2"/>
          </a:solidFill>
          <a:ln w="12700">
            <a:solidFill>
              <a:srgbClr val="2680C2"/>
            </a:solidFill>
            <a:prstDash val="solid"/>
          </a:ln>
        </p:spPr>
      </p:sp>
      <p:sp>
        <p:nvSpPr>
          <p:cNvPr id="25" name="Text 23"/>
          <p:cNvSpPr txBox="1"/>
          <p:nvPr/>
        </p:nvSpPr>
        <p:spPr>
          <a:xfrm>
            <a:off x="457200" y="38862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26" name="Text 24"/>
          <p:cNvSpPr txBox="1"/>
          <p:nvPr/>
        </p:nvSpPr>
        <p:spPr>
          <a:xfrm>
            <a:off x="896112" y="3858768"/>
            <a:ext cx="2240280" cy="237744"/>
          </a:xfrm>
          <a:prstGeom prst="rect">
            <a:avLst/>
          </a:prstGeom>
          <a:noFill/>
          <a:ln/>
        </p:spPr>
        <p:txBody>
          <a:bodyPr wrap="square" lIns="0" tIns="0" rIns="0" bIns="0" rtlCol="0" anchor="ctr"/>
          <a:lstStyle/>
          <a:p>
            <a:pPr indent="0" marL="0">
              <a:buNone/>
            </a:pPr>
            <a:r>
              <a:rPr lang="en-US" sz="1100" b="1" dirty="0">
                <a:solidFill>
                  <a:srgbClr val="102A43"/>
                </a:solidFill>
                <a:latin typeface="Calibri" pitchFamily="34" charset="0"/>
                <a:ea typeface="Calibri" pitchFamily="34" charset="-122"/>
                <a:cs typeface="Calibri" pitchFamily="34" charset="-120"/>
              </a:rPr>
              <a:t>Demonstrate it when the room is lost</a:t>
            </a:r>
            <a:endParaRPr lang="en-US" sz="1100" dirty="0"/>
          </a:p>
        </p:txBody>
      </p:sp>
      <p:sp>
        <p:nvSpPr>
          <p:cNvPr id="27" name="Text 25"/>
          <p:cNvSpPr txBox="1"/>
          <p:nvPr/>
        </p:nvSpPr>
        <p:spPr>
          <a:xfrm>
            <a:off x="896112" y="4096512"/>
            <a:ext cx="2240280" cy="411480"/>
          </a:xfrm>
          <a:prstGeom prst="rect">
            <a:avLst/>
          </a:prstGeom>
          <a:noFill/>
          <a:ln/>
        </p:spPr>
        <p:txBody>
          <a:bodyPr wrap="square" lIns="0" tIns="0" rIns="0" bIns="0" rtlCol="0" anchor="ctr"/>
          <a:lstStyle/>
          <a:p>
            <a:pPr indent="0" marL="0">
              <a:buNone/>
            </a:pPr>
            <a:r>
              <a:rPr lang="en-US" sz="950" dirty="0">
                <a:solidFill>
                  <a:srgbClr val="486581"/>
                </a:solidFill>
                <a:latin typeface="Calibri" pitchFamily="34" charset="0"/>
                <a:ea typeface="Calibri" pitchFamily="34" charset="-122"/>
                <a:cs typeface="Calibri" pitchFamily="34" charset="-120"/>
              </a:rPr>
              <a:t>“Hold on — which door is this?” is the whole intervention.</a:t>
            </a:r>
            <a:endParaRPr lang="en-US" sz="950" dirty="0"/>
          </a:p>
        </p:txBody>
      </p:sp>
      <p:sp>
        <p:nvSpPr>
          <p:cNvPr id="28" name="Shape 26"/>
          <p:cNvSpPr/>
          <p:nvPr/>
        </p:nvSpPr>
        <p:spPr>
          <a:xfrm>
            <a:off x="3337560" y="3886200"/>
            <a:ext cx="329184" cy="329184"/>
          </a:xfrm>
          <a:prstGeom prst="ellipse">
            <a:avLst/>
          </a:prstGeom>
          <a:solidFill>
            <a:srgbClr val="2680C2"/>
          </a:solidFill>
          <a:ln w="12700">
            <a:solidFill>
              <a:srgbClr val="2680C2"/>
            </a:solidFill>
            <a:prstDash val="solid"/>
          </a:ln>
        </p:spPr>
      </p:sp>
      <p:sp>
        <p:nvSpPr>
          <p:cNvPr id="29" name="Text 27"/>
          <p:cNvSpPr txBox="1"/>
          <p:nvPr/>
        </p:nvSpPr>
        <p:spPr>
          <a:xfrm>
            <a:off x="3337560" y="38862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30" name="Text 28"/>
          <p:cNvSpPr txBox="1"/>
          <p:nvPr/>
        </p:nvSpPr>
        <p:spPr>
          <a:xfrm>
            <a:off x="3776472" y="3858768"/>
            <a:ext cx="2240280" cy="237744"/>
          </a:xfrm>
          <a:prstGeom prst="rect">
            <a:avLst/>
          </a:prstGeom>
          <a:noFill/>
          <a:ln/>
        </p:spPr>
        <p:txBody>
          <a:bodyPr wrap="square" lIns="0" tIns="0" rIns="0" bIns="0" rtlCol="0" anchor="ctr"/>
          <a:lstStyle/>
          <a:p>
            <a:pPr indent="0" marL="0">
              <a:buNone/>
            </a:pPr>
            <a:r>
              <a:rPr lang="en-US" sz="1100" b="1" dirty="0">
                <a:solidFill>
                  <a:srgbClr val="102A43"/>
                </a:solidFill>
                <a:latin typeface="Calibri" pitchFamily="34" charset="0"/>
                <a:ea typeface="Calibri" pitchFamily="34" charset="-122"/>
                <a:cs typeface="Calibri" pitchFamily="34" charset="-120"/>
              </a:rPr>
              <a:t>Name it so it can be asked for</a:t>
            </a:r>
            <a:endParaRPr lang="en-US" sz="1100" dirty="0"/>
          </a:p>
        </p:txBody>
      </p:sp>
      <p:sp>
        <p:nvSpPr>
          <p:cNvPr id="31" name="Text 29"/>
          <p:cNvSpPr txBox="1"/>
          <p:nvPr/>
        </p:nvSpPr>
        <p:spPr>
          <a:xfrm>
            <a:off x="3776472" y="4096512"/>
            <a:ext cx="2240280" cy="411480"/>
          </a:xfrm>
          <a:prstGeom prst="rect">
            <a:avLst/>
          </a:prstGeom>
          <a:noFill/>
          <a:ln/>
        </p:spPr>
        <p:txBody>
          <a:bodyPr wrap="square" lIns="0" tIns="0" rIns="0" bIns="0" rtlCol="0" anchor="ctr"/>
          <a:lstStyle/>
          <a:p>
            <a:pPr indent="0" marL="0">
              <a:buNone/>
            </a:pPr>
            <a:r>
              <a:rPr lang="en-US" sz="950" dirty="0">
                <a:solidFill>
                  <a:srgbClr val="486581"/>
                </a:solidFill>
                <a:latin typeface="Calibri" pitchFamily="34" charset="0"/>
                <a:ea typeface="Calibri" pitchFamily="34" charset="-122"/>
                <a:cs typeface="Calibri" pitchFamily="34" charset="-120"/>
              </a:rPr>
              <a:t>The name travels; the page does not. Nobody re-reads a model.</a:t>
            </a:r>
            <a:endParaRPr lang="en-US" sz="950" dirty="0"/>
          </a:p>
        </p:txBody>
      </p:sp>
      <p:sp>
        <p:nvSpPr>
          <p:cNvPr id="32" name="Shape 30"/>
          <p:cNvSpPr/>
          <p:nvPr/>
        </p:nvSpPr>
        <p:spPr>
          <a:xfrm>
            <a:off x="6217920" y="3886200"/>
            <a:ext cx="329184" cy="329184"/>
          </a:xfrm>
          <a:prstGeom prst="ellipse">
            <a:avLst/>
          </a:prstGeom>
          <a:solidFill>
            <a:srgbClr val="2680C2"/>
          </a:solidFill>
          <a:ln w="12700">
            <a:solidFill>
              <a:srgbClr val="2680C2"/>
            </a:solidFill>
            <a:prstDash val="solid"/>
          </a:ln>
        </p:spPr>
      </p:sp>
      <p:sp>
        <p:nvSpPr>
          <p:cNvPr id="33" name="Text 31"/>
          <p:cNvSpPr txBox="1"/>
          <p:nvPr/>
        </p:nvSpPr>
        <p:spPr>
          <a:xfrm>
            <a:off x="6217920" y="38862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34" name="Text 32"/>
          <p:cNvSpPr txBox="1"/>
          <p:nvPr/>
        </p:nvSpPr>
        <p:spPr>
          <a:xfrm>
            <a:off x="6656832" y="3858768"/>
            <a:ext cx="2240280" cy="237744"/>
          </a:xfrm>
          <a:prstGeom prst="rect">
            <a:avLst/>
          </a:prstGeom>
          <a:noFill/>
          <a:ln/>
        </p:spPr>
        <p:txBody>
          <a:bodyPr wrap="square" lIns="0" tIns="0" rIns="0" bIns="0" rtlCol="0" anchor="ctr"/>
          <a:lstStyle/>
          <a:p>
            <a:pPr indent="0" marL="0">
              <a:buNone/>
            </a:pPr>
            <a:r>
              <a:rPr lang="en-US" sz="1100" b="1" dirty="0">
                <a:solidFill>
                  <a:srgbClr val="102A43"/>
                </a:solidFill>
                <a:latin typeface="Calibri" pitchFamily="34" charset="0"/>
                <a:ea typeface="Calibri" pitchFamily="34" charset="-122"/>
                <a:cs typeface="Calibri" pitchFamily="34" charset="-120"/>
              </a:rPr>
              <a:t>Let the tactics hang off it</a:t>
            </a:r>
            <a:endParaRPr lang="en-US" sz="1100" dirty="0"/>
          </a:p>
        </p:txBody>
      </p:sp>
      <p:sp>
        <p:nvSpPr>
          <p:cNvPr id="35" name="Text 33"/>
          <p:cNvSpPr txBox="1"/>
          <p:nvPr/>
        </p:nvSpPr>
        <p:spPr>
          <a:xfrm>
            <a:off x="6656832" y="4096512"/>
            <a:ext cx="2240280" cy="411480"/>
          </a:xfrm>
          <a:prstGeom prst="rect">
            <a:avLst/>
          </a:prstGeom>
          <a:noFill/>
          <a:ln/>
        </p:spPr>
        <p:txBody>
          <a:bodyPr wrap="square" lIns="0" tIns="0" rIns="0" bIns="0" rtlCol="0" anchor="ctr"/>
          <a:lstStyle/>
          <a:p>
            <a:pPr indent="0" marL="0">
              <a:buNone/>
            </a:pPr>
            <a:r>
              <a:rPr lang="en-US" sz="950" dirty="0">
                <a:solidFill>
                  <a:srgbClr val="486581"/>
                </a:solidFill>
                <a:latin typeface="Calibri" pitchFamily="34" charset="0"/>
                <a:ea typeface="Calibri" pitchFamily="34" charset="-122"/>
                <a:cs typeface="Calibri" pitchFamily="34" charset="-120"/>
              </a:rPr>
              <a:t>Lead with the map. The commands are the reward, not the pitch.</a:t>
            </a:r>
            <a:endParaRPr lang="en-US" sz="950" dirty="0"/>
          </a:p>
        </p:txBody>
      </p:sp>
      <p:sp>
        <p:nvSpPr>
          <p:cNvPr id="36" name="Text 34"/>
          <p:cNvSpPr txBox="1"/>
          <p:nvPr/>
        </p:nvSpPr>
        <p:spPr>
          <a:xfrm>
            <a:off x="457200" y="4645152"/>
            <a:ext cx="8229600" cy="274320"/>
          </a:xfrm>
          <a:prstGeom prst="rect">
            <a:avLst/>
          </a:prstGeom>
          <a:noFill/>
          <a:ln/>
        </p:spPr>
        <p:txBody>
          <a:bodyPr wrap="square" lIns="0" tIns="0" rIns="0" bIns="0" rtlCol="0" anchor="ctr"/>
          <a:lstStyle/>
          <a:p>
            <a:pPr indent="0" marL="0">
              <a:buNone/>
            </a:pPr>
            <a:r>
              <a:rPr lang="en-US" sz="1100" i="1" dirty="0">
                <a:solidFill>
                  <a:srgbClr val="0A558C"/>
                </a:solidFill>
                <a:latin typeface="Calibri" pitchFamily="34" charset="0"/>
                <a:ea typeface="Calibri" pitchFamily="34" charset="-122"/>
                <a:cs typeface="Calibri" pitchFamily="34" charset="-120"/>
              </a:rPr>
              <a:t>You will hear adoption before you can measure it: the names come back to you from someone who never read the page.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000" b="1" spc="140" kern="0" dirty="0">
                <a:solidFill>
                  <a:srgbClr val="0A558C"/>
                </a:solidFill>
                <a:latin typeface="Calibri" pitchFamily="34" charset="0"/>
                <a:ea typeface="Calibri" pitchFamily="34" charset="-122"/>
                <a:cs typeface="Calibri" pitchFamily="34" charset="-120"/>
              </a:rPr>
              <a:t>EXAMPLE 1 OF 4   ·   WHAT YOU SET</a:t>
            </a:r>
            <a:endParaRPr lang="en-US" sz="1000" dirty="0"/>
          </a:p>
        </p:txBody>
      </p:sp>
      <p:sp>
        <p:nvSpPr>
          <p:cNvPr id="3" name="Text 1"/>
          <p:cNvSpPr txBox="1"/>
          <p:nvPr/>
        </p:nvSpPr>
        <p:spPr>
          <a:xfrm>
            <a:off x="896112" y="530352"/>
            <a:ext cx="3108960" cy="502920"/>
          </a:xfrm>
          <a:prstGeom prst="rect">
            <a:avLst/>
          </a:prstGeom>
          <a:noFill/>
          <a:ln/>
        </p:spPr>
        <p:txBody>
          <a:bodyPr wrap="square" lIns="0" tIns="0" rIns="0" bIns="0" rtlCol="0" anchor="ctr"/>
          <a:lstStyle/>
          <a:p>
            <a:pPr indent="0" marL="0">
              <a:buNone/>
            </a:pPr>
            <a:r>
              <a:rPr lang="en-US" sz="2800" b="1" dirty="0">
                <a:solidFill>
                  <a:srgbClr val="102A43"/>
                </a:solidFill>
                <a:latin typeface="Cambria" pitchFamily="34" charset="0"/>
                <a:ea typeface="Cambria" pitchFamily="34" charset="-122"/>
                <a:cs typeface="Cambria" pitchFamily="34" charset="-120"/>
              </a:rPr>
              <a:t>The Three Doors</a:t>
            </a:r>
            <a:endParaRPr lang="en-US" sz="2800" dirty="0"/>
          </a:p>
        </p:txBody>
      </p:sp>
      <p:sp>
        <p:nvSpPr>
          <p:cNvPr id="4" name="Shape 2"/>
          <p:cNvSpPr/>
          <p:nvPr/>
        </p:nvSpPr>
        <p:spPr>
          <a:xfrm>
            <a:off x="457200" y="576072"/>
            <a:ext cx="384048" cy="384048"/>
          </a:xfrm>
          <a:prstGeom prst="ellipse">
            <a:avLst/>
          </a:prstGeom>
          <a:solidFill>
            <a:srgbClr val="2680C2"/>
          </a:solidFill>
          <a:ln w="12700">
            <a:solidFill>
              <a:srgbClr val="2680C2"/>
            </a:solidFill>
            <a:prstDash val="solid"/>
          </a:ln>
        </p:spPr>
      </p:sp>
      <p:pic>
        <p:nvPicPr>
          <p:cNvPr id="5" name="Image 0" descr="preencoded.png">    </p:cNvPr>
          <p:cNvPicPr>
            <a:picLocks noChangeAspect="1"/>
          </p:cNvPicPr>
          <p:nvPr/>
        </p:nvPicPr>
        <p:blipFill>
          <a:blip r:embed="rId1"/>
          <a:stretch>
            <a:fillRect/>
          </a:stretch>
        </p:blipFill>
        <p:spPr>
          <a:xfrm>
            <a:off x="549372" y="668244"/>
            <a:ext cx="199705" cy="199705"/>
          </a:xfrm>
          <a:prstGeom prst="rect">
            <a:avLst/>
          </a:prstGeom>
        </p:spPr>
      </p:pic>
      <p:sp>
        <p:nvSpPr>
          <p:cNvPr id="6" name="Text 3"/>
          <p:cNvSpPr txBox="1"/>
          <p:nvPr/>
        </p:nvSpPr>
        <p:spPr>
          <a:xfrm>
            <a:off x="457200" y="1298448"/>
            <a:ext cx="3383280" cy="1600200"/>
          </a:xfrm>
          <a:prstGeom prst="rect">
            <a:avLst/>
          </a:prstGeom>
          <a:noFill/>
          <a:ln/>
        </p:spPr>
        <p:txBody>
          <a:bodyPr wrap="square" lIns="0" tIns="0" rIns="0" bIns="0" rtlCol="0" anchor="t"/>
          <a:lstStyle/>
          <a:p>
            <a:pPr indent="0" marL="0">
              <a:buNone/>
            </a:pPr>
            <a:r>
              <a:rPr lang="en-US" sz="1100" dirty="0">
                <a:solidFill>
                  <a:srgbClr val="486581"/>
                </a:solidFill>
                <a:latin typeface="Calibri" pitchFamily="34" charset="0"/>
                <a:ea typeface="Calibri" pitchFamily="34" charset="-122"/>
                <a:cs typeface="Calibri" pitchFamily="34" charset="-120"/>
              </a:rPr>
              <a:t>Strip Kubernetes to its job and it needs exactly three things from a workload: what it costs, whether it tells the truth about its state, and how capacity should answer demand. There is no fourth — everything else refines one of them.</a:t>
            </a:r>
            <a:endParaRPr lang="en-US" sz="1100" dirty="0"/>
          </a:p>
        </p:txBody>
      </p:sp>
      <p:sp>
        <p:nvSpPr>
          <p:cNvPr id="7" name="Text 4"/>
          <p:cNvSpPr txBox="1"/>
          <p:nvPr/>
        </p:nvSpPr>
        <p:spPr>
          <a:xfrm>
            <a:off x="457200" y="2542032"/>
            <a:ext cx="3383280" cy="731520"/>
          </a:xfrm>
          <a:prstGeom prst="rect">
            <a:avLst/>
          </a:prstGeom>
          <a:noFill/>
          <a:ln/>
        </p:spPr>
        <p:txBody>
          <a:bodyPr wrap="square" lIns="0" tIns="0" rIns="0" bIns="0" rtlCol="0" anchor="t"/>
          <a:lstStyle/>
          <a:p>
            <a:pPr indent="0" marL="0">
              <a:buNone/>
            </a:pPr>
            <a:r>
              <a:rPr lang="en-US" sz="1200" i="1" dirty="0">
                <a:solidFill>
                  <a:srgbClr val="102A43"/>
                </a:solidFill>
                <a:latin typeface="Calibri" pitchFamily="34" charset="0"/>
                <a:ea typeface="Calibri" pitchFamily="34" charset="-122"/>
                <a:cs typeface="Calibri" pitchFamily="34" charset="-120"/>
              </a:rPr>
              <a:t>“A CPU limit costs you latency; a memory limit costs you the process.”</a:t>
            </a:r>
            <a:endParaRPr lang="en-US" sz="1200" dirty="0"/>
          </a:p>
        </p:txBody>
      </p:sp>
      <p:sp>
        <p:nvSpPr>
          <p:cNvPr id="8" name="Text 5"/>
          <p:cNvSpPr txBox="1"/>
          <p:nvPr/>
        </p:nvSpPr>
        <p:spPr>
          <a:xfrm>
            <a:off x="457200" y="3346704"/>
            <a:ext cx="3383280" cy="914400"/>
          </a:xfrm>
          <a:prstGeom prst="rect">
            <a:avLst/>
          </a:prstGeom>
          <a:noFill/>
          <a:ln/>
        </p:spPr>
        <p:txBody>
          <a:bodyPr wrap="square" lIns="0" tIns="0" rIns="0" bIns="0" rtlCol="0" anchor="t"/>
          <a:lstStyle/>
          <a:p>
            <a:pPr indent="0" marL="0">
              <a:buNone/>
            </a:pPr>
            <a:r>
              <a:rPr lang="en-US" sz="1000" b="1" dirty="0">
                <a:solidFill>
                  <a:srgbClr val="0A558C"/>
                </a:solidFill>
                <a:latin typeface="Calibri" pitchFamily="34" charset="0"/>
                <a:ea typeface="Calibri" pitchFamily="34" charset="-122"/>
                <a:cs typeface="Calibri" pitchFamily="34" charset="-120"/>
              </a:rPr>
              <a:t>In practice: </a:t>
            </a:r>
            <a:pPr indent="0" marL="0">
              <a:buNone/>
            </a:pPr>
            <a:r>
              <a:rPr lang="en-US" sz="1000" dirty="0">
                <a:solidFill>
                  <a:srgbClr val="486581"/>
                </a:solidFill>
                <a:latin typeface="Calibri" pitchFamily="34" charset="0"/>
                <a:ea typeface="Calibri" pitchFamily="34" charset="-122"/>
                <a:cs typeface="Calibri" pitchFamily="34" charset="-120"/>
              </a:rPr>
              <a:t>Walk the doors in every chart review. The triage method is the same loop in reverse: name the door the symptom is at, then check the other two for the cause.</a:t>
            </a:r>
            <a:endParaRPr lang="en-US" sz="1000" dirty="0"/>
          </a:p>
        </p:txBody>
      </p:sp>
      <p:sp>
        <p:nvSpPr>
          <p:cNvPr id="9" name="Shape 6"/>
          <p:cNvSpPr/>
          <p:nvPr/>
        </p:nvSpPr>
        <p:spPr>
          <a:xfrm>
            <a:off x="4069080" y="1874520"/>
            <a:ext cx="1325880" cy="1371600"/>
          </a:xfrm>
          <a:prstGeom prst="roundRect">
            <a:avLst>
              <a:gd name="adj" fmla="val 4828"/>
            </a:avLst>
          </a:prstGeom>
          <a:solidFill>
            <a:srgbClr val="102A43"/>
          </a:solidFill>
          <a:ln w="12700">
            <a:solidFill>
              <a:srgbClr val="102A43"/>
            </a:solidFill>
            <a:prstDash val="solid"/>
          </a:ln>
        </p:spPr>
      </p:sp>
      <p:sp>
        <p:nvSpPr>
          <p:cNvPr id="10" name="Text 7"/>
          <p:cNvSpPr txBox="1"/>
          <p:nvPr/>
        </p:nvSpPr>
        <p:spPr>
          <a:xfrm>
            <a:off x="4069080" y="2002536"/>
            <a:ext cx="1325880" cy="228600"/>
          </a:xfrm>
          <a:prstGeom prst="rect">
            <a:avLst/>
          </a:prstGeom>
          <a:noFill/>
          <a:ln/>
        </p:spPr>
        <p:txBody>
          <a:bodyPr wrap="square" lIns="0" tIns="0" rIns="0" bIns="0" rtlCol="0" anchor="ctr"/>
          <a:lstStyle/>
          <a:p>
            <a:pPr algn="ctr" indent="0" marL="0">
              <a:buNone/>
            </a:pPr>
            <a:r>
              <a:rPr lang="en-US" sz="900" b="1" dirty="0">
                <a:solidFill>
                  <a:srgbClr val="4098D7"/>
                </a:solidFill>
                <a:latin typeface="Calibri" pitchFamily="34" charset="0"/>
                <a:ea typeface="Calibri" pitchFamily="34" charset="-122"/>
                <a:cs typeface="Calibri" pitchFamily="34" charset="-120"/>
              </a:rPr>
              <a:t>1</a:t>
            </a:r>
            <a:endParaRPr lang="en-US" sz="900" dirty="0"/>
          </a:p>
        </p:txBody>
      </p:sp>
      <p:sp>
        <p:nvSpPr>
          <p:cNvPr id="11" name="Text 8"/>
          <p:cNvSpPr txBox="1"/>
          <p:nvPr/>
        </p:nvSpPr>
        <p:spPr>
          <a:xfrm>
            <a:off x="4069080" y="2221992"/>
            <a:ext cx="1325880"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Cost</a:t>
            </a:r>
            <a:endParaRPr lang="en-US" sz="1500" dirty="0"/>
          </a:p>
        </p:txBody>
      </p:sp>
      <p:sp>
        <p:nvSpPr>
          <p:cNvPr id="12" name="Text 9"/>
          <p:cNvSpPr txBox="1"/>
          <p:nvPr/>
        </p:nvSpPr>
        <p:spPr>
          <a:xfrm>
            <a:off x="4069080" y="2587752"/>
            <a:ext cx="1325880" cy="548640"/>
          </a:xfrm>
          <a:prstGeom prst="rect">
            <a:avLst/>
          </a:prstGeom>
          <a:noFill/>
          <a:ln/>
        </p:spPr>
        <p:txBody>
          <a:bodyPr wrap="square" lIns="0" tIns="0" rIns="0" bIns="0" rtlCol="0" anchor="ctr"/>
          <a:lstStyle/>
          <a:p>
            <a:pPr algn="ctr" indent="0" marL="0">
              <a:buNone/>
            </a:pPr>
            <a:r>
              <a:rPr lang="en-US" sz="900" dirty="0">
                <a:solidFill>
                  <a:srgbClr val="D9E2EC"/>
                </a:solidFill>
                <a:latin typeface="Calibri" pitchFamily="34" charset="0"/>
                <a:ea typeface="Calibri" pitchFamily="34" charset="-122"/>
                <a:cs typeface="Calibri" pitchFamily="34" charset="-120"/>
              </a:rPr>
              <a:t>requests · limits</a:t>
            </a:r>
            <a:endParaRPr lang="en-US" sz="900" dirty="0"/>
          </a:p>
          <a:p>
            <a:pPr algn="ctr" indent="0" marL="0">
              <a:buNone/>
            </a:pPr>
            <a:r>
              <a:rPr lang="en-US" sz="900" dirty="0">
                <a:solidFill>
                  <a:srgbClr val="D9E2EC"/>
                </a:solidFill>
                <a:latin typeface="Calibri" pitchFamily="34" charset="0"/>
                <a:ea typeface="Calibri" pitchFamily="34" charset="-122"/>
                <a:cs typeface="Calibri" pitchFamily="34" charset="-120"/>
              </a:rPr>
              <a:t>QoS</a:t>
            </a:r>
            <a:endParaRPr lang="en-US" sz="900" dirty="0"/>
          </a:p>
        </p:txBody>
      </p:sp>
      <p:sp>
        <p:nvSpPr>
          <p:cNvPr id="13" name="Shape 10"/>
          <p:cNvSpPr/>
          <p:nvPr/>
        </p:nvSpPr>
        <p:spPr>
          <a:xfrm>
            <a:off x="5449824" y="2560320"/>
            <a:ext cx="210312" cy="0"/>
          </a:xfrm>
          <a:prstGeom prst="line">
            <a:avLst/>
          </a:prstGeom>
          <a:noFill/>
          <a:ln w="15875">
            <a:solidFill>
              <a:srgbClr val="2680C2"/>
            </a:solidFill>
            <a:prstDash val="solid"/>
            <a:tailEnd type="triangle"/>
          </a:ln>
        </p:spPr>
      </p:sp>
      <p:sp>
        <p:nvSpPr>
          <p:cNvPr id="14" name="Shape 11"/>
          <p:cNvSpPr/>
          <p:nvPr/>
        </p:nvSpPr>
        <p:spPr>
          <a:xfrm>
            <a:off x="5715000" y="1874520"/>
            <a:ext cx="1325880" cy="1371600"/>
          </a:xfrm>
          <a:prstGeom prst="roundRect">
            <a:avLst>
              <a:gd name="adj" fmla="val 4828"/>
            </a:avLst>
          </a:prstGeom>
          <a:solidFill>
            <a:srgbClr val="F0F4F8"/>
          </a:solidFill>
          <a:ln w="12700">
            <a:solidFill>
              <a:srgbClr val="D9E2EC"/>
            </a:solidFill>
            <a:prstDash val="solid"/>
          </a:ln>
        </p:spPr>
      </p:sp>
      <p:sp>
        <p:nvSpPr>
          <p:cNvPr id="15" name="Text 12"/>
          <p:cNvSpPr txBox="1"/>
          <p:nvPr/>
        </p:nvSpPr>
        <p:spPr>
          <a:xfrm>
            <a:off x="5715000" y="2002536"/>
            <a:ext cx="1325880" cy="228600"/>
          </a:xfrm>
          <a:prstGeom prst="rect">
            <a:avLst/>
          </a:prstGeom>
          <a:noFill/>
          <a:ln/>
        </p:spPr>
        <p:txBody>
          <a:bodyPr wrap="square" lIns="0" tIns="0" rIns="0" bIns="0" rtlCol="0" anchor="ctr"/>
          <a:lstStyle/>
          <a:p>
            <a:pPr algn="ctr" indent="0" marL="0">
              <a:buNone/>
            </a:pPr>
            <a:r>
              <a:rPr lang="en-US" sz="900" b="1" dirty="0">
                <a:solidFill>
                  <a:srgbClr val="0A558C"/>
                </a:solidFill>
                <a:latin typeface="Calibri" pitchFamily="34" charset="0"/>
                <a:ea typeface="Calibri" pitchFamily="34" charset="-122"/>
                <a:cs typeface="Calibri" pitchFamily="34" charset="-120"/>
              </a:rPr>
              <a:t>2</a:t>
            </a:r>
            <a:endParaRPr lang="en-US" sz="900" dirty="0"/>
          </a:p>
        </p:txBody>
      </p:sp>
      <p:sp>
        <p:nvSpPr>
          <p:cNvPr id="16" name="Text 13"/>
          <p:cNvSpPr txBox="1"/>
          <p:nvPr/>
        </p:nvSpPr>
        <p:spPr>
          <a:xfrm>
            <a:off x="5715000" y="2221992"/>
            <a:ext cx="1325880" cy="310896"/>
          </a:xfrm>
          <a:prstGeom prst="rect">
            <a:avLst/>
          </a:prstGeom>
          <a:noFill/>
          <a:ln/>
        </p:spPr>
        <p:txBody>
          <a:bodyPr wrap="square" lIns="0" tIns="0" rIns="0" bIns="0" rtlCol="0" anchor="ctr"/>
          <a:lstStyle/>
          <a:p>
            <a:pPr algn="ctr" indent="0" marL="0">
              <a:buNone/>
            </a:pPr>
            <a:r>
              <a:rPr lang="en-US" sz="1500" b="1" dirty="0">
                <a:solidFill>
                  <a:srgbClr val="102A43"/>
                </a:solidFill>
                <a:latin typeface="Cambria" pitchFamily="34" charset="0"/>
                <a:ea typeface="Cambria" pitchFamily="34" charset="-122"/>
                <a:cs typeface="Cambria" pitchFamily="34" charset="-120"/>
              </a:rPr>
              <a:t>Truth</a:t>
            </a:r>
            <a:endParaRPr lang="en-US" sz="1500" dirty="0"/>
          </a:p>
        </p:txBody>
      </p:sp>
      <p:sp>
        <p:nvSpPr>
          <p:cNvPr id="17" name="Text 14"/>
          <p:cNvSpPr txBox="1"/>
          <p:nvPr/>
        </p:nvSpPr>
        <p:spPr>
          <a:xfrm>
            <a:off x="5715000" y="2587752"/>
            <a:ext cx="1325880" cy="548640"/>
          </a:xfrm>
          <a:prstGeom prst="rect">
            <a:avLst/>
          </a:prstGeom>
          <a:noFill/>
          <a:ln/>
        </p:spPr>
        <p:txBody>
          <a:bodyPr wrap="square" lIns="0" tIns="0" rIns="0" bIns="0" rtlCol="0" anchor="ctr"/>
          <a:lstStyle/>
          <a:p>
            <a:pPr algn="ctr" indent="0" marL="0">
              <a:buNone/>
            </a:pPr>
            <a:r>
              <a:rPr lang="en-US" sz="900" dirty="0">
                <a:solidFill>
                  <a:srgbClr val="486581"/>
                </a:solidFill>
                <a:latin typeface="Calibri" pitchFamily="34" charset="0"/>
                <a:ea typeface="Calibri" pitchFamily="34" charset="-122"/>
                <a:cs typeface="Calibri" pitchFamily="34" charset="-120"/>
              </a:rPr>
              <a:t>probes · readiness</a:t>
            </a:r>
            <a:endParaRPr lang="en-US" sz="900" dirty="0"/>
          </a:p>
          <a:p>
            <a:pPr algn="ctr" indent="0" marL="0">
              <a:buNone/>
            </a:pPr>
            <a:r>
              <a:rPr lang="en-US" sz="900" dirty="0">
                <a:solidFill>
                  <a:srgbClr val="486581"/>
                </a:solidFill>
                <a:latin typeface="Calibri" pitchFamily="34" charset="0"/>
                <a:ea typeface="Calibri" pitchFamily="34" charset="-122"/>
                <a:cs typeface="Calibri" pitchFamily="34" charset="-120"/>
              </a:rPr>
              <a:t>the drain</a:t>
            </a:r>
            <a:endParaRPr lang="en-US" sz="900" dirty="0"/>
          </a:p>
        </p:txBody>
      </p:sp>
      <p:sp>
        <p:nvSpPr>
          <p:cNvPr id="18" name="Shape 15"/>
          <p:cNvSpPr/>
          <p:nvPr/>
        </p:nvSpPr>
        <p:spPr>
          <a:xfrm>
            <a:off x="7095744" y="2560320"/>
            <a:ext cx="210312" cy="0"/>
          </a:xfrm>
          <a:prstGeom prst="line">
            <a:avLst/>
          </a:prstGeom>
          <a:noFill/>
          <a:ln w="15875">
            <a:solidFill>
              <a:srgbClr val="2680C2"/>
            </a:solidFill>
            <a:prstDash val="solid"/>
            <a:tailEnd type="triangle"/>
          </a:ln>
        </p:spPr>
      </p:sp>
      <p:sp>
        <p:nvSpPr>
          <p:cNvPr id="19" name="Shape 16"/>
          <p:cNvSpPr/>
          <p:nvPr/>
        </p:nvSpPr>
        <p:spPr>
          <a:xfrm>
            <a:off x="7360920" y="1874520"/>
            <a:ext cx="1325880" cy="1371600"/>
          </a:xfrm>
          <a:prstGeom prst="roundRect">
            <a:avLst>
              <a:gd name="adj" fmla="val 4828"/>
            </a:avLst>
          </a:prstGeom>
          <a:solidFill>
            <a:srgbClr val="F0F4F8"/>
          </a:solidFill>
          <a:ln w="12700">
            <a:solidFill>
              <a:srgbClr val="D9E2EC"/>
            </a:solidFill>
            <a:prstDash val="solid"/>
          </a:ln>
        </p:spPr>
      </p:sp>
      <p:sp>
        <p:nvSpPr>
          <p:cNvPr id="20" name="Text 17"/>
          <p:cNvSpPr txBox="1"/>
          <p:nvPr/>
        </p:nvSpPr>
        <p:spPr>
          <a:xfrm>
            <a:off x="7360920" y="2002536"/>
            <a:ext cx="1325880" cy="228600"/>
          </a:xfrm>
          <a:prstGeom prst="rect">
            <a:avLst/>
          </a:prstGeom>
          <a:noFill/>
          <a:ln/>
        </p:spPr>
        <p:txBody>
          <a:bodyPr wrap="square" lIns="0" tIns="0" rIns="0" bIns="0" rtlCol="0" anchor="ctr"/>
          <a:lstStyle/>
          <a:p>
            <a:pPr algn="ctr" indent="0" marL="0">
              <a:buNone/>
            </a:pPr>
            <a:r>
              <a:rPr lang="en-US" sz="900" b="1" dirty="0">
                <a:solidFill>
                  <a:srgbClr val="0A558C"/>
                </a:solidFill>
                <a:latin typeface="Calibri" pitchFamily="34" charset="0"/>
                <a:ea typeface="Calibri" pitchFamily="34" charset="-122"/>
                <a:cs typeface="Calibri" pitchFamily="34" charset="-120"/>
              </a:rPr>
              <a:t>3</a:t>
            </a:r>
            <a:endParaRPr lang="en-US" sz="900" dirty="0"/>
          </a:p>
        </p:txBody>
      </p:sp>
      <p:sp>
        <p:nvSpPr>
          <p:cNvPr id="21" name="Text 18"/>
          <p:cNvSpPr txBox="1"/>
          <p:nvPr/>
        </p:nvSpPr>
        <p:spPr>
          <a:xfrm>
            <a:off x="7360920" y="2221992"/>
            <a:ext cx="1325880" cy="310896"/>
          </a:xfrm>
          <a:prstGeom prst="rect">
            <a:avLst/>
          </a:prstGeom>
          <a:noFill/>
          <a:ln/>
        </p:spPr>
        <p:txBody>
          <a:bodyPr wrap="square" lIns="0" tIns="0" rIns="0" bIns="0" rtlCol="0" anchor="ctr"/>
          <a:lstStyle/>
          <a:p>
            <a:pPr algn="ctr" indent="0" marL="0">
              <a:buNone/>
            </a:pPr>
            <a:r>
              <a:rPr lang="en-US" sz="1500" b="1" dirty="0">
                <a:solidFill>
                  <a:srgbClr val="102A43"/>
                </a:solidFill>
                <a:latin typeface="Cambria" pitchFamily="34" charset="0"/>
                <a:ea typeface="Cambria" pitchFamily="34" charset="-122"/>
                <a:cs typeface="Cambria" pitchFamily="34" charset="-120"/>
              </a:rPr>
              <a:t>Response</a:t>
            </a:r>
            <a:endParaRPr lang="en-US" sz="1500" dirty="0"/>
          </a:p>
        </p:txBody>
      </p:sp>
      <p:sp>
        <p:nvSpPr>
          <p:cNvPr id="22" name="Text 19"/>
          <p:cNvSpPr txBox="1"/>
          <p:nvPr/>
        </p:nvSpPr>
        <p:spPr>
          <a:xfrm>
            <a:off x="7360920" y="2587752"/>
            <a:ext cx="1325880" cy="548640"/>
          </a:xfrm>
          <a:prstGeom prst="rect">
            <a:avLst/>
          </a:prstGeom>
          <a:noFill/>
          <a:ln/>
        </p:spPr>
        <p:txBody>
          <a:bodyPr wrap="square" lIns="0" tIns="0" rIns="0" bIns="0" rtlCol="0" anchor="ctr"/>
          <a:lstStyle/>
          <a:p>
            <a:pPr algn="ctr" indent="0" marL="0">
              <a:buNone/>
            </a:pPr>
            <a:r>
              <a:rPr lang="en-US" sz="900" dirty="0">
                <a:solidFill>
                  <a:srgbClr val="486581"/>
                </a:solidFill>
                <a:latin typeface="Calibri" pitchFamily="34" charset="0"/>
                <a:ea typeface="Calibri" pitchFamily="34" charset="-122"/>
                <a:cs typeface="Calibri" pitchFamily="34" charset="-120"/>
              </a:rPr>
              <a:t>signal · target</a:t>
            </a:r>
            <a:endParaRPr lang="en-US" sz="900" dirty="0"/>
          </a:p>
          <a:p>
            <a:pPr algn="ctr" indent="0" marL="0">
              <a:buNone/>
            </a:pPr>
            <a:r>
              <a:rPr lang="en-US" sz="900" dirty="0">
                <a:solidFill>
                  <a:srgbClr val="486581"/>
                </a:solidFill>
                <a:latin typeface="Calibri" pitchFamily="34" charset="0"/>
                <a:ea typeface="Calibri" pitchFamily="34" charset="-122"/>
                <a:cs typeface="Calibri" pitchFamily="34" charset="-120"/>
              </a:rPr>
              <a:t>floor &amp; ceiling</a:t>
            </a:r>
            <a:endParaRPr lang="en-US" sz="900" dirty="0"/>
          </a:p>
        </p:txBody>
      </p:sp>
      <p:sp>
        <p:nvSpPr>
          <p:cNvPr id="23" name="Shape 20"/>
          <p:cNvSpPr/>
          <p:nvPr/>
        </p:nvSpPr>
        <p:spPr>
          <a:xfrm>
            <a:off x="8023860" y="3246120"/>
            <a:ext cx="0" cy="384048"/>
          </a:xfrm>
          <a:prstGeom prst="line">
            <a:avLst/>
          </a:prstGeom>
          <a:noFill/>
          <a:ln w="15875">
            <a:solidFill>
              <a:srgbClr val="2680C2"/>
            </a:solidFill>
            <a:prstDash val="solid"/>
          </a:ln>
        </p:spPr>
      </p:sp>
      <p:sp>
        <p:nvSpPr>
          <p:cNvPr id="24" name="Shape 21"/>
          <p:cNvSpPr/>
          <p:nvPr/>
        </p:nvSpPr>
        <p:spPr>
          <a:xfrm>
            <a:off x="4732020" y="3630168"/>
            <a:ext cx="3291840" cy="0"/>
          </a:xfrm>
          <a:prstGeom prst="line">
            <a:avLst/>
          </a:prstGeom>
          <a:noFill/>
          <a:ln w="15875">
            <a:solidFill>
              <a:srgbClr val="2680C2"/>
            </a:solidFill>
            <a:prstDash val="solid"/>
            <a:headEnd type="triangle"/>
          </a:ln>
        </p:spPr>
      </p:sp>
      <p:sp>
        <p:nvSpPr>
          <p:cNvPr id="25" name="Shape 22"/>
          <p:cNvSpPr/>
          <p:nvPr/>
        </p:nvSpPr>
        <p:spPr>
          <a:xfrm>
            <a:off x="4732020" y="3246120"/>
            <a:ext cx="0" cy="384048"/>
          </a:xfrm>
          <a:prstGeom prst="line">
            <a:avLst/>
          </a:prstGeom>
          <a:noFill/>
          <a:ln w="15875">
            <a:solidFill>
              <a:srgbClr val="2680C2"/>
            </a:solidFill>
            <a:prstDash val="solid"/>
          </a:ln>
        </p:spPr>
      </p:sp>
      <p:sp>
        <p:nvSpPr>
          <p:cNvPr id="26" name="Text 23"/>
          <p:cNvSpPr txBox="1"/>
          <p:nvPr/>
        </p:nvSpPr>
        <p:spPr>
          <a:xfrm>
            <a:off x="4069080" y="3739896"/>
            <a:ext cx="4617720" cy="274320"/>
          </a:xfrm>
          <a:prstGeom prst="rect">
            <a:avLst/>
          </a:prstGeom>
          <a:noFill/>
          <a:ln/>
        </p:spPr>
        <p:txBody>
          <a:bodyPr wrap="square" lIns="0" tIns="0" rIns="0" bIns="0" rtlCol="0" anchor="ctr"/>
          <a:lstStyle/>
          <a:p>
            <a:pPr algn="ctr" indent="0" marL="0">
              <a:buNone/>
            </a:pPr>
            <a:r>
              <a:rPr lang="en-US" sz="950" i="1" dirty="0">
                <a:solidFill>
                  <a:srgbClr val="486581"/>
                </a:solidFill>
                <a:latin typeface="Calibri" pitchFamily="34" charset="0"/>
                <a:ea typeface="Calibri" pitchFamily="34" charset="-122"/>
                <a:cs typeface="Calibri" pitchFamily="34" charset="-120"/>
              </a:rPr>
              <a:t>each door’s output is the next door’s input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000" b="1" spc="140" kern="0" dirty="0">
                <a:solidFill>
                  <a:srgbClr val="0A558C"/>
                </a:solidFill>
                <a:latin typeface="Calibri" pitchFamily="34" charset="0"/>
                <a:ea typeface="Calibri" pitchFamily="34" charset="-122"/>
                <a:cs typeface="Calibri" pitchFamily="34" charset="-120"/>
              </a:rPr>
              <a:t>EXAMPLE 2 OF 4   ·   WHAT YOU MEASURE</a:t>
            </a:r>
            <a:endParaRPr lang="en-US" sz="1000" dirty="0"/>
          </a:p>
        </p:txBody>
      </p:sp>
      <p:sp>
        <p:nvSpPr>
          <p:cNvPr id="3" name="Text 1"/>
          <p:cNvSpPr txBox="1"/>
          <p:nvPr/>
        </p:nvSpPr>
        <p:spPr>
          <a:xfrm>
            <a:off x="896112" y="530352"/>
            <a:ext cx="3108960" cy="502920"/>
          </a:xfrm>
          <a:prstGeom prst="rect">
            <a:avLst/>
          </a:prstGeom>
          <a:noFill/>
          <a:ln/>
        </p:spPr>
        <p:txBody>
          <a:bodyPr wrap="square" lIns="0" tIns="0" rIns="0" bIns="0" rtlCol="0" anchor="ctr"/>
          <a:lstStyle/>
          <a:p>
            <a:pPr indent="0" marL="0">
              <a:buNone/>
            </a:pPr>
            <a:r>
              <a:rPr lang="en-US" sz="2800" b="1" dirty="0">
                <a:solidFill>
                  <a:srgbClr val="102A43"/>
                </a:solidFill>
                <a:latin typeface="Cambria" pitchFamily="34" charset="0"/>
                <a:ea typeface="Cambria" pitchFamily="34" charset="-122"/>
                <a:cs typeface="Cambria" pitchFamily="34" charset="-120"/>
              </a:rPr>
              <a:t>The Three Lenses</a:t>
            </a:r>
            <a:endParaRPr lang="en-US" sz="2800" dirty="0"/>
          </a:p>
        </p:txBody>
      </p:sp>
      <p:sp>
        <p:nvSpPr>
          <p:cNvPr id="4" name="Shape 2"/>
          <p:cNvSpPr/>
          <p:nvPr/>
        </p:nvSpPr>
        <p:spPr>
          <a:xfrm>
            <a:off x="457200" y="576072"/>
            <a:ext cx="384048" cy="384048"/>
          </a:xfrm>
          <a:prstGeom prst="ellipse">
            <a:avLst/>
          </a:prstGeom>
          <a:solidFill>
            <a:srgbClr val="2680C2"/>
          </a:solidFill>
          <a:ln w="12700">
            <a:solidFill>
              <a:srgbClr val="2680C2"/>
            </a:solidFill>
            <a:prstDash val="solid"/>
          </a:ln>
        </p:spPr>
      </p:sp>
      <p:pic>
        <p:nvPicPr>
          <p:cNvPr id="5" name="Image 0" descr="preencoded.png">    </p:cNvPr>
          <p:cNvPicPr>
            <a:picLocks noChangeAspect="1"/>
          </p:cNvPicPr>
          <p:nvPr/>
        </p:nvPicPr>
        <p:blipFill>
          <a:blip r:embed="rId1"/>
          <a:stretch>
            <a:fillRect/>
          </a:stretch>
        </p:blipFill>
        <p:spPr>
          <a:xfrm>
            <a:off x="549372" y="668244"/>
            <a:ext cx="199705" cy="199705"/>
          </a:xfrm>
          <a:prstGeom prst="rect">
            <a:avLst/>
          </a:prstGeom>
        </p:spPr>
      </p:pic>
      <p:sp>
        <p:nvSpPr>
          <p:cNvPr id="6" name="Text 3"/>
          <p:cNvSpPr txBox="1"/>
          <p:nvPr/>
        </p:nvSpPr>
        <p:spPr>
          <a:xfrm>
            <a:off x="457200" y="1298448"/>
            <a:ext cx="3383280" cy="1600200"/>
          </a:xfrm>
          <a:prstGeom prst="rect">
            <a:avLst/>
          </a:prstGeom>
          <a:noFill/>
          <a:ln/>
        </p:spPr>
        <p:txBody>
          <a:bodyPr wrap="square" lIns="0" tIns="0" rIns="0" bIns="0" rtlCol="0" anchor="t"/>
          <a:lstStyle/>
          <a:p>
            <a:pPr indent="0" marL="0">
              <a:buNone/>
            </a:pPr>
            <a:r>
              <a:rPr lang="en-US" sz="1100" dirty="0">
                <a:solidFill>
                  <a:srgbClr val="486581"/>
                </a:solidFill>
                <a:latin typeface="Calibri" pitchFamily="34" charset="0"/>
                <a:ea typeface="Calibri" pitchFamily="34" charset="-122"/>
                <a:cs typeface="Calibri" pitchFamily="34" charset="-120"/>
              </a:rPr>
              <a:t>There are exactly three places to stand to find out what a running program is doing: outside at the kernel’s ledger, inside by continuous self-report, and inside on demand by interrogation. Logs, traces, an APM agent and a dashboard are all one of these three wearing different clothes.</a:t>
            </a:r>
            <a:endParaRPr lang="en-US" sz="1100" dirty="0"/>
          </a:p>
        </p:txBody>
      </p:sp>
      <p:sp>
        <p:nvSpPr>
          <p:cNvPr id="7" name="Text 4"/>
          <p:cNvSpPr txBox="1"/>
          <p:nvPr/>
        </p:nvSpPr>
        <p:spPr>
          <a:xfrm>
            <a:off x="457200" y="2542032"/>
            <a:ext cx="3383280" cy="731520"/>
          </a:xfrm>
          <a:prstGeom prst="rect">
            <a:avLst/>
          </a:prstGeom>
          <a:noFill/>
          <a:ln/>
        </p:spPr>
        <p:txBody>
          <a:bodyPr wrap="square" lIns="0" tIns="0" rIns="0" bIns="0" rtlCol="0" anchor="t"/>
          <a:lstStyle/>
          <a:p>
            <a:pPr indent="0" marL="0">
              <a:buNone/>
            </a:pPr>
            <a:r>
              <a:rPr lang="en-US" sz="1200" i="1" dirty="0">
                <a:solidFill>
                  <a:srgbClr val="102A43"/>
                </a:solidFill>
                <a:latin typeface="Calibri" pitchFamily="34" charset="0"/>
                <a:ea typeface="Calibri" pitchFamily="34" charset="-122"/>
                <a:cs typeface="Calibri" pitchFamily="34" charset="-120"/>
              </a:rPr>
              <a:t>“A correct number read through the wrong lens is the most common misdiagnosis on the cluster.”</a:t>
            </a:r>
            <a:endParaRPr lang="en-US" sz="1200" dirty="0"/>
          </a:p>
        </p:txBody>
      </p:sp>
      <p:sp>
        <p:nvSpPr>
          <p:cNvPr id="8" name="Text 5"/>
          <p:cNvSpPr txBox="1"/>
          <p:nvPr/>
        </p:nvSpPr>
        <p:spPr>
          <a:xfrm>
            <a:off x="457200" y="3346704"/>
            <a:ext cx="3383280" cy="914400"/>
          </a:xfrm>
          <a:prstGeom prst="rect">
            <a:avLst/>
          </a:prstGeom>
          <a:noFill/>
          <a:ln/>
        </p:spPr>
        <p:txBody>
          <a:bodyPr wrap="square" lIns="0" tIns="0" rIns="0" bIns="0" rtlCol="0" anchor="t"/>
          <a:lstStyle/>
          <a:p>
            <a:pPr indent="0" marL="0">
              <a:buNone/>
            </a:pPr>
            <a:r>
              <a:rPr lang="en-US" sz="1000" b="1" dirty="0">
                <a:solidFill>
                  <a:srgbClr val="0A558C"/>
                </a:solidFill>
                <a:latin typeface="Calibri" pitchFamily="34" charset="0"/>
                <a:ea typeface="Calibri" pitchFamily="34" charset="-122"/>
                <a:cs typeface="Calibri" pitchFamily="34" charset="-120"/>
              </a:rPr>
              <a:t>In practice: </a:t>
            </a:r>
            <a:pPr indent="0" marL="0">
              <a:buNone/>
            </a:pPr>
            <a:r>
              <a:rPr lang="en-US" sz="1000" dirty="0">
                <a:solidFill>
                  <a:srgbClr val="486581"/>
                </a:solidFill>
                <a:latin typeface="Calibri" pitchFamily="34" charset="0"/>
                <a:ea typeface="Calibri" pitchFamily="34" charset="-122"/>
                <a:cs typeface="Calibri" pitchFamily="34" charset="-120"/>
              </a:rPr>
              <a:t>The two-lens query: pod working set minus JVM heap = the non-heap footprint — a number neither lens can produce alone.</a:t>
            </a:r>
            <a:endParaRPr lang="en-US" sz="1000" dirty="0"/>
          </a:p>
        </p:txBody>
      </p:sp>
      <p:sp>
        <p:nvSpPr>
          <p:cNvPr id="9" name="Shape 6"/>
          <p:cNvSpPr/>
          <p:nvPr/>
        </p:nvSpPr>
        <p:spPr>
          <a:xfrm>
            <a:off x="4069080" y="1554480"/>
            <a:ext cx="4572000" cy="2743200"/>
          </a:xfrm>
          <a:prstGeom prst="roundRect">
            <a:avLst>
              <a:gd name="adj" fmla="val 2000"/>
            </a:avLst>
          </a:prstGeom>
          <a:solidFill>
            <a:srgbClr val="F0F4F8"/>
          </a:solidFill>
          <a:ln w="12700">
            <a:solidFill>
              <a:srgbClr val="D9E2EC"/>
            </a:solidFill>
            <a:prstDash val="solid"/>
          </a:ln>
        </p:spPr>
      </p:sp>
      <p:sp>
        <p:nvSpPr>
          <p:cNvPr id="10" name="Text 7"/>
          <p:cNvSpPr txBox="1"/>
          <p:nvPr/>
        </p:nvSpPr>
        <p:spPr>
          <a:xfrm>
            <a:off x="4224528" y="1664208"/>
            <a:ext cx="3108960" cy="237744"/>
          </a:xfrm>
          <a:prstGeom prst="rect">
            <a:avLst/>
          </a:prstGeom>
          <a:noFill/>
          <a:ln/>
        </p:spPr>
        <p:txBody>
          <a:bodyPr wrap="square" lIns="0" tIns="0" rIns="0" bIns="0" rtlCol="0" anchor="ctr"/>
          <a:lstStyle/>
          <a:p>
            <a:pPr indent="0" marL="0">
              <a:buNone/>
            </a:pPr>
            <a:r>
              <a:rPr lang="en-US" sz="1100" b="1" dirty="0">
                <a:solidFill>
                  <a:srgbClr val="102A43"/>
                </a:solidFill>
                <a:latin typeface="Calibri" pitchFamily="34" charset="0"/>
                <a:ea typeface="Calibri" pitchFamily="34" charset="-122"/>
                <a:cs typeface="Calibri" pitchFamily="34" charset="-120"/>
              </a:rPr>
              <a:t>Lens 1 · the cluster’s ledger</a:t>
            </a:r>
            <a:endParaRPr lang="en-US" sz="1100" dirty="0"/>
          </a:p>
        </p:txBody>
      </p:sp>
      <p:sp>
        <p:nvSpPr>
          <p:cNvPr id="11" name="Text 8"/>
          <p:cNvSpPr txBox="1"/>
          <p:nvPr/>
        </p:nvSpPr>
        <p:spPr>
          <a:xfrm>
            <a:off x="4224528" y="1883664"/>
            <a:ext cx="3840480" cy="219456"/>
          </a:xfrm>
          <a:prstGeom prst="rect">
            <a:avLst/>
          </a:prstGeom>
          <a:noFill/>
          <a:ln/>
        </p:spPr>
        <p:txBody>
          <a:bodyPr wrap="square" lIns="0" tIns="0" rIns="0" bIns="0" rtlCol="0" anchor="ctr"/>
          <a:lstStyle/>
          <a:p>
            <a:pPr indent="0" marL="0">
              <a:buNone/>
            </a:pPr>
            <a:r>
              <a:rPr lang="en-US" sz="900" dirty="0">
                <a:solidFill>
                  <a:srgbClr val="486581"/>
                </a:solidFill>
                <a:latin typeface="Calibri" pitchFamily="34" charset="0"/>
                <a:ea typeface="Calibri" pitchFamily="34" charset="-122"/>
                <a:cs typeface="Calibri" pitchFamily="34" charset="-120"/>
              </a:rPr>
              <a:t>what it cost — cgroups, cAdvisor, kube-state</a:t>
            </a:r>
            <a:endParaRPr lang="en-US" sz="900" dirty="0"/>
          </a:p>
        </p:txBody>
      </p:sp>
      <p:sp>
        <p:nvSpPr>
          <p:cNvPr id="12" name="Shape 9"/>
          <p:cNvSpPr/>
          <p:nvPr/>
        </p:nvSpPr>
        <p:spPr>
          <a:xfrm>
            <a:off x="4526280" y="2194560"/>
            <a:ext cx="3657600" cy="1828800"/>
          </a:xfrm>
          <a:prstGeom prst="roundRect">
            <a:avLst>
              <a:gd name="adj" fmla="val 3000"/>
            </a:avLst>
          </a:prstGeom>
          <a:solidFill>
            <a:srgbClr val="D9E2EC"/>
          </a:solidFill>
          <a:ln w="12700">
            <a:solidFill>
              <a:srgbClr val="D9E2EC"/>
            </a:solidFill>
            <a:prstDash val="solid"/>
          </a:ln>
        </p:spPr>
      </p:sp>
      <p:sp>
        <p:nvSpPr>
          <p:cNvPr id="13" name="Text 10"/>
          <p:cNvSpPr txBox="1"/>
          <p:nvPr/>
        </p:nvSpPr>
        <p:spPr>
          <a:xfrm>
            <a:off x="4681728" y="2286000"/>
            <a:ext cx="3108960" cy="237744"/>
          </a:xfrm>
          <a:prstGeom prst="rect">
            <a:avLst/>
          </a:prstGeom>
          <a:noFill/>
          <a:ln/>
        </p:spPr>
        <p:txBody>
          <a:bodyPr wrap="square" lIns="0" tIns="0" rIns="0" bIns="0" rtlCol="0" anchor="ctr"/>
          <a:lstStyle/>
          <a:p>
            <a:pPr indent="0" marL="0">
              <a:buNone/>
            </a:pPr>
            <a:r>
              <a:rPr lang="en-US" sz="1100" b="1" dirty="0">
                <a:solidFill>
                  <a:srgbClr val="102A43"/>
                </a:solidFill>
                <a:latin typeface="Calibri" pitchFamily="34" charset="0"/>
                <a:ea typeface="Calibri" pitchFamily="34" charset="-122"/>
                <a:cs typeface="Calibri" pitchFamily="34" charset="-120"/>
              </a:rPr>
              <a:t>Lens 2 · the process’s self-report</a:t>
            </a:r>
            <a:endParaRPr lang="en-US" sz="1100" dirty="0"/>
          </a:p>
        </p:txBody>
      </p:sp>
      <p:sp>
        <p:nvSpPr>
          <p:cNvPr id="14" name="Text 11"/>
          <p:cNvSpPr txBox="1"/>
          <p:nvPr/>
        </p:nvSpPr>
        <p:spPr>
          <a:xfrm>
            <a:off x="4681728" y="2505456"/>
            <a:ext cx="3291840" cy="219456"/>
          </a:xfrm>
          <a:prstGeom prst="rect">
            <a:avLst/>
          </a:prstGeom>
          <a:noFill/>
          <a:ln/>
        </p:spPr>
        <p:txBody>
          <a:bodyPr wrap="square" lIns="0" tIns="0" rIns="0" bIns="0" rtlCol="0" anchor="ctr"/>
          <a:lstStyle/>
          <a:p>
            <a:pPr indent="0" marL="0">
              <a:buNone/>
            </a:pPr>
            <a:r>
              <a:rPr lang="en-US" sz="900" dirty="0">
                <a:solidFill>
                  <a:srgbClr val="486581"/>
                </a:solidFill>
                <a:latin typeface="Calibri" pitchFamily="34" charset="0"/>
                <a:ea typeface="Calibri" pitchFamily="34" charset="-122"/>
                <a:cs typeface="Calibri" pitchFamily="34" charset="-120"/>
              </a:rPr>
              <a:t>what it was doing — Actuator, Prometheus</a:t>
            </a:r>
            <a:endParaRPr lang="en-US" sz="900" dirty="0"/>
          </a:p>
        </p:txBody>
      </p:sp>
      <p:sp>
        <p:nvSpPr>
          <p:cNvPr id="15" name="Shape 12"/>
          <p:cNvSpPr/>
          <p:nvPr/>
        </p:nvSpPr>
        <p:spPr>
          <a:xfrm>
            <a:off x="4983480" y="2816352"/>
            <a:ext cx="2743200" cy="1005840"/>
          </a:xfrm>
          <a:prstGeom prst="roundRect">
            <a:avLst>
              <a:gd name="adj" fmla="val 5455"/>
            </a:avLst>
          </a:prstGeom>
          <a:solidFill>
            <a:srgbClr val="102A43"/>
          </a:solidFill>
          <a:ln w="12700">
            <a:solidFill>
              <a:srgbClr val="102A43"/>
            </a:solidFill>
            <a:prstDash val="solid"/>
          </a:ln>
        </p:spPr>
      </p:sp>
      <p:sp>
        <p:nvSpPr>
          <p:cNvPr id="16" name="Text 13"/>
          <p:cNvSpPr txBox="1"/>
          <p:nvPr/>
        </p:nvSpPr>
        <p:spPr>
          <a:xfrm>
            <a:off x="5120640" y="2926080"/>
            <a:ext cx="2468880" cy="237744"/>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Lens 3 · interrogation</a:t>
            </a:r>
            <a:endParaRPr lang="en-US" sz="1100" dirty="0"/>
          </a:p>
        </p:txBody>
      </p:sp>
      <p:sp>
        <p:nvSpPr>
          <p:cNvPr id="17" name="Text 14"/>
          <p:cNvSpPr txBox="1"/>
          <p:nvPr/>
        </p:nvSpPr>
        <p:spPr>
          <a:xfrm>
            <a:off x="5120640" y="3154680"/>
            <a:ext cx="2560320" cy="219456"/>
          </a:xfrm>
          <a:prstGeom prst="rect">
            <a:avLst/>
          </a:prstGeom>
          <a:noFill/>
          <a:ln/>
        </p:spPr>
        <p:txBody>
          <a:bodyPr wrap="square" lIns="0" tIns="0" rIns="0" bIns="0" rtlCol="0" anchor="ctr"/>
          <a:lstStyle/>
          <a:p>
            <a:pPr indent="0" marL="0">
              <a:buNone/>
            </a:pPr>
            <a:r>
              <a:rPr lang="en-US" sz="900" dirty="0">
                <a:solidFill>
                  <a:srgbClr val="D9E2EC"/>
                </a:solidFill>
                <a:latin typeface="Calibri" pitchFamily="34" charset="0"/>
                <a:ea typeface="Calibri" pitchFamily="34" charset="-122"/>
                <a:cs typeface="Calibri" pitchFamily="34" charset="-120"/>
              </a:rPr>
              <a:t>why, on this pod, now — jattach, JFR</a:t>
            </a:r>
            <a:endParaRPr lang="en-US" sz="900" dirty="0"/>
          </a:p>
        </p:txBody>
      </p:sp>
      <p:sp>
        <p:nvSpPr>
          <p:cNvPr id="18" name="Text 15"/>
          <p:cNvSpPr txBox="1"/>
          <p:nvPr/>
        </p:nvSpPr>
        <p:spPr>
          <a:xfrm>
            <a:off x="4069080" y="4370832"/>
            <a:ext cx="4572000" cy="274320"/>
          </a:xfrm>
          <a:prstGeom prst="rect">
            <a:avLst/>
          </a:prstGeom>
          <a:noFill/>
          <a:ln/>
        </p:spPr>
        <p:txBody>
          <a:bodyPr wrap="square" lIns="0" tIns="0" rIns="0" bIns="0" rtlCol="0" anchor="ctr"/>
          <a:lstStyle/>
          <a:p>
            <a:pPr algn="ctr" indent="0" marL="0">
              <a:buNone/>
            </a:pPr>
            <a:r>
              <a:rPr lang="en-US" sz="950" i="1" dirty="0">
                <a:solidFill>
                  <a:srgbClr val="486581"/>
                </a:solidFill>
                <a:latin typeface="Calibri" pitchFamily="34" charset="0"/>
                <a:ea typeface="Calibri" pitchFamily="34" charset="-122"/>
                <a:cs typeface="Calibri" pitchFamily="34" charset="-120"/>
              </a:rPr>
              <a:t>each lens’s blind spot is the next lens’s field of view</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000" b="1" spc="140" kern="0" dirty="0">
                <a:solidFill>
                  <a:srgbClr val="0A558C"/>
                </a:solidFill>
                <a:latin typeface="Calibri" pitchFamily="34" charset="0"/>
                <a:ea typeface="Calibri" pitchFamily="34" charset="-122"/>
                <a:cs typeface="Calibri" pitchFamily="34" charset="-120"/>
              </a:rPr>
              <a:t>EXAMPLE 3 OF 4   ·   WHERE YOU LOOK</a:t>
            </a:r>
            <a:endParaRPr lang="en-US" sz="1000" dirty="0"/>
          </a:p>
        </p:txBody>
      </p:sp>
      <p:sp>
        <p:nvSpPr>
          <p:cNvPr id="3" name="Text 1"/>
          <p:cNvSpPr txBox="1"/>
          <p:nvPr/>
        </p:nvSpPr>
        <p:spPr>
          <a:xfrm>
            <a:off x="896112" y="530352"/>
            <a:ext cx="3108960" cy="502920"/>
          </a:xfrm>
          <a:prstGeom prst="rect">
            <a:avLst/>
          </a:prstGeom>
          <a:noFill/>
          <a:ln/>
        </p:spPr>
        <p:txBody>
          <a:bodyPr wrap="square" lIns="0" tIns="0" rIns="0" bIns="0" rtlCol="0" anchor="ctr"/>
          <a:lstStyle/>
          <a:p>
            <a:pPr indent="0" marL="0">
              <a:buNone/>
            </a:pPr>
            <a:r>
              <a:rPr lang="en-US" sz="2800" b="1" dirty="0">
                <a:solidFill>
                  <a:srgbClr val="102A43"/>
                </a:solidFill>
                <a:latin typeface="Cambria" pitchFamily="34" charset="0"/>
                <a:ea typeface="Cambria" pitchFamily="34" charset="-122"/>
                <a:cs typeface="Cambria" pitchFamily="34" charset="-120"/>
              </a:rPr>
              <a:t>The Two Roads</a:t>
            </a:r>
            <a:endParaRPr lang="en-US" sz="2800" dirty="0"/>
          </a:p>
        </p:txBody>
      </p:sp>
      <p:sp>
        <p:nvSpPr>
          <p:cNvPr id="4" name="Shape 2"/>
          <p:cNvSpPr/>
          <p:nvPr/>
        </p:nvSpPr>
        <p:spPr>
          <a:xfrm>
            <a:off x="457200" y="576072"/>
            <a:ext cx="384048" cy="384048"/>
          </a:xfrm>
          <a:prstGeom prst="ellipse">
            <a:avLst/>
          </a:prstGeom>
          <a:solidFill>
            <a:srgbClr val="2680C2"/>
          </a:solidFill>
          <a:ln w="12700">
            <a:solidFill>
              <a:srgbClr val="2680C2"/>
            </a:solidFill>
            <a:prstDash val="solid"/>
          </a:ln>
        </p:spPr>
      </p:sp>
      <p:pic>
        <p:nvPicPr>
          <p:cNvPr id="5" name="Image 0" descr="preencoded.png">    </p:cNvPr>
          <p:cNvPicPr>
            <a:picLocks noChangeAspect="1"/>
          </p:cNvPicPr>
          <p:nvPr/>
        </p:nvPicPr>
        <p:blipFill>
          <a:blip r:embed="rId1"/>
          <a:stretch>
            <a:fillRect/>
          </a:stretch>
        </p:blipFill>
        <p:spPr>
          <a:xfrm>
            <a:off x="549372" y="668244"/>
            <a:ext cx="199705" cy="199705"/>
          </a:xfrm>
          <a:prstGeom prst="rect">
            <a:avLst/>
          </a:prstGeom>
        </p:spPr>
      </p:pic>
      <p:sp>
        <p:nvSpPr>
          <p:cNvPr id="6" name="Text 3"/>
          <p:cNvSpPr txBox="1"/>
          <p:nvPr/>
        </p:nvSpPr>
        <p:spPr>
          <a:xfrm>
            <a:off x="457200" y="1298448"/>
            <a:ext cx="3383280" cy="1600200"/>
          </a:xfrm>
          <a:prstGeom prst="rect">
            <a:avLst/>
          </a:prstGeom>
          <a:noFill/>
          <a:ln/>
        </p:spPr>
        <p:txBody>
          <a:bodyPr wrap="square" lIns="0" tIns="0" rIns="0" bIns="0" rtlCol="0" anchor="t"/>
          <a:lstStyle/>
          <a:p>
            <a:pPr indent="0" marL="0">
              <a:buNone/>
            </a:pPr>
            <a:r>
              <a:rPr lang="en-US" sz="1100" dirty="0">
                <a:solidFill>
                  <a:srgbClr val="486581"/>
                </a:solidFill>
                <a:latin typeface="Calibri" pitchFamily="34" charset="0"/>
                <a:ea typeface="Calibri" pitchFamily="34" charset="-122"/>
                <a:cs typeface="Calibri" pitchFamily="34" charset="-120"/>
              </a:rPr>
              <a:t>Every symptom is one of two sentences. “My pod isn’t —” walks down five verbs Kubernetes does to a pod, each writing its reason in exactly one place. “Requests to it —” crosses five hops where nobody writes anything down, so you bisect. They cross at readiness.</a:t>
            </a:r>
            <a:endParaRPr lang="en-US" sz="1100" dirty="0"/>
          </a:p>
        </p:txBody>
      </p:sp>
      <p:sp>
        <p:nvSpPr>
          <p:cNvPr id="7" name="Text 4"/>
          <p:cNvSpPr txBox="1"/>
          <p:nvPr/>
        </p:nvSpPr>
        <p:spPr>
          <a:xfrm>
            <a:off x="457200" y="2542032"/>
            <a:ext cx="3383280" cy="731520"/>
          </a:xfrm>
          <a:prstGeom prst="rect">
            <a:avLst/>
          </a:prstGeom>
          <a:noFill/>
          <a:ln/>
        </p:spPr>
        <p:txBody>
          <a:bodyPr wrap="square" lIns="0" tIns="0" rIns="0" bIns="0" rtlCol="0" anchor="t"/>
          <a:lstStyle/>
          <a:p>
            <a:pPr indent="0" marL="0">
              <a:buNone/>
            </a:pPr>
            <a:r>
              <a:rPr lang="en-US" sz="1200" i="1" dirty="0">
                <a:solidFill>
                  <a:srgbClr val="102A43"/>
                </a:solidFill>
                <a:latin typeface="Calibri" pitchFamily="34" charset="0"/>
                <a:ea typeface="Calibri" pitchFamily="34" charset="-122"/>
                <a:cs typeface="Calibri" pitchFamily="34" charset="-120"/>
              </a:rPr>
              <a:t>“The rung below never lies about the rung above.”</a:t>
            </a:r>
            <a:endParaRPr lang="en-US" sz="1200" dirty="0"/>
          </a:p>
        </p:txBody>
      </p:sp>
      <p:sp>
        <p:nvSpPr>
          <p:cNvPr id="8" name="Text 5"/>
          <p:cNvSpPr txBox="1"/>
          <p:nvPr/>
        </p:nvSpPr>
        <p:spPr>
          <a:xfrm>
            <a:off x="457200" y="3346704"/>
            <a:ext cx="3383280" cy="914400"/>
          </a:xfrm>
          <a:prstGeom prst="rect">
            <a:avLst/>
          </a:prstGeom>
          <a:noFill/>
          <a:ln/>
        </p:spPr>
        <p:txBody>
          <a:bodyPr wrap="square" lIns="0" tIns="0" rIns="0" bIns="0" rtlCol="0" anchor="t"/>
          <a:lstStyle/>
          <a:p>
            <a:pPr indent="0" marL="0">
              <a:buNone/>
            </a:pPr>
            <a:r>
              <a:rPr lang="en-US" sz="1000" b="1" dirty="0">
                <a:solidFill>
                  <a:srgbClr val="0A558C"/>
                </a:solidFill>
                <a:latin typeface="Calibri" pitchFamily="34" charset="0"/>
                <a:ea typeface="Calibri" pitchFamily="34" charset="-122"/>
                <a:cs typeface="Calibri" pitchFamily="34" charset="-120"/>
              </a:rPr>
              <a:t>In practice: </a:t>
            </a:r>
            <a:pPr indent="0" marL="0">
              <a:buNone/>
            </a:pPr>
            <a:r>
              <a:rPr lang="en-US" sz="1000" dirty="0">
                <a:solidFill>
                  <a:srgbClr val="486581"/>
                </a:solidFill>
                <a:latin typeface="Calibri" pitchFamily="34" charset="0"/>
                <a:ea typeface="Calibri" pitchFamily="34" charset="-122"/>
                <a:cs typeface="Calibri" pitchFamily="34" charset="-120"/>
              </a:rPr>
              <a:t>verbs.sh — one line per pod naming the first verb that failed and its record. It tells three identical CrashLoopBackOffs apart: the kubelet, the kernel, and the app.</a:t>
            </a:r>
            <a:endParaRPr lang="en-US" sz="1000" dirty="0"/>
          </a:p>
        </p:txBody>
      </p:sp>
      <p:sp>
        <p:nvSpPr>
          <p:cNvPr id="9" name="Shape 6"/>
          <p:cNvSpPr/>
          <p:nvPr/>
        </p:nvSpPr>
        <p:spPr>
          <a:xfrm>
            <a:off x="4069080" y="1417320"/>
            <a:ext cx="1325880" cy="310896"/>
          </a:xfrm>
          <a:prstGeom prst="roundRect">
            <a:avLst>
              <a:gd name="adj" fmla="val 14706"/>
            </a:avLst>
          </a:prstGeom>
          <a:solidFill>
            <a:srgbClr val="F0F4F8"/>
          </a:solidFill>
          <a:ln w="12700">
            <a:solidFill>
              <a:srgbClr val="D9E2EC"/>
            </a:solidFill>
            <a:prstDash val="solid"/>
          </a:ln>
        </p:spPr>
      </p:sp>
      <p:sp>
        <p:nvSpPr>
          <p:cNvPr id="10" name="Text 7"/>
          <p:cNvSpPr txBox="1"/>
          <p:nvPr/>
        </p:nvSpPr>
        <p:spPr>
          <a:xfrm>
            <a:off x="4069080" y="1417320"/>
            <a:ext cx="1325880" cy="310896"/>
          </a:xfrm>
          <a:prstGeom prst="rect">
            <a:avLst/>
          </a:prstGeom>
          <a:noFill/>
          <a:ln/>
        </p:spPr>
        <p:txBody>
          <a:bodyPr wrap="square" lIns="0" tIns="0" rIns="0" bIns="0" rtlCol="0" anchor="ctr"/>
          <a:lstStyle/>
          <a:p>
            <a:pPr algn="ctr" indent="0" marL="0">
              <a:buNone/>
            </a:pPr>
            <a:r>
              <a:rPr lang="en-US" sz="950" dirty="0">
                <a:solidFill>
                  <a:srgbClr val="102A43"/>
                </a:solidFill>
                <a:latin typeface="Calibri" pitchFamily="34" charset="0"/>
                <a:ea typeface="Calibri" pitchFamily="34" charset="-122"/>
                <a:cs typeface="Calibri" pitchFamily="34" charset="-120"/>
              </a:rPr>
              <a:t>1 · Admit</a:t>
            </a:r>
            <a:endParaRPr lang="en-US" sz="950" dirty="0"/>
          </a:p>
        </p:txBody>
      </p:sp>
      <p:sp>
        <p:nvSpPr>
          <p:cNvPr id="11" name="Shape 8"/>
          <p:cNvSpPr/>
          <p:nvPr/>
        </p:nvSpPr>
        <p:spPr>
          <a:xfrm>
            <a:off x="4732020" y="1728216"/>
            <a:ext cx="0" cy="73152"/>
          </a:xfrm>
          <a:prstGeom prst="line">
            <a:avLst/>
          </a:prstGeom>
          <a:noFill/>
          <a:ln w="12700">
            <a:solidFill>
              <a:srgbClr val="486581"/>
            </a:solidFill>
            <a:prstDash val="solid"/>
            <a:tailEnd type="triangle"/>
          </a:ln>
        </p:spPr>
      </p:sp>
      <p:sp>
        <p:nvSpPr>
          <p:cNvPr id="12" name="Shape 9"/>
          <p:cNvSpPr/>
          <p:nvPr/>
        </p:nvSpPr>
        <p:spPr>
          <a:xfrm>
            <a:off x="4069080" y="1801368"/>
            <a:ext cx="1325880" cy="310896"/>
          </a:xfrm>
          <a:prstGeom prst="roundRect">
            <a:avLst>
              <a:gd name="adj" fmla="val 14706"/>
            </a:avLst>
          </a:prstGeom>
          <a:solidFill>
            <a:srgbClr val="F0F4F8"/>
          </a:solidFill>
          <a:ln w="12700">
            <a:solidFill>
              <a:srgbClr val="D9E2EC"/>
            </a:solidFill>
            <a:prstDash val="solid"/>
          </a:ln>
        </p:spPr>
      </p:sp>
      <p:sp>
        <p:nvSpPr>
          <p:cNvPr id="13" name="Text 10"/>
          <p:cNvSpPr txBox="1"/>
          <p:nvPr/>
        </p:nvSpPr>
        <p:spPr>
          <a:xfrm>
            <a:off x="4069080" y="1801368"/>
            <a:ext cx="1325880" cy="310896"/>
          </a:xfrm>
          <a:prstGeom prst="rect">
            <a:avLst/>
          </a:prstGeom>
          <a:noFill/>
          <a:ln/>
        </p:spPr>
        <p:txBody>
          <a:bodyPr wrap="square" lIns="0" tIns="0" rIns="0" bIns="0" rtlCol="0" anchor="ctr"/>
          <a:lstStyle/>
          <a:p>
            <a:pPr algn="ctr" indent="0" marL="0">
              <a:buNone/>
            </a:pPr>
            <a:r>
              <a:rPr lang="en-US" sz="950" dirty="0">
                <a:solidFill>
                  <a:srgbClr val="102A43"/>
                </a:solidFill>
                <a:latin typeface="Calibri" pitchFamily="34" charset="0"/>
                <a:ea typeface="Calibri" pitchFamily="34" charset="-122"/>
                <a:cs typeface="Calibri" pitchFamily="34" charset="-120"/>
              </a:rPr>
              <a:t>2 · Schedule</a:t>
            </a:r>
            <a:endParaRPr lang="en-US" sz="950" dirty="0"/>
          </a:p>
        </p:txBody>
      </p:sp>
      <p:sp>
        <p:nvSpPr>
          <p:cNvPr id="14" name="Shape 11"/>
          <p:cNvSpPr/>
          <p:nvPr/>
        </p:nvSpPr>
        <p:spPr>
          <a:xfrm>
            <a:off x="4732020" y="2112264"/>
            <a:ext cx="0" cy="73152"/>
          </a:xfrm>
          <a:prstGeom prst="line">
            <a:avLst/>
          </a:prstGeom>
          <a:noFill/>
          <a:ln w="12700">
            <a:solidFill>
              <a:srgbClr val="486581"/>
            </a:solidFill>
            <a:prstDash val="solid"/>
            <a:tailEnd type="triangle"/>
          </a:ln>
        </p:spPr>
      </p:sp>
      <p:sp>
        <p:nvSpPr>
          <p:cNvPr id="15" name="Shape 12"/>
          <p:cNvSpPr/>
          <p:nvPr/>
        </p:nvSpPr>
        <p:spPr>
          <a:xfrm>
            <a:off x="4069080" y="2185416"/>
            <a:ext cx="1325880" cy="310896"/>
          </a:xfrm>
          <a:prstGeom prst="roundRect">
            <a:avLst>
              <a:gd name="adj" fmla="val 14706"/>
            </a:avLst>
          </a:prstGeom>
          <a:solidFill>
            <a:srgbClr val="F0F4F8"/>
          </a:solidFill>
          <a:ln w="12700">
            <a:solidFill>
              <a:srgbClr val="D9E2EC"/>
            </a:solidFill>
            <a:prstDash val="solid"/>
          </a:ln>
        </p:spPr>
      </p:sp>
      <p:sp>
        <p:nvSpPr>
          <p:cNvPr id="16" name="Text 13"/>
          <p:cNvSpPr txBox="1"/>
          <p:nvPr/>
        </p:nvSpPr>
        <p:spPr>
          <a:xfrm>
            <a:off x="4069080" y="2185416"/>
            <a:ext cx="1325880" cy="310896"/>
          </a:xfrm>
          <a:prstGeom prst="rect">
            <a:avLst/>
          </a:prstGeom>
          <a:noFill/>
          <a:ln/>
        </p:spPr>
        <p:txBody>
          <a:bodyPr wrap="square" lIns="0" tIns="0" rIns="0" bIns="0" rtlCol="0" anchor="ctr"/>
          <a:lstStyle/>
          <a:p>
            <a:pPr algn="ctr" indent="0" marL="0">
              <a:buNone/>
            </a:pPr>
            <a:r>
              <a:rPr lang="en-US" sz="950" dirty="0">
                <a:solidFill>
                  <a:srgbClr val="102A43"/>
                </a:solidFill>
                <a:latin typeface="Calibri" pitchFamily="34" charset="0"/>
                <a:ea typeface="Calibri" pitchFamily="34" charset="-122"/>
                <a:cs typeface="Calibri" pitchFamily="34" charset="-120"/>
              </a:rPr>
              <a:t>3 · Start</a:t>
            </a:r>
            <a:endParaRPr lang="en-US" sz="950" dirty="0"/>
          </a:p>
        </p:txBody>
      </p:sp>
      <p:sp>
        <p:nvSpPr>
          <p:cNvPr id="17" name="Shape 14"/>
          <p:cNvSpPr/>
          <p:nvPr/>
        </p:nvSpPr>
        <p:spPr>
          <a:xfrm>
            <a:off x="4732020" y="2496312"/>
            <a:ext cx="0" cy="73152"/>
          </a:xfrm>
          <a:prstGeom prst="line">
            <a:avLst/>
          </a:prstGeom>
          <a:noFill/>
          <a:ln w="12700">
            <a:solidFill>
              <a:srgbClr val="486581"/>
            </a:solidFill>
            <a:prstDash val="solid"/>
            <a:tailEnd type="triangle"/>
          </a:ln>
        </p:spPr>
      </p:sp>
      <p:sp>
        <p:nvSpPr>
          <p:cNvPr id="18" name="Shape 15"/>
          <p:cNvSpPr/>
          <p:nvPr/>
        </p:nvSpPr>
        <p:spPr>
          <a:xfrm>
            <a:off x="4069080" y="2569464"/>
            <a:ext cx="1325880" cy="310896"/>
          </a:xfrm>
          <a:prstGeom prst="roundRect">
            <a:avLst>
              <a:gd name="adj" fmla="val 14706"/>
            </a:avLst>
          </a:prstGeom>
          <a:solidFill>
            <a:srgbClr val="2680C2"/>
          </a:solidFill>
          <a:ln w="12700">
            <a:solidFill>
              <a:srgbClr val="2680C2"/>
            </a:solidFill>
            <a:prstDash val="solid"/>
          </a:ln>
        </p:spPr>
      </p:sp>
      <p:sp>
        <p:nvSpPr>
          <p:cNvPr id="19" name="Text 16"/>
          <p:cNvSpPr txBox="1"/>
          <p:nvPr/>
        </p:nvSpPr>
        <p:spPr>
          <a:xfrm>
            <a:off x="4069080" y="2569464"/>
            <a:ext cx="132588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 · Route</a:t>
            </a:r>
            <a:endParaRPr lang="en-US" sz="950" dirty="0"/>
          </a:p>
        </p:txBody>
      </p:sp>
      <p:sp>
        <p:nvSpPr>
          <p:cNvPr id="20" name="Shape 17"/>
          <p:cNvSpPr/>
          <p:nvPr/>
        </p:nvSpPr>
        <p:spPr>
          <a:xfrm>
            <a:off x="4732020" y="2880360"/>
            <a:ext cx="0" cy="73152"/>
          </a:xfrm>
          <a:prstGeom prst="line">
            <a:avLst/>
          </a:prstGeom>
          <a:noFill/>
          <a:ln w="12700">
            <a:solidFill>
              <a:srgbClr val="486581"/>
            </a:solidFill>
            <a:prstDash val="solid"/>
            <a:tailEnd type="triangle"/>
          </a:ln>
        </p:spPr>
      </p:sp>
      <p:sp>
        <p:nvSpPr>
          <p:cNvPr id="21" name="Shape 18"/>
          <p:cNvSpPr/>
          <p:nvPr/>
        </p:nvSpPr>
        <p:spPr>
          <a:xfrm>
            <a:off x="4069080" y="2953512"/>
            <a:ext cx="1325880" cy="310896"/>
          </a:xfrm>
          <a:prstGeom prst="roundRect">
            <a:avLst>
              <a:gd name="adj" fmla="val 14706"/>
            </a:avLst>
          </a:prstGeom>
          <a:solidFill>
            <a:srgbClr val="F0F4F8"/>
          </a:solidFill>
          <a:ln w="12700">
            <a:solidFill>
              <a:srgbClr val="D9E2EC"/>
            </a:solidFill>
            <a:prstDash val="solid"/>
          </a:ln>
        </p:spPr>
      </p:sp>
      <p:sp>
        <p:nvSpPr>
          <p:cNvPr id="22" name="Text 19"/>
          <p:cNvSpPr txBox="1"/>
          <p:nvPr/>
        </p:nvSpPr>
        <p:spPr>
          <a:xfrm>
            <a:off x="4069080" y="2953512"/>
            <a:ext cx="1325880" cy="310896"/>
          </a:xfrm>
          <a:prstGeom prst="rect">
            <a:avLst/>
          </a:prstGeom>
          <a:noFill/>
          <a:ln/>
        </p:spPr>
        <p:txBody>
          <a:bodyPr wrap="square" lIns="0" tIns="0" rIns="0" bIns="0" rtlCol="0" anchor="ctr"/>
          <a:lstStyle/>
          <a:p>
            <a:pPr algn="ctr" indent="0" marL="0">
              <a:buNone/>
            </a:pPr>
            <a:r>
              <a:rPr lang="en-US" sz="950" dirty="0">
                <a:solidFill>
                  <a:srgbClr val="102A43"/>
                </a:solidFill>
                <a:latin typeface="Calibri" pitchFamily="34" charset="0"/>
                <a:ea typeface="Calibri" pitchFamily="34" charset="-122"/>
                <a:cs typeface="Calibri" pitchFamily="34" charset="-120"/>
              </a:rPr>
              <a:t>5 · Kill</a:t>
            </a:r>
            <a:endParaRPr lang="en-US" sz="950" dirty="0"/>
          </a:p>
        </p:txBody>
      </p:sp>
      <p:sp>
        <p:nvSpPr>
          <p:cNvPr id="23" name="Text 20"/>
          <p:cNvSpPr txBox="1"/>
          <p:nvPr/>
        </p:nvSpPr>
        <p:spPr>
          <a:xfrm>
            <a:off x="4023360" y="1152144"/>
            <a:ext cx="1874520" cy="219456"/>
          </a:xfrm>
          <a:prstGeom prst="rect">
            <a:avLst/>
          </a:prstGeom>
          <a:noFill/>
          <a:ln/>
        </p:spPr>
        <p:txBody>
          <a:bodyPr wrap="square" lIns="0" tIns="0" rIns="0" bIns="0" rtlCol="0" anchor="ctr"/>
          <a:lstStyle/>
          <a:p>
            <a:pPr indent="0" marL="0">
              <a:buNone/>
            </a:pPr>
            <a:r>
              <a:rPr lang="en-US" sz="900" b="1" dirty="0">
                <a:solidFill>
                  <a:srgbClr val="0A558C"/>
                </a:solidFill>
                <a:latin typeface="Calibri" pitchFamily="34" charset="0"/>
                <a:ea typeface="Calibri" pitchFamily="34" charset="-122"/>
                <a:cs typeface="Calibri" pitchFamily="34" charset="-120"/>
              </a:rPr>
              <a:t>the pod’s life — walked down</a:t>
            </a:r>
            <a:endParaRPr lang="en-US" sz="900" dirty="0"/>
          </a:p>
        </p:txBody>
      </p:sp>
      <p:sp>
        <p:nvSpPr>
          <p:cNvPr id="24" name="Shape 21"/>
          <p:cNvSpPr/>
          <p:nvPr/>
        </p:nvSpPr>
        <p:spPr>
          <a:xfrm>
            <a:off x="4069080" y="3767328"/>
            <a:ext cx="822960" cy="347472"/>
          </a:xfrm>
          <a:prstGeom prst="roundRect">
            <a:avLst>
              <a:gd name="adj" fmla="val 13158"/>
            </a:avLst>
          </a:prstGeom>
          <a:solidFill>
            <a:srgbClr val="F0F4F8"/>
          </a:solidFill>
          <a:ln w="12700">
            <a:solidFill>
              <a:srgbClr val="D9E2EC"/>
            </a:solidFill>
            <a:prstDash val="solid"/>
          </a:ln>
        </p:spPr>
      </p:sp>
      <p:sp>
        <p:nvSpPr>
          <p:cNvPr id="25" name="Text 22"/>
          <p:cNvSpPr txBox="1"/>
          <p:nvPr/>
        </p:nvSpPr>
        <p:spPr>
          <a:xfrm>
            <a:off x="4069080" y="3767328"/>
            <a:ext cx="822960" cy="347472"/>
          </a:xfrm>
          <a:prstGeom prst="rect">
            <a:avLst/>
          </a:prstGeom>
          <a:noFill/>
          <a:ln/>
        </p:spPr>
        <p:txBody>
          <a:bodyPr wrap="square" lIns="0" tIns="0" rIns="0" bIns="0" rtlCol="0" anchor="ctr"/>
          <a:lstStyle/>
          <a:p>
            <a:pPr algn="ctr" indent="0" marL="0">
              <a:buNone/>
            </a:pPr>
            <a:r>
              <a:rPr lang="en-US" sz="900" dirty="0">
                <a:solidFill>
                  <a:srgbClr val="102A43"/>
                </a:solidFill>
                <a:latin typeface="Calibri" pitchFamily="34" charset="0"/>
                <a:ea typeface="Calibri" pitchFamily="34" charset="-122"/>
                <a:cs typeface="Calibri" pitchFamily="34" charset="-120"/>
              </a:rPr>
              <a:t>Edge</a:t>
            </a:r>
            <a:endParaRPr lang="en-US" sz="900" dirty="0"/>
          </a:p>
        </p:txBody>
      </p:sp>
      <p:sp>
        <p:nvSpPr>
          <p:cNvPr id="26" name="Shape 23"/>
          <p:cNvSpPr/>
          <p:nvPr/>
        </p:nvSpPr>
        <p:spPr>
          <a:xfrm>
            <a:off x="4901184" y="3941064"/>
            <a:ext cx="82296" cy="0"/>
          </a:xfrm>
          <a:prstGeom prst="line">
            <a:avLst/>
          </a:prstGeom>
          <a:noFill/>
          <a:ln w="12700">
            <a:solidFill>
              <a:srgbClr val="486581"/>
            </a:solidFill>
            <a:prstDash val="solid"/>
            <a:tailEnd type="triangle"/>
          </a:ln>
        </p:spPr>
      </p:sp>
      <p:sp>
        <p:nvSpPr>
          <p:cNvPr id="27" name="Shape 24"/>
          <p:cNvSpPr/>
          <p:nvPr/>
        </p:nvSpPr>
        <p:spPr>
          <a:xfrm>
            <a:off x="4992624" y="3767328"/>
            <a:ext cx="822960" cy="347472"/>
          </a:xfrm>
          <a:prstGeom prst="roundRect">
            <a:avLst>
              <a:gd name="adj" fmla="val 13158"/>
            </a:avLst>
          </a:prstGeom>
          <a:solidFill>
            <a:srgbClr val="F0F4F8"/>
          </a:solidFill>
          <a:ln w="12700">
            <a:solidFill>
              <a:srgbClr val="D9E2EC"/>
            </a:solidFill>
            <a:prstDash val="solid"/>
          </a:ln>
        </p:spPr>
      </p:sp>
      <p:sp>
        <p:nvSpPr>
          <p:cNvPr id="28" name="Text 25"/>
          <p:cNvSpPr txBox="1"/>
          <p:nvPr/>
        </p:nvSpPr>
        <p:spPr>
          <a:xfrm>
            <a:off x="4992624" y="3767328"/>
            <a:ext cx="822960" cy="347472"/>
          </a:xfrm>
          <a:prstGeom prst="rect">
            <a:avLst/>
          </a:prstGeom>
          <a:noFill/>
          <a:ln/>
        </p:spPr>
        <p:txBody>
          <a:bodyPr wrap="square" lIns="0" tIns="0" rIns="0" bIns="0" rtlCol="0" anchor="ctr"/>
          <a:lstStyle/>
          <a:p>
            <a:pPr algn="ctr" indent="0" marL="0">
              <a:buNone/>
            </a:pPr>
            <a:r>
              <a:rPr lang="en-US" sz="900" dirty="0">
                <a:solidFill>
                  <a:srgbClr val="102A43"/>
                </a:solidFill>
                <a:latin typeface="Calibri" pitchFamily="34" charset="0"/>
                <a:ea typeface="Calibri" pitchFamily="34" charset="-122"/>
                <a:cs typeface="Calibri" pitchFamily="34" charset="-120"/>
              </a:rPr>
              <a:t>Service</a:t>
            </a:r>
            <a:endParaRPr lang="en-US" sz="900" dirty="0"/>
          </a:p>
        </p:txBody>
      </p:sp>
      <p:sp>
        <p:nvSpPr>
          <p:cNvPr id="29" name="Shape 26"/>
          <p:cNvSpPr/>
          <p:nvPr/>
        </p:nvSpPr>
        <p:spPr>
          <a:xfrm>
            <a:off x="5824728" y="3941064"/>
            <a:ext cx="82296" cy="0"/>
          </a:xfrm>
          <a:prstGeom prst="line">
            <a:avLst/>
          </a:prstGeom>
          <a:noFill/>
          <a:ln w="12700">
            <a:solidFill>
              <a:srgbClr val="486581"/>
            </a:solidFill>
            <a:prstDash val="solid"/>
            <a:tailEnd type="triangle"/>
          </a:ln>
        </p:spPr>
      </p:sp>
      <p:sp>
        <p:nvSpPr>
          <p:cNvPr id="30" name="Shape 27"/>
          <p:cNvSpPr/>
          <p:nvPr/>
        </p:nvSpPr>
        <p:spPr>
          <a:xfrm>
            <a:off x="5916168" y="3767328"/>
            <a:ext cx="822960" cy="347472"/>
          </a:xfrm>
          <a:prstGeom prst="roundRect">
            <a:avLst>
              <a:gd name="adj" fmla="val 13158"/>
            </a:avLst>
          </a:prstGeom>
          <a:solidFill>
            <a:srgbClr val="2680C2"/>
          </a:solidFill>
          <a:ln w="12700">
            <a:solidFill>
              <a:srgbClr val="2680C2"/>
            </a:solidFill>
            <a:prstDash val="solid"/>
          </a:ln>
        </p:spPr>
      </p:sp>
      <p:sp>
        <p:nvSpPr>
          <p:cNvPr id="31" name="Text 28"/>
          <p:cNvSpPr txBox="1"/>
          <p:nvPr/>
        </p:nvSpPr>
        <p:spPr>
          <a:xfrm>
            <a:off x="5916168" y="3767328"/>
            <a:ext cx="82296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Pod</a:t>
            </a:r>
            <a:endParaRPr lang="en-US" sz="900" dirty="0"/>
          </a:p>
        </p:txBody>
      </p:sp>
      <p:sp>
        <p:nvSpPr>
          <p:cNvPr id="32" name="Shape 29"/>
          <p:cNvSpPr/>
          <p:nvPr/>
        </p:nvSpPr>
        <p:spPr>
          <a:xfrm>
            <a:off x="6748272" y="3941064"/>
            <a:ext cx="82296" cy="0"/>
          </a:xfrm>
          <a:prstGeom prst="line">
            <a:avLst/>
          </a:prstGeom>
          <a:noFill/>
          <a:ln w="12700">
            <a:solidFill>
              <a:srgbClr val="486581"/>
            </a:solidFill>
            <a:prstDash val="solid"/>
            <a:tailEnd type="triangle"/>
          </a:ln>
        </p:spPr>
      </p:sp>
      <p:sp>
        <p:nvSpPr>
          <p:cNvPr id="33" name="Shape 30"/>
          <p:cNvSpPr/>
          <p:nvPr/>
        </p:nvSpPr>
        <p:spPr>
          <a:xfrm>
            <a:off x="6839712" y="3767328"/>
            <a:ext cx="822960" cy="347472"/>
          </a:xfrm>
          <a:prstGeom prst="roundRect">
            <a:avLst>
              <a:gd name="adj" fmla="val 13158"/>
            </a:avLst>
          </a:prstGeom>
          <a:solidFill>
            <a:srgbClr val="F0F4F8"/>
          </a:solidFill>
          <a:ln w="12700">
            <a:solidFill>
              <a:srgbClr val="D9E2EC"/>
            </a:solidFill>
            <a:prstDash val="solid"/>
          </a:ln>
        </p:spPr>
      </p:sp>
      <p:sp>
        <p:nvSpPr>
          <p:cNvPr id="34" name="Text 31"/>
          <p:cNvSpPr txBox="1"/>
          <p:nvPr/>
        </p:nvSpPr>
        <p:spPr>
          <a:xfrm>
            <a:off x="6839712" y="3767328"/>
            <a:ext cx="822960" cy="347472"/>
          </a:xfrm>
          <a:prstGeom prst="rect">
            <a:avLst/>
          </a:prstGeom>
          <a:noFill/>
          <a:ln/>
        </p:spPr>
        <p:txBody>
          <a:bodyPr wrap="square" lIns="0" tIns="0" rIns="0" bIns="0" rtlCol="0" anchor="ctr"/>
          <a:lstStyle/>
          <a:p>
            <a:pPr algn="ctr" indent="0" marL="0">
              <a:buNone/>
            </a:pPr>
            <a:r>
              <a:rPr lang="en-US" sz="900" dirty="0">
                <a:solidFill>
                  <a:srgbClr val="102A43"/>
                </a:solidFill>
                <a:latin typeface="Calibri" pitchFamily="34" charset="0"/>
                <a:ea typeface="Calibri" pitchFamily="34" charset="-122"/>
                <a:cs typeface="Calibri" pitchFamily="34" charset="-120"/>
              </a:rPr>
              <a:t>App</a:t>
            </a:r>
            <a:endParaRPr lang="en-US" sz="900" dirty="0"/>
          </a:p>
        </p:txBody>
      </p:sp>
      <p:sp>
        <p:nvSpPr>
          <p:cNvPr id="35" name="Shape 32"/>
          <p:cNvSpPr/>
          <p:nvPr/>
        </p:nvSpPr>
        <p:spPr>
          <a:xfrm>
            <a:off x="7671816" y="3941064"/>
            <a:ext cx="82296" cy="0"/>
          </a:xfrm>
          <a:prstGeom prst="line">
            <a:avLst/>
          </a:prstGeom>
          <a:noFill/>
          <a:ln w="12700">
            <a:solidFill>
              <a:srgbClr val="486581"/>
            </a:solidFill>
            <a:prstDash val="solid"/>
            <a:tailEnd type="triangle"/>
          </a:ln>
        </p:spPr>
      </p:sp>
      <p:sp>
        <p:nvSpPr>
          <p:cNvPr id="36" name="Shape 33"/>
          <p:cNvSpPr/>
          <p:nvPr/>
        </p:nvSpPr>
        <p:spPr>
          <a:xfrm>
            <a:off x="7763256" y="3767328"/>
            <a:ext cx="822960" cy="347472"/>
          </a:xfrm>
          <a:prstGeom prst="roundRect">
            <a:avLst>
              <a:gd name="adj" fmla="val 13158"/>
            </a:avLst>
          </a:prstGeom>
          <a:solidFill>
            <a:srgbClr val="F0F4F8"/>
          </a:solidFill>
          <a:ln w="12700">
            <a:solidFill>
              <a:srgbClr val="D9E2EC"/>
            </a:solidFill>
            <a:prstDash val="solid"/>
          </a:ln>
        </p:spPr>
      </p:sp>
      <p:sp>
        <p:nvSpPr>
          <p:cNvPr id="37" name="Text 34"/>
          <p:cNvSpPr txBox="1"/>
          <p:nvPr/>
        </p:nvSpPr>
        <p:spPr>
          <a:xfrm>
            <a:off x="7763256" y="3767328"/>
            <a:ext cx="822960" cy="347472"/>
          </a:xfrm>
          <a:prstGeom prst="rect">
            <a:avLst/>
          </a:prstGeom>
          <a:noFill/>
          <a:ln/>
        </p:spPr>
        <p:txBody>
          <a:bodyPr wrap="square" lIns="0" tIns="0" rIns="0" bIns="0" rtlCol="0" anchor="ctr"/>
          <a:lstStyle/>
          <a:p>
            <a:pPr algn="ctr" indent="0" marL="0">
              <a:buNone/>
            </a:pPr>
            <a:r>
              <a:rPr lang="en-US" sz="900" dirty="0">
                <a:solidFill>
                  <a:srgbClr val="102A43"/>
                </a:solidFill>
                <a:latin typeface="Calibri" pitchFamily="34" charset="0"/>
                <a:ea typeface="Calibri" pitchFamily="34" charset="-122"/>
                <a:cs typeface="Calibri" pitchFamily="34" charset="-120"/>
              </a:rPr>
              <a:t>Dependency</a:t>
            </a:r>
            <a:endParaRPr lang="en-US" sz="900" dirty="0"/>
          </a:p>
        </p:txBody>
      </p:sp>
      <p:sp>
        <p:nvSpPr>
          <p:cNvPr id="38" name="Text 35"/>
          <p:cNvSpPr txBox="1"/>
          <p:nvPr/>
        </p:nvSpPr>
        <p:spPr>
          <a:xfrm>
            <a:off x="4069080" y="4169664"/>
            <a:ext cx="4572000" cy="219456"/>
          </a:xfrm>
          <a:prstGeom prst="rect">
            <a:avLst/>
          </a:prstGeom>
          <a:noFill/>
          <a:ln/>
        </p:spPr>
        <p:txBody>
          <a:bodyPr wrap="square" lIns="0" tIns="0" rIns="0" bIns="0" rtlCol="0" anchor="ctr"/>
          <a:lstStyle/>
          <a:p>
            <a:pPr indent="0" marL="0">
              <a:buNone/>
            </a:pPr>
            <a:r>
              <a:rPr lang="en-US" sz="900" b="1" dirty="0">
                <a:solidFill>
                  <a:srgbClr val="0A558C"/>
                </a:solidFill>
                <a:latin typeface="Calibri" pitchFamily="34" charset="0"/>
                <a:ea typeface="Calibri" pitchFamily="34" charset="-122"/>
                <a:cs typeface="Calibri" pitchFamily="34" charset="-120"/>
              </a:rPr>
              <a:t>the request’s path — bisected across</a:t>
            </a:r>
            <a:endParaRPr lang="en-US" sz="900" dirty="0"/>
          </a:p>
        </p:txBody>
      </p:sp>
      <p:sp>
        <p:nvSpPr>
          <p:cNvPr id="39" name="Shape 36"/>
          <p:cNvSpPr/>
          <p:nvPr/>
        </p:nvSpPr>
        <p:spPr>
          <a:xfrm>
            <a:off x="5394960" y="2788920"/>
            <a:ext cx="1344168" cy="978408"/>
          </a:xfrm>
          <a:prstGeom prst="line">
            <a:avLst/>
          </a:prstGeom>
          <a:noFill/>
          <a:ln w="15875">
            <a:solidFill>
              <a:srgbClr val="2680C2"/>
            </a:solidFill>
            <a:prstDash val="dash"/>
          </a:ln>
        </p:spPr>
      </p:sp>
      <p:sp>
        <p:nvSpPr>
          <p:cNvPr id="40" name="Text 37"/>
          <p:cNvSpPr txBox="1"/>
          <p:nvPr/>
        </p:nvSpPr>
        <p:spPr>
          <a:xfrm>
            <a:off x="6858000" y="3273552"/>
            <a:ext cx="1463040" cy="219456"/>
          </a:xfrm>
          <a:prstGeom prst="rect">
            <a:avLst/>
          </a:prstGeom>
          <a:noFill/>
          <a:ln/>
        </p:spPr>
        <p:txBody>
          <a:bodyPr wrap="square" lIns="0" tIns="0" rIns="0" bIns="0" rtlCol="0" anchor="ctr"/>
          <a:lstStyle/>
          <a:p>
            <a:pPr indent="0" marL="0">
              <a:buNone/>
            </a:pPr>
            <a:r>
              <a:rPr lang="en-US" sz="850" i="1" dirty="0">
                <a:solidFill>
                  <a:srgbClr val="0A558C"/>
                </a:solidFill>
                <a:latin typeface="Calibri" pitchFamily="34" charset="0"/>
                <a:ea typeface="Calibri" pitchFamily="34" charset="-122"/>
                <a:cs typeface="Calibri" pitchFamily="34" charset="-120"/>
              </a:rPr>
              <a:t>verb 4 = hop 3</a:t>
            </a:r>
            <a:endParaRPr lang="en-US" sz="850" dirty="0"/>
          </a:p>
        </p:txBody>
      </p:sp>
      <p:sp>
        <p:nvSpPr>
          <p:cNvPr id="41" name="Shape 38"/>
          <p:cNvSpPr/>
          <p:nvPr/>
        </p:nvSpPr>
        <p:spPr>
          <a:xfrm>
            <a:off x="6263640" y="1371600"/>
            <a:ext cx="2377440" cy="301752"/>
          </a:xfrm>
          <a:prstGeom prst="roundRect">
            <a:avLst>
              <a:gd name="adj" fmla="val 15152"/>
            </a:avLst>
          </a:prstGeom>
          <a:solidFill>
            <a:srgbClr val="F0F4F8"/>
          </a:solidFill>
          <a:ln w="12700">
            <a:solidFill>
              <a:srgbClr val="D9E2EC"/>
            </a:solidFill>
            <a:prstDash val="solid"/>
          </a:ln>
        </p:spPr>
      </p:sp>
      <p:sp>
        <p:nvSpPr>
          <p:cNvPr id="42" name="Text 39"/>
          <p:cNvSpPr txBox="1"/>
          <p:nvPr/>
        </p:nvSpPr>
        <p:spPr>
          <a:xfrm>
            <a:off x="6373368" y="1371600"/>
            <a:ext cx="2194560" cy="301752"/>
          </a:xfrm>
          <a:prstGeom prst="rect">
            <a:avLst/>
          </a:prstGeom>
          <a:noFill/>
          <a:ln/>
        </p:spPr>
        <p:txBody>
          <a:bodyPr wrap="square" lIns="0" tIns="0" rIns="0" bIns="0" rtlCol="0" anchor="ctr"/>
          <a:lstStyle/>
          <a:p>
            <a:pPr indent="0" marL="0">
              <a:buNone/>
            </a:pPr>
            <a:r>
              <a:rPr lang="en-US" sz="900" dirty="0">
                <a:solidFill>
                  <a:srgbClr val="102A43"/>
                </a:solidFill>
                <a:latin typeface="Calibri" pitchFamily="34" charset="0"/>
                <a:ea typeface="Calibri" pitchFamily="34" charset="-122"/>
                <a:cs typeface="Calibri" pitchFamily="34" charset="-120"/>
              </a:rPr>
              <a:t>Kubernetes’ belief</a:t>
            </a:r>
            <a:endParaRPr lang="en-US" sz="900" dirty="0"/>
          </a:p>
        </p:txBody>
      </p:sp>
      <p:sp>
        <p:nvSpPr>
          <p:cNvPr id="43" name="Shape 40"/>
          <p:cNvSpPr/>
          <p:nvPr/>
        </p:nvSpPr>
        <p:spPr>
          <a:xfrm>
            <a:off x="6263640" y="1764792"/>
            <a:ext cx="2377440" cy="301752"/>
          </a:xfrm>
          <a:prstGeom prst="roundRect">
            <a:avLst>
              <a:gd name="adj" fmla="val 15152"/>
            </a:avLst>
          </a:prstGeom>
          <a:solidFill>
            <a:srgbClr val="F0F4F8"/>
          </a:solidFill>
          <a:ln w="12700">
            <a:solidFill>
              <a:srgbClr val="D9E2EC"/>
            </a:solidFill>
            <a:prstDash val="solid"/>
          </a:ln>
        </p:spPr>
      </p:sp>
      <p:sp>
        <p:nvSpPr>
          <p:cNvPr id="44" name="Text 41"/>
          <p:cNvSpPr txBox="1"/>
          <p:nvPr/>
        </p:nvSpPr>
        <p:spPr>
          <a:xfrm>
            <a:off x="6373368" y="1764792"/>
            <a:ext cx="2194560" cy="301752"/>
          </a:xfrm>
          <a:prstGeom prst="rect">
            <a:avLst/>
          </a:prstGeom>
          <a:noFill/>
          <a:ln/>
        </p:spPr>
        <p:txBody>
          <a:bodyPr wrap="square" lIns="0" tIns="0" rIns="0" bIns="0" rtlCol="0" anchor="ctr"/>
          <a:lstStyle/>
          <a:p>
            <a:pPr indent="0" marL="0">
              <a:buNone/>
            </a:pPr>
            <a:r>
              <a:rPr lang="en-US" sz="900" dirty="0">
                <a:solidFill>
                  <a:srgbClr val="102A43"/>
                </a:solidFill>
                <a:latin typeface="Calibri" pitchFamily="34" charset="0"/>
                <a:ea typeface="Calibri" pitchFamily="34" charset="-122"/>
                <a:cs typeface="Calibri" pitchFamily="34" charset="-120"/>
              </a:rPr>
              <a:t>Linux’s fact</a:t>
            </a:r>
            <a:endParaRPr lang="en-US" sz="900" dirty="0"/>
          </a:p>
        </p:txBody>
      </p:sp>
      <p:sp>
        <p:nvSpPr>
          <p:cNvPr id="45" name="Shape 42"/>
          <p:cNvSpPr/>
          <p:nvPr/>
        </p:nvSpPr>
        <p:spPr>
          <a:xfrm>
            <a:off x="6263640" y="2157984"/>
            <a:ext cx="2377440" cy="301752"/>
          </a:xfrm>
          <a:prstGeom prst="roundRect">
            <a:avLst>
              <a:gd name="adj" fmla="val 15152"/>
            </a:avLst>
          </a:prstGeom>
          <a:solidFill>
            <a:srgbClr val="F0F4F8"/>
          </a:solidFill>
          <a:ln w="12700">
            <a:solidFill>
              <a:srgbClr val="D9E2EC"/>
            </a:solidFill>
            <a:prstDash val="solid"/>
          </a:ln>
        </p:spPr>
      </p:sp>
      <p:sp>
        <p:nvSpPr>
          <p:cNvPr id="46" name="Text 43"/>
          <p:cNvSpPr txBox="1"/>
          <p:nvPr/>
        </p:nvSpPr>
        <p:spPr>
          <a:xfrm>
            <a:off x="6373368" y="2157984"/>
            <a:ext cx="2194560" cy="301752"/>
          </a:xfrm>
          <a:prstGeom prst="rect">
            <a:avLst/>
          </a:prstGeom>
          <a:noFill/>
          <a:ln/>
        </p:spPr>
        <p:txBody>
          <a:bodyPr wrap="square" lIns="0" tIns="0" rIns="0" bIns="0" rtlCol="0" anchor="ctr"/>
          <a:lstStyle/>
          <a:p>
            <a:pPr indent="0" marL="0">
              <a:buNone/>
            </a:pPr>
            <a:r>
              <a:rPr lang="en-US" sz="900" dirty="0">
                <a:solidFill>
                  <a:srgbClr val="102A43"/>
                </a:solidFill>
                <a:latin typeface="Calibri" pitchFamily="34" charset="0"/>
                <a:ea typeface="Calibri" pitchFamily="34" charset="-122"/>
                <a:cs typeface="Calibri" pitchFamily="34" charset="-120"/>
              </a:rPr>
              <a:t>the runtime’s state</a:t>
            </a:r>
            <a:endParaRPr lang="en-US" sz="900" dirty="0"/>
          </a:p>
        </p:txBody>
      </p:sp>
      <p:sp>
        <p:nvSpPr>
          <p:cNvPr id="47" name="Shape 44"/>
          <p:cNvSpPr/>
          <p:nvPr/>
        </p:nvSpPr>
        <p:spPr>
          <a:xfrm>
            <a:off x="6263640" y="2551176"/>
            <a:ext cx="2377440" cy="301752"/>
          </a:xfrm>
          <a:prstGeom prst="roundRect">
            <a:avLst>
              <a:gd name="adj" fmla="val 15152"/>
            </a:avLst>
          </a:prstGeom>
          <a:solidFill>
            <a:srgbClr val="102A43"/>
          </a:solidFill>
          <a:ln w="12700">
            <a:solidFill>
              <a:srgbClr val="102A43"/>
            </a:solidFill>
            <a:prstDash val="solid"/>
          </a:ln>
        </p:spPr>
      </p:sp>
      <p:sp>
        <p:nvSpPr>
          <p:cNvPr id="48" name="Text 45"/>
          <p:cNvSpPr txBox="1"/>
          <p:nvPr/>
        </p:nvSpPr>
        <p:spPr>
          <a:xfrm>
            <a:off x="6373368" y="2551176"/>
            <a:ext cx="2194560" cy="301752"/>
          </a:xfrm>
          <a:prstGeom prst="rect">
            <a:avLst/>
          </a:prstGeom>
          <a:noFill/>
          <a:ln/>
        </p:spPr>
        <p:txBody>
          <a:bodyPr wrap="square" lIns="0" tIns="0" rIns="0" bIns="0" rtlCol="0" anchor="ctr"/>
          <a:lstStyle/>
          <a:p>
            <a:pPr indent="0" marL="0">
              <a:buNone/>
            </a:pPr>
            <a:r>
              <a:rPr lang="en-US" sz="900" dirty="0">
                <a:solidFill>
                  <a:srgbClr val="FFFFFF"/>
                </a:solidFill>
                <a:latin typeface="Calibri" pitchFamily="34" charset="0"/>
                <a:ea typeface="Calibri" pitchFamily="34" charset="-122"/>
                <a:cs typeface="Calibri" pitchFamily="34" charset="-120"/>
              </a:rPr>
              <a:t>the code’s reason</a:t>
            </a:r>
            <a:endParaRPr lang="en-US" sz="900" dirty="0"/>
          </a:p>
        </p:txBody>
      </p:sp>
      <p:sp>
        <p:nvSpPr>
          <p:cNvPr id="49" name="Shape 46"/>
          <p:cNvSpPr/>
          <p:nvPr/>
        </p:nvSpPr>
        <p:spPr>
          <a:xfrm>
            <a:off x="6099048" y="1417320"/>
            <a:ext cx="0" cy="1371600"/>
          </a:xfrm>
          <a:prstGeom prst="line">
            <a:avLst/>
          </a:prstGeom>
          <a:noFill/>
          <a:ln w="15875">
            <a:solidFill>
              <a:srgbClr val="2680C2"/>
            </a:solidFill>
            <a:prstDash val="solid"/>
            <a:tailEnd type="triangle"/>
          </a:ln>
        </p:spPr>
      </p:sp>
      <p:sp>
        <p:nvSpPr>
          <p:cNvPr id="50" name="Text 47"/>
          <p:cNvSpPr txBox="1"/>
          <p:nvPr/>
        </p:nvSpPr>
        <p:spPr>
          <a:xfrm>
            <a:off x="6263640" y="1152144"/>
            <a:ext cx="2377440" cy="219456"/>
          </a:xfrm>
          <a:prstGeom prst="rect">
            <a:avLst/>
          </a:prstGeom>
          <a:noFill/>
          <a:ln/>
        </p:spPr>
        <p:txBody>
          <a:bodyPr wrap="square" lIns="0" tIns="0" rIns="0" bIns="0" rtlCol="0" anchor="ctr"/>
          <a:lstStyle/>
          <a:p>
            <a:pPr indent="0" marL="0">
              <a:buNone/>
            </a:pPr>
            <a:r>
              <a:rPr lang="en-US" sz="900" b="1" dirty="0">
                <a:solidFill>
                  <a:srgbClr val="0A558C"/>
                </a:solidFill>
                <a:latin typeface="Calibri" pitchFamily="34" charset="0"/>
                <a:ea typeface="Calibri" pitchFamily="34" charset="-122"/>
                <a:cs typeface="Calibri" pitchFamily="34" charset="-120"/>
              </a:rPr>
              <a:t>the ladder — descend one rung</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000" b="1" spc="140" kern="0" dirty="0">
                <a:solidFill>
                  <a:srgbClr val="0A558C"/>
                </a:solidFill>
                <a:latin typeface="Calibri" pitchFamily="34" charset="0"/>
                <a:ea typeface="Calibri" pitchFamily="34" charset="-122"/>
                <a:cs typeface="Calibri" pitchFamily="34" charset="-120"/>
              </a:rPr>
              <a:t>EXAMPLE 4 OF 4   ·   WHAT YOU TYPE</a:t>
            </a:r>
            <a:endParaRPr lang="en-US" sz="1000" dirty="0"/>
          </a:p>
        </p:txBody>
      </p:sp>
      <p:sp>
        <p:nvSpPr>
          <p:cNvPr id="3" name="Text 1"/>
          <p:cNvSpPr txBox="1"/>
          <p:nvPr/>
        </p:nvSpPr>
        <p:spPr>
          <a:xfrm>
            <a:off x="896112" y="530352"/>
            <a:ext cx="3108960" cy="502920"/>
          </a:xfrm>
          <a:prstGeom prst="rect">
            <a:avLst/>
          </a:prstGeom>
          <a:noFill/>
          <a:ln/>
        </p:spPr>
        <p:txBody>
          <a:bodyPr wrap="square" lIns="0" tIns="0" rIns="0" bIns="0" rtlCol="0" anchor="ctr"/>
          <a:lstStyle/>
          <a:p>
            <a:pPr indent="0" marL="0">
              <a:buNone/>
            </a:pPr>
            <a:r>
              <a:rPr lang="en-US" sz="2800" b="1" dirty="0">
                <a:solidFill>
                  <a:srgbClr val="102A43"/>
                </a:solidFill>
                <a:latin typeface="Cambria" pitchFamily="34" charset="0"/>
                <a:ea typeface="Cambria" pitchFamily="34" charset="-122"/>
                <a:cs typeface="Cambria" pitchFamily="34" charset="-120"/>
              </a:rPr>
              <a:t>The Use Cases</a:t>
            </a:r>
            <a:endParaRPr lang="en-US" sz="2800" dirty="0"/>
          </a:p>
        </p:txBody>
      </p:sp>
      <p:sp>
        <p:nvSpPr>
          <p:cNvPr id="4" name="Shape 2"/>
          <p:cNvSpPr/>
          <p:nvPr/>
        </p:nvSpPr>
        <p:spPr>
          <a:xfrm>
            <a:off x="457200" y="576072"/>
            <a:ext cx="384048" cy="384048"/>
          </a:xfrm>
          <a:prstGeom prst="ellipse">
            <a:avLst/>
          </a:prstGeom>
          <a:solidFill>
            <a:srgbClr val="2680C2"/>
          </a:solidFill>
          <a:ln w="12700">
            <a:solidFill>
              <a:srgbClr val="2680C2"/>
            </a:solidFill>
            <a:prstDash val="solid"/>
          </a:ln>
        </p:spPr>
      </p:sp>
      <p:pic>
        <p:nvPicPr>
          <p:cNvPr id="5" name="Image 0" descr="preencoded.png">    </p:cNvPr>
          <p:cNvPicPr>
            <a:picLocks noChangeAspect="1"/>
          </p:cNvPicPr>
          <p:nvPr/>
        </p:nvPicPr>
        <p:blipFill>
          <a:blip r:embed="rId1"/>
          <a:stretch>
            <a:fillRect/>
          </a:stretch>
        </p:blipFill>
        <p:spPr>
          <a:xfrm>
            <a:off x="549372" y="668244"/>
            <a:ext cx="199705" cy="199705"/>
          </a:xfrm>
          <a:prstGeom prst="rect">
            <a:avLst/>
          </a:prstGeom>
        </p:spPr>
      </p:pic>
      <p:sp>
        <p:nvSpPr>
          <p:cNvPr id="6" name="Text 3"/>
          <p:cNvSpPr txBox="1"/>
          <p:nvPr/>
        </p:nvSpPr>
        <p:spPr>
          <a:xfrm>
            <a:off x="457200" y="1298448"/>
            <a:ext cx="3383280" cy="1600200"/>
          </a:xfrm>
          <a:prstGeom prst="rect">
            <a:avLst/>
          </a:prstGeom>
          <a:noFill/>
          <a:ln/>
        </p:spPr>
        <p:txBody>
          <a:bodyPr wrap="square" lIns="0" tIns="0" rIns="0" bIns="0" rtlCol="0" anchor="t"/>
          <a:lstStyle/>
          <a:p>
            <a:pPr indent="0" marL="0">
              <a:buNone/>
            </a:pPr>
            <a:r>
              <a:rPr lang="en-US" sz="1100" dirty="0">
                <a:solidFill>
                  <a:srgbClr val="486581"/>
                </a:solidFill>
                <a:latin typeface="Calibri" pitchFamily="34" charset="0"/>
                <a:ea typeface="Calibri" pitchFamily="34" charset="-122"/>
                <a:cs typeface="Calibri" pitchFamily="34" charset="-120"/>
              </a:rPr>
              <a:t>The tactical layer that hangs off the models — and the shape adoption actually takes. Twelve questions people really ask, each answered with commands, and only then a ranked list of symptoms to rule out. The models are how you know which question you are in.</a:t>
            </a:r>
            <a:endParaRPr lang="en-US" sz="1100" dirty="0"/>
          </a:p>
        </p:txBody>
      </p:sp>
      <p:sp>
        <p:nvSpPr>
          <p:cNvPr id="7" name="Text 4"/>
          <p:cNvSpPr txBox="1"/>
          <p:nvPr/>
        </p:nvSpPr>
        <p:spPr>
          <a:xfrm>
            <a:off x="457200" y="2542032"/>
            <a:ext cx="3383280" cy="731520"/>
          </a:xfrm>
          <a:prstGeom prst="rect">
            <a:avLst/>
          </a:prstGeom>
          <a:noFill/>
          <a:ln/>
        </p:spPr>
        <p:txBody>
          <a:bodyPr wrap="square" lIns="0" tIns="0" rIns="0" bIns="0" rtlCol="0" anchor="t"/>
          <a:lstStyle/>
          <a:p>
            <a:pPr indent="0" marL="0">
              <a:buNone/>
            </a:pPr>
            <a:r>
              <a:rPr lang="en-US" sz="1200" i="1" dirty="0">
                <a:solidFill>
                  <a:srgbClr val="102A43"/>
                </a:solidFill>
                <a:latin typeface="Calibri" pitchFamily="34" charset="0"/>
                <a:ea typeface="Calibri" pitchFamily="34" charset="-122"/>
                <a:cs typeface="Calibri" pitchFamily="34" charset="-120"/>
              </a:rPr>
              <a:t>“Start from the question, not from the graph.”</a:t>
            </a:r>
            <a:endParaRPr lang="en-US" sz="1200" dirty="0"/>
          </a:p>
        </p:txBody>
      </p:sp>
      <p:sp>
        <p:nvSpPr>
          <p:cNvPr id="8" name="Text 5"/>
          <p:cNvSpPr txBox="1"/>
          <p:nvPr/>
        </p:nvSpPr>
        <p:spPr>
          <a:xfrm>
            <a:off x="457200" y="3346704"/>
            <a:ext cx="3383280" cy="914400"/>
          </a:xfrm>
          <a:prstGeom prst="rect">
            <a:avLst/>
          </a:prstGeom>
          <a:noFill/>
          <a:ln/>
        </p:spPr>
        <p:txBody>
          <a:bodyPr wrap="square" lIns="0" tIns="0" rIns="0" bIns="0" rtlCol="0" anchor="t"/>
          <a:lstStyle/>
          <a:p>
            <a:pPr indent="0" marL="0">
              <a:buNone/>
            </a:pPr>
            <a:r>
              <a:rPr lang="en-US" sz="1000" b="1" dirty="0">
                <a:solidFill>
                  <a:srgbClr val="0A558C"/>
                </a:solidFill>
                <a:latin typeface="Calibri" pitchFamily="34" charset="0"/>
                <a:ea typeface="Calibri" pitchFamily="34" charset="-122"/>
                <a:cs typeface="Calibri" pitchFamily="34" charset="-120"/>
              </a:rPr>
              <a:t>In practice: </a:t>
            </a:r>
            <a:pPr indent="0" marL="0">
              <a:buNone/>
            </a:pPr>
            <a:r>
              <a:rPr lang="en-US" sz="1000" dirty="0">
                <a:solidFill>
                  <a:srgbClr val="486581"/>
                </a:solidFill>
                <a:latin typeface="Calibri" pitchFamily="34" charset="0"/>
                <a:ea typeface="Calibri" pitchFamily="34" charset="-122"/>
                <a:cs typeface="Calibri" pitchFamily="34" charset="-120"/>
              </a:rPr>
              <a:t>Twelve questions, eight symptom walks, three sizing procedures — every command carrying the seat marker that says whose permission it needs.</a:t>
            </a:r>
            <a:endParaRPr lang="en-US" sz="1000" dirty="0"/>
          </a:p>
        </p:txBody>
      </p:sp>
      <p:sp>
        <p:nvSpPr>
          <p:cNvPr id="9" name="Shape 6"/>
          <p:cNvSpPr/>
          <p:nvPr/>
        </p:nvSpPr>
        <p:spPr>
          <a:xfrm>
            <a:off x="4069080" y="1481328"/>
            <a:ext cx="4572000" cy="530352"/>
          </a:xfrm>
          <a:prstGeom prst="roundRect">
            <a:avLst>
              <a:gd name="adj" fmla="val 12069"/>
            </a:avLst>
          </a:prstGeom>
          <a:solidFill>
            <a:srgbClr val="102A43"/>
          </a:solidFill>
          <a:ln w="12700">
            <a:solidFill>
              <a:srgbClr val="102A43"/>
            </a:solidFill>
            <a:prstDash val="solid"/>
          </a:ln>
        </p:spPr>
      </p:sp>
      <p:sp>
        <p:nvSpPr>
          <p:cNvPr id="10" name="Text 7"/>
          <p:cNvSpPr txBox="1"/>
          <p:nvPr/>
        </p:nvSpPr>
        <p:spPr>
          <a:xfrm>
            <a:off x="4069080" y="1481328"/>
            <a:ext cx="4572000"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“Are customers happy?”</a:t>
            </a:r>
            <a:endParaRPr lang="en-US" sz="1500" dirty="0"/>
          </a:p>
        </p:txBody>
      </p:sp>
      <p:sp>
        <p:nvSpPr>
          <p:cNvPr id="11" name="Shape 8"/>
          <p:cNvSpPr/>
          <p:nvPr/>
        </p:nvSpPr>
        <p:spPr>
          <a:xfrm>
            <a:off x="6355080" y="2011680"/>
            <a:ext cx="0" cy="237744"/>
          </a:xfrm>
          <a:prstGeom prst="line">
            <a:avLst/>
          </a:prstGeom>
          <a:noFill/>
          <a:ln w="15875">
            <a:solidFill>
              <a:srgbClr val="2680C2"/>
            </a:solidFill>
            <a:prstDash val="solid"/>
            <a:tailEnd type="triangle"/>
          </a:ln>
        </p:spPr>
      </p:sp>
      <p:sp>
        <p:nvSpPr>
          <p:cNvPr id="12" name="Text 9"/>
          <p:cNvSpPr txBox="1"/>
          <p:nvPr/>
        </p:nvSpPr>
        <p:spPr>
          <a:xfrm>
            <a:off x="4069080" y="2267712"/>
            <a:ext cx="4572000" cy="237744"/>
          </a:xfrm>
          <a:prstGeom prst="rect">
            <a:avLst/>
          </a:prstGeom>
          <a:noFill/>
          <a:ln/>
        </p:spPr>
        <p:txBody>
          <a:bodyPr wrap="square" lIns="0" tIns="0" rIns="0" bIns="0" rtlCol="0" anchor="ctr"/>
          <a:lstStyle/>
          <a:p>
            <a:pPr algn="ctr" indent="0" marL="0">
              <a:buNone/>
            </a:pPr>
            <a:r>
              <a:rPr lang="en-US" sz="950" dirty="0">
                <a:solidFill>
                  <a:srgbClr val="486581"/>
                </a:solidFill>
                <a:latin typeface="Calibri" pitchFamily="34" charset="0"/>
                <a:ea typeface="Calibri" pitchFamily="34" charset="-122"/>
                <a:cs typeface="Calibri" pitchFamily="34" charset="-120"/>
              </a:rPr>
              <a:t>the SLI at three scales · the burn rate · the worst route → the SLO card</a:t>
            </a:r>
            <a:endParaRPr lang="en-US" sz="950" dirty="0"/>
          </a:p>
        </p:txBody>
      </p:sp>
      <p:sp>
        <p:nvSpPr>
          <p:cNvPr id="13" name="Text 10"/>
          <p:cNvSpPr txBox="1"/>
          <p:nvPr/>
        </p:nvSpPr>
        <p:spPr>
          <a:xfrm>
            <a:off x="4069080" y="2615184"/>
            <a:ext cx="4572000" cy="237744"/>
          </a:xfrm>
          <a:prstGeom prst="rect">
            <a:avLst/>
          </a:prstGeom>
          <a:noFill/>
          <a:ln/>
        </p:spPr>
        <p:txBody>
          <a:bodyPr wrap="square" lIns="0" tIns="0" rIns="0" bIns="0" rtlCol="0" anchor="ctr"/>
          <a:lstStyle/>
          <a:p>
            <a:pPr algn="ctr" indent="0" marL="0">
              <a:buNone/>
            </a:pPr>
            <a:r>
              <a:rPr lang="en-US" sz="900" b="1" dirty="0">
                <a:solidFill>
                  <a:srgbClr val="0A558C"/>
                </a:solidFill>
                <a:latin typeface="Calibri" pitchFamily="34" charset="0"/>
                <a:ea typeface="Calibri" pitchFamily="34" charset="-122"/>
                <a:cs typeface="Calibri" pitchFamily="34" charset="-120"/>
              </a:rPr>
              <a:t>if the answer is no, rule out — in this order</a:t>
            </a:r>
            <a:endParaRPr lang="en-US" sz="900" dirty="0"/>
          </a:p>
        </p:txBody>
      </p:sp>
      <p:sp>
        <p:nvSpPr>
          <p:cNvPr id="14" name="Shape 11"/>
          <p:cNvSpPr/>
          <p:nvPr/>
        </p:nvSpPr>
        <p:spPr>
          <a:xfrm>
            <a:off x="4315968" y="2926080"/>
            <a:ext cx="457200" cy="457200"/>
          </a:xfrm>
          <a:prstGeom prst="ellipse">
            <a:avLst/>
          </a:prstGeom>
          <a:solidFill>
            <a:srgbClr val="2680C2"/>
          </a:solidFill>
          <a:ln w="12700">
            <a:solidFill>
              <a:srgbClr val="2680C2"/>
            </a:solidFill>
            <a:prstDash val="solid"/>
          </a:ln>
        </p:spPr>
      </p:sp>
      <p:sp>
        <p:nvSpPr>
          <p:cNvPr id="15" name="Text 12"/>
          <p:cNvSpPr txBox="1"/>
          <p:nvPr/>
        </p:nvSpPr>
        <p:spPr>
          <a:xfrm>
            <a:off x="4315968" y="29260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6" name="Text 13"/>
          <p:cNvSpPr txBox="1"/>
          <p:nvPr/>
        </p:nvSpPr>
        <p:spPr>
          <a:xfrm>
            <a:off x="4142232" y="3419856"/>
            <a:ext cx="804672" cy="219456"/>
          </a:xfrm>
          <a:prstGeom prst="rect">
            <a:avLst/>
          </a:prstGeom>
          <a:noFill/>
          <a:ln/>
        </p:spPr>
        <p:txBody>
          <a:bodyPr wrap="square" lIns="0" tIns="0" rIns="0" bIns="0" rtlCol="0" anchor="ctr"/>
          <a:lstStyle/>
          <a:p>
            <a:pPr algn="ctr" indent="0" marL="0">
              <a:buNone/>
            </a:pPr>
            <a:r>
              <a:rPr lang="en-US" sz="850" dirty="0">
                <a:solidFill>
                  <a:srgbClr val="486581"/>
                </a:solidFill>
                <a:latin typeface="Calibri" pitchFamily="34" charset="0"/>
                <a:ea typeface="Calibri" pitchFamily="34" charset="-122"/>
                <a:cs typeface="Calibri" pitchFamily="34" charset="-120"/>
              </a:rPr>
              <a:t>deploy</a:t>
            </a:r>
            <a:endParaRPr lang="en-US" sz="850" dirty="0"/>
          </a:p>
        </p:txBody>
      </p:sp>
      <p:sp>
        <p:nvSpPr>
          <p:cNvPr id="17" name="Shape 14"/>
          <p:cNvSpPr/>
          <p:nvPr/>
        </p:nvSpPr>
        <p:spPr>
          <a:xfrm>
            <a:off x="4855464" y="3154680"/>
            <a:ext cx="338328" cy="0"/>
          </a:xfrm>
          <a:prstGeom prst="line">
            <a:avLst/>
          </a:prstGeom>
          <a:noFill/>
          <a:ln w="12700">
            <a:solidFill>
              <a:srgbClr val="829AB1"/>
            </a:solidFill>
            <a:prstDash val="solid"/>
            <a:tailEnd type="triangle"/>
          </a:ln>
        </p:spPr>
      </p:sp>
      <p:sp>
        <p:nvSpPr>
          <p:cNvPr id="18" name="Shape 15"/>
          <p:cNvSpPr/>
          <p:nvPr/>
        </p:nvSpPr>
        <p:spPr>
          <a:xfrm>
            <a:off x="5276088" y="2926080"/>
            <a:ext cx="457200" cy="457200"/>
          </a:xfrm>
          <a:prstGeom prst="ellipse">
            <a:avLst/>
          </a:prstGeom>
          <a:solidFill>
            <a:srgbClr val="102A43"/>
          </a:solidFill>
          <a:ln w="12700">
            <a:solidFill>
              <a:srgbClr val="102A43"/>
            </a:solidFill>
            <a:prstDash val="solid"/>
          </a:ln>
        </p:spPr>
      </p:sp>
      <p:sp>
        <p:nvSpPr>
          <p:cNvPr id="19" name="Text 16"/>
          <p:cNvSpPr txBox="1"/>
          <p:nvPr/>
        </p:nvSpPr>
        <p:spPr>
          <a:xfrm>
            <a:off x="5276088" y="29260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20" name="Text 17"/>
          <p:cNvSpPr txBox="1"/>
          <p:nvPr/>
        </p:nvSpPr>
        <p:spPr>
          <a:xfrm>
            <a:off x="5102352" y="3419856"/>
            <a:ext cx="804672" cy="219456"/>
          </a:xfrm>
          <a:prstGeom prst="rect">
            <a:avLst/>
          </a:prstGeom>
          <a:noFill/>
          <a:ln/>
        </p:spPr>
        <p:txBody>
          <a:bodyPr wrap="square" lIns="0" tIns="0" rIns="0" bIns="0" rtlCol="0" anchor="ctr"/>
          <a:lstStyle/>
          <a:p>
            <a:pPr algn="ctr" indent="0" marL="0">
              <a:buNone/>
            </a:pPr>
            <a:r>
              <a:rPr lang="en-US" sz="850" dirty="0">
                <a:solidFill>
                  <a:srgbClr val="486581"/>
                </a:solidFill>
                <a:latin typeface="Calibri" pitchFamily="34" charset="0"/>
                <a:ea typeface="Calibri" pitchFamily="34" charset="-122"/>
                <a:cs typeface="Calibri" pitchFamily="34" charset="-120"/>
              </a:rPr>
              <a:t>quota</a:t>
            </a:r>
            <a:endParaRPr lang="en-US" sz="850" dirty="0"/>
          </a:p>
        </p:txBody>
      </p:sp>
      <p:sp>
        <p:nvSpPr>
          <p:cNvPr id="21" name="Shape 18"/>
          <p:cNvSpPr/>
          <p:nvPr/>
        </p:nvSpPr>
        <p:spPr>
          <a:xfrm>
            <a:off x="5815584" y="3154680"/>
            <a:ext cx="338328" cy="0"/>
          </a:xfrm>
          <a:prstGeom prst="line">
            <a:avLst/>
          </a:prstGeom>
          <a:noFill/>
          <a:ln w="12700">
            <a:solidFill>
              <a:srgbClr val="829AB1"/>
            </a:solidFill>
            <a:prstDash val="solid"/>
            <a:tailEnd type="triangle"/>
          </a:ln>
        </p:spPr>
      </p:sp>
      <p:sp>
        <p:nvSpPr>
          <p:cNvPr id="22" name="Shape 19"/>
          <p:cNvSpPr/>
          <p:nvPr/>
        </p:nvSpPr>
        <p:spPr>
          <a:xfrm>
            <a:off x="6236208" y="2926080"/>
            <a:ext cx="457200" cy="457200"/>
          </a:xfrm>
          <a:prstGeom prst="ellipse">
            <a:avLst/>
          </a:prstGeom>
          <a:solidFill>
            <a:srgbClr val="102A43"/>
          </a:solidFill>
          <a:ln w="12700">
            <a:solidFill>
              <a:srgbClr val="102A43"/>
            </a:solidFill>
            <a:prstDash val="solid"/>
          </a:ln>
        </p:spPr>
      </p:sp>
      <p:sp>
        <p:nvSpPr>
          <p:cNvPr id="23" name="Text 20"/>
          <p:cNvSpPr txBox="1"/>
          <p:nvPr/>
        </p:nvSpPr>
        <p:spPr>
          <a:xfrm>
            <a:off x="6236208" y="29260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6</a:t>
            </a:r>
            <a:endParaRPr lang="en-US" sz="1600" dirty="0"/>
          </a:p>
        </p:txBody>
      </p:sp>
      <p:sp>
        <p:nvSpPr>
          <p:cNvPr id="24" name="Text 21"/>
          <p:cNvSpPr txBox="1"/>
          <p:nvPr/>
        </p:nvSpPr>
        <p:spPr>
          <a:xfrm>
            <a:off x="6062472" y="3419856"/>
            <a:ext cx="804672" cy="219456"/>
          </a:xfrm>
          <a:prstGeom prst="rect">
            <a:avLst/>
          </a:prstGeom>
          <a:noFill/>
          <a:ln/>
        </p:spPr>
        <p:txBody>
          <a:bodyPr wrap="square" lIns="0" tIns="0" rIns="0" bIns="0" rtlCol="0" anchor="ctr"/>
          <a:lstStyle/>
          <a:p>
            <a:pPr algn="ctr" indent="0" marL="0">
              <a:buNone/>
            </a:pPr>
            <a:r>
              <a:rPr lang="en-US" sz="850" dirty="0">
                <a:solidFill>
                  <a:srgbClr val="486581"/>
                </a:solidFill>
                <a:latin typeface="Calibri" pitchFamily="34" charset="0"/>
                <a:ea typeface="Calibri" pitchFamily="34" charset="-122"/>
                <a:cs typeface="Calibri" pitchFamily="34" charset="-120"/>
              </a:rPr>
              <a:t>pool</a:t>
            </a:r>
            <a:endParaRPr lang="en-US" sz="850" dirty="0"/>
          </a:p>
        </p:txBody>
      </p:sp>
      <p:sp>
        <p:nvSpPr>
          <p:cNvPr id="25" name="Shape 22"/>
          <p:cNvSpPr/>
          <p:nvPr/>
        </p:nvSpPr>
        <p:spPr>
          <a:xfrm>
            <a:off x="6775704" y="3154680"/>
            <a:ext cx="338328" cy="0"/>
          </a:xfrm>
          <a:prstGeom prst="line">
            <a:avLst/>
          </a:prstGeom>
          <a:noFill/>
          <a:ln w="12700">
            <a:solidFill>
              <a:srgbClr val="829AB1"/>
            </a:solidFill>
            <a:prstDash val="solid"/>
            <a:tailEnd type="triangle"/>
          </a:ln>
        </p:spPr>
      </p:sp>
      <p:sp>
        <p:nvSpPr>
          <p:cNvPr id="26" name="Shape 23"/>
          <p:cNvSpPr/>
          <p:nvPr/>
        </p:nvSpPr>
        <p:spPr>
          <a:xfrm>
            <a:off x="7196328" y="2926080"/>
            <a:ext cx="457200" cy="457200"/>
          </a:xfrm>
          <a:prstGeom prst="ellipse">
            <a:avLst/>
          </a:prstGeom>
          <a:solidFill>
            <a:srgbClr val="102A43"/>
          </a:solidFill>
          <a:ln w="12700">
            <a:solidFill>
              <a:srgbClr val="102A43"/>
            </a:solidFill>
            <a:prstDash val="solid"/>
          </a:ln>
        </p:spPr>
      </p:sp>
      <p:sp>
        <p:nvSpPr>
          <p:cNvPr id="27" name="Text 24"/>
          <p:cNvSpPr txBox="1"/>
          <p:nvPr/>
        </p:nvSpPr>
        <p:spPr>
          <a:xfrm>
            <a:off x="7196328" y="29260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8" name="Text 25"/>
          <p:cNvSpPr txBox="1"/>
          <p:nvPr/>
        </p:nvSpPr>
        <p:spPr>
          <a:xfrm>
            <a:off x="7022592" y="3419856"/>
            <a:ext cx="804672" cy="219456"/>
          </a:xfrm>
          <a:prstGeom prst="rect">
            <a:avLst/>
          </a:prstGeom>
          <a:noFill/>
          <a:ln/>
        </p:spPr>
        <p:txBody>
          <a:bodyPr wrap="square" lIns="0" tIns="0" rIns="0" bIns="0" rtlCol="0" anchor="ctr"/>
          <a:lstStyle/>
          <a:p>
            <a:pPr algn="ctr" indent="0" marL="0">
              <a:buNone/>
            </a:pPr>
            <a:r>
              <a:rPr lang="en-US" sz="850" dirty="0">
                <a:solidFill>
                  <a:srgbClr val="486581"/>
                </a:solidFill>
                <a:latin typeface="Calibri" pitchFamily="34" charset="0"/>
                <a:ea typeface="Calibri" pitchFamily="34" charset="-122"/>
                <a:cs typeface="Calibri" pitchFamily="34" charset="-120"/>
              </a:rPr>
              <a:t>one pod</a:t>
            </a:r>
            <a:endParaRPr lang="en-US" sz="850" dirty="0"/>
          </a:p>
        </p:txBody>
      </p:sp>
      <p:sp>
        <p:nvSpPr>
          <p:cNvPr id="29" name="Shape 26"/>
          <p:cNvSpPr/>
          <p:nvPr/>
        </p:nvSpPr>
        <p:spPr>
          <a:xfrm>
            <a:off x="7735824" y="3154680"/>
            <a:ext cx="338328" cy="0"/>
          </a:xfrm>
          <a:prstGeom prst="line">
            <a:avLst/>
          </a:prstGeom>
          <a:noFill/>
          <a:ln w="12700">
            <a:solidFill>
              <a:srgbClr val="829AB1"/>
            </a:solidFill>
            <a:prstDash val="solid"/>
            <a:tailEnd type="triangle"/>
          </a:ln>
        </p:spPr>
      </p:sp>
      <p:sp>
        <p:nvSpPr>
          <p:cNvPr id="30" name="Shape 27"/>
          <p:cNvSpPr/>
          <p:nvPr/>
        </p:nvSpPr>
        <p:spPr>
          <a:xfrm>
            <a:off x="8156448" y="2926080"/>
            <a:ext cx="457200" cy="457200"/>
          </a:xfrm>
          <a:prstGeom prst="ellipse">
            <a:avLst/>
          </a:prstGeom>
          <a:solidFill>
            <a:srgbClr val="102A43"/>
          </a:solidFill>
          <a:ln w="12700">
            <a:solidFill>
              <a:srgbClr val="102A43"/>
            </a:solidFill>
            <a:prstDash val="solid"/>
          </a:ln>
        </p:spPr>
      </p:sp>
      <p:sp>
        <p:nvSpPr>
          <p:cNvPr id="31" name="Text 28"/>
          <p:cNvSpPr txBox="1"/>
          <p:nvPr/>
        </p:nvSpPr>
        <p:spPr>
          <a:xfrm>
            <a:off x="8156448" y="29260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32" name="Text 29"/>
          <p:cNvSpPr txBox="1"/>
          <p:nvPr/>
        </p:nvSpPr>
        <p:spPr>
          <a:xfrm>
            <a:off x="7982712" y="3419856"/>
            <a:ext cx="804672" cy="219456"/>
          </a:xfrm>
          <a:prstGeom prst="rect">
            <a:avLst/>
          </a:prstGeom>
          <a:noFill/>
          <a:ln/>
        </p:spPr>
        <p:txBody>
          <a:bodyPr wrap="square" lIns="0" tIns="0" rIns="0" bIns="0" rtlCol="0" anchor="ctr"/>
          <a:lstStyle/>
          <a:p>
            <a:pPr algn="ctr" indent="0" marL="0">
              <a:buNone/>
            </a:pPr>
            <a:r>
              <a:rPr lang="en-US" sz="850" dirty="0">
                <a:solidFill>
                  <a:srgbClr val="486581"/>
                </a:solidFill>
                <a:latin typeface="Calibri" pitchFamily="34" charset="0"/>
                <a:ea typeface="Calibri" pitchFamily="34" charset="-122"/>
                <a:cs typeface="Calibri" pitchFamily="34" charset="-120"/>
              </a:rPr>
              <a:t>GC</a:t>
            </a:r>
            <a:endParaRPr lang="en-US" sz="850" dirty="0"/>
          </a:p>
        </p:txBody>
      </p:sp>
      <p:sp>
        <p:nvSpPr>
          <p:cNvPr id="33" name="Shape 30"/>
          <p:cNvSpPr/>
          <p:nvPr/>
        </p:nvSpPr>
        <p:spPr>
          <a:xfrm>
            <a:off x="4069080" y="3803904"/>
            <a:ext cx="4572000" cy="457200"/>
          </a:xfrm>
          <a:prstGeom prst="roundRect">
            <a:avLst>
              <a:gd name="adj" fmla="val 12000"/>
            </a:avLst>
          </a:prstGeom>
          <a:solidFill>
            <a:srgbClr val="F0F4F8"/>
          </a:solidFill>
          <a:ln w="12700">
            <a:solidFill>
              <a:srgbClr val="D9E2EC"/>
            </a:solidFill>
            <a:prstDash val="solid"/>
          </a:ln>
        </p:spPr>
      </p:sp>
      <p:sp>
        <p:nvSpPr>
          <p:cNvPr id="34" name="Text 31"/>
          <p:cNvSpPr txBox="1"/>
          <p:nvPr/>
        </p:nvSpPr>
        <p:spPr>
          <a:xfrm>
            <a:off x="4069080" y="3803904"/>
            <a:ext cx="4572000" cy="457200"/>
          </a:xfrm>
          <a:prstGeom prst="rect">
            <a:avLst/>
          </a:prstGeom>
          <a:noFill/>
          <a:ln/>
        </p:spPr>
        <p:txBody>
          <a:bodyPr wrap="square" lIns="0" tIns="0" rIns="0" bIns="0" rtlCol="0" anchor="ctr"/>
          <a:lstStyle/>
          <a:p>
            <a:pPr algn="ctr" indent="0" marL="0">
              <a:buNone/>
            </a:pPr>
            <a:r>
              <a:rPr lang="en-US" sz="1050" dirty="0">
                <a:solidFill>
                  <a:srgbClr val="102A43"/>
                </a:solidFill>
                <a:latin typeface="Calibri" pitchFamily="34" charset="0"/>
                <a:ea typeface="Calibri" pitchFamily="34" charset="-122"/>
                <a:cs typeface="Calibri" pitchFamily="34" charset="-120"/>
              </a:rPr>
              <a:t>the artifact you paste in the ticket  +  the decision rule</a:t>
            </a:r>
            <a:endParaRPr lang="en-US" sz="1050" dirty="0"/>
          </a:p>
        </p:txBody>
      </p:sp>
      <p:sp>
        <p:nvSpPr>
          <p:cNvPr id="35" name="Text 32"/>
          <p:cNvSpPr txBox="1"/>
          <p:nvPr/>
        </p:nvSpPr>
        <p:spPr>
          <a:xfrm>
            <a:off x="4069080" y="4370832"/>
            <a:ext cx="4572000" cy="274320"/>
          </a:xfrm>
          <a:prstGeom prst="rect">
            <a:avLst/>
          </a:prstGeom>
          <a:noFill/>
          <a:ln/>
        </p:spPr>
        <p:txBody>
          <a:bodyPr wrap="square" lIns="0" tIns="0" rIns="0" bIns="0" rtlCol="0" anchor="ctr"/>
          <a:lstStyle/>
          <a:p>
            <a:pPr algn="ctr" indent="0" marL="0">
              <a:buNone/>
            </a:pPr>
            <a:r>
              <a:rPr lang="en-US" sz="950" i="1" dirty="0">
                <a:solidFill>
                  <a:srgbClr val="486581"/>
                </a:solidFill>
                <a:latin typeface="Calibri" pitchFamily="34" charset="0"/>
                <a:ea typeface="Calibri" pitchFamily="34" charset="-122"/>
                <a:cs typeface="Calibri" pitchFamily="34" charset="-120"/>
              </a:rPr>
              <a:t>the eight symptoms are the rule-out list, never the way in</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Mental Models</dc:title>
  <dc:subject>PptxGenJS Presentation</dc:subject>
  <dc:creator>K8s Soup to Nuts</dc:creator>
  <cp:lastModifiedBy>K8s Soup to Nuts</cp:lastModifiedBy>
  <cp:revision>1</cp:revision>
  <dcterms:created xsi:type="dcterms:W3CDTF">2026-09-10T14:14:59Z</dcterms:created>
  <dcterms:modified xsi:type="dcterms:W3CDTF">2026-09-10T14:14:59Z</dcterms:modified>
</cp:coreProperties>
</file>