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the room: this is not a talk about documentation. It is about the difference between a team that owns a pile of runbooks and a team that owns a map. The three phrases on the slide are the three models the site already ships — each one is eleven words you can say in an incident channel. Four questions follow: why models matter, how we help people build one, how they spread, and what ours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compression number is real: the site is 284 pages, and the three models sit above all of it. The 'disagreement' example is the throttled-app field note — a week lost because two correct numbers were read as a contradiction instead of as two lenses. The point for leaders: incident length is mostly the time between the first command and the right command; a model shortens that gap, and it is the one thing a runbook cannot do, because a runbook assumes you already know which one to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three site models were actually written, and it is teachable. Step 2 is the hard one and the one people skip: the discipline is not finding three things, it is arguing why there is not a fourth. Step 4 is where a model earns belief — every model page ends with a gallery of real misreadings, most of them incidents this team lived through. Step 5 is what separates a poster from a practice: the Two Roads page ships a script; the Lenses page ships a query. When coaching someone building their own — for a data pipeline, for the CI system — walk them through these six in this order and stop them at step 2 until they can say why not N+1.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channels, and the third is the one leaders control. Meeting the model at the moment of need is what the hooks do: someone lands on the pod-pending runbook and reads 'this is verb 2 of the Two Roads' — they learn the model while fixing the thing. Putting it in the tools is why the tactical pages exist: a model you run survives; a model you recall fades. Speaking it is where the platform team comes in — when tenants and platform use the same words for who owns what (the seat marker) and what evidence looks like (the evidence pack), the tickets change shape and the relationship changes with them. The measures at the bottom are the ones to actually watch; vocabulary is the leading indicator.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cards as one sentence: the Doors are what you set, the Lenses what you measure, the Roads where you look, and the use cases what you type. Each model follows the recipe on slide three — a stripped-down job, a smallest complete set with an argument for why not one more, a shape, a gallery of real misreadings, and tactics. The Two Roads was built last, this week, with the commands captured on a live cluster: the script on it tells three CrashLoopBackOffs apart in one line — the kubelet, the kernel, and the app. If the room takes one thing away: the next model to build is whichever domain currently has a pile of runbooks and no map — the CI pipeline and the data platform are the obvious candidates, and the six moves apply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3"/>
        </a:solidFill>
      </p:bgPr>
    </p:bg>
    <p:spTree>
      <p:nvGrpSpPr>
        <p:cNvPr id="1" name=""/>
        <p:cNvGrpSpPr/>
        <p:nvPr/>
      </p:nvGrpSpPr>
      <p:grpSpPr>
        <a:xfrm>
          <a:off x="0" y="0"/>
          <a:ext cx="0" cy="0"/>
          <a:chOff x="0" y="0"/>
          <a:chExt cx="0" cy="0"/>
        </a:xfrm>
      </p:grpSpPr>
      <p:sp>
        <p:nvSpPr>
          <p:cNvPr id="2" name="Shape 0"/>
          <p:cNvSpPr/>
          <p:nvPr/>
        </p:nvSpPr>
        <p:spPr>
          <a:xfrm>
            <a:off x="6675120" y="1234440"/>
            <a:ext cx="1737360" cy="1737360"/>
          </a:xfrm>
          <a:prstGeom prst="ellipse">
            <a:avLst/>
          </a:prstGeom>
          <a:solidFill>
            <a:srgbClr val="D9822B"/>
          </a:solidFill>
          <a:ln w="12700">
            <a:solidFill>
              <a:srgbClr val="D9822B"/>
            </a:solidFill>
            <a:prstDash val="solid"/>
          </a:ln>
        </p:spPr>
      </p:sp>
      <p:pic>
        <p:nvPicPr>
          <p:cNvPr id="3" name="Image 0" descr="preencoded.png">    </p:cNvPr>
          <p:cNvPicPr>
            <a:picLocks noChangeAspect="1"/>
          </p:cNvPicPr>
          <p:nvPr/>
        </p:nvPicPr>
        <p:blipFill>
          <a:blip r:embed="rId1"/>
          <a:stretch>
            <a:fillRect/>
          </a:stretch>
        </p:blipFill>
        <p:spPr>
          <a:xfrm>
            <a:off x="7092086" y="1651406"/>
            <a:ext cx="903427" cy="903427"/>
          </a:xfrm>
          <a:prstGeom prst="rect">
            <a:avLst/>
          </a:prstGeom>
        </p:spPr>
      </p:pic>
      <p:sp>
        <p:nvSpPr>
          <p:cNvPr id="4" name="Text 1"/>
          <p:cNvSpPr txBox="1"/>
          <p:nvPr/>
        </p:nvSpPr>
        <p:spPr>
          <a:xfrm>
            <a:off x="548640" y="1234440"/>
            <a:ext cx="585216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Mental Models</a:t>
            </a:r>
            <a:endParaRPr lang="en-US" sz="4800" dirty="0"/>
          </a:p>
        </p:txBody>
      </p:sp>
      <p:sp>
        <p:nvSpPr>
          <p:cNvPr id="5" name="Text 2"/>
          <p:cNvSpPr txBox="1"/>
          <p:nvPr/>
        </p:nvSpPr>
        <p:spPr>
          <a:xfrm>
            <a:off x="548640" y="2194560"/>
            <a:ext cx="5669280" cy="822960"/>
          </a:xfrm>
          <a:prstGeom prst="rect">
            <a:avLst/>
          </a:prstGeom>
          <a:noFill/>
          <a:ln/>
        </p:spPr>
        <p:txBody>
          <a:bodyPr wrap="square" lIns="0" tIns="0" rIns="0" bIns="0" rtlCol="0" anchor="ctr"/>
          <a:lstStyle/>
          <a:p>
            <a:pPr indent="0" marL="0">
              <a:buNone/>
            </a:pPr>
            <a:r>
              <a:rPr lang="en-US" sz="1800" dirty="0">
                <a:solidFill>
                  <a:srgbClr val="E4E7EB"/>
                </a:solidFill>
                <a:latin typeface="Calibri" pitchFamily="34" charset="0"/>
                <a:ea typeface="Calibri" pitchFamily="34" charset="-122"/>
                <a:cs typeface="Calibri" pitchFamily="34" charset="-120"/>
              </a:rPr>
              <a:t>Why they matter, how we build them, how they spread — with three we have already built.</a:t>
            </a:r>
            <a:endParaRPr lang="en-US" sz="1800" dirty="0"/>
          </a:p>
        </p:txBody>
      </p:sp>
      <p:sp>
        <p:nvSpPr>
          <p:cNvPr id="6" name="Text 3"/>
          <p:cNvSpPr txBox="1"/>
          <p:nvPr/>
        </p:nvSpPr>
        <p:spPr>
          <a:xfrm>
            <a:off x="548640" y="3200400"/>
            <a:ext cx="8046720" cy="365760"/>
          </a:xfrm>
          <a:prstGeom prst="rect">
            <a:avLst/>
          </a:prstGeom>
          <a:noFill/>
          <a:ln/>
        </p:spPr>
        <p:txBody>
          <a:bodyPr wrap="square" lIns="0" tIns="0" rIns="0" bIns="0" rtlCol="0" anchor="ctr"/>
          <a:lstStyle/>
          <a:p>
            <a:pPr indent="0" marL="0">
              <a:buNone/>
            </a:pPr>
            <a:r>
              <a:rPr lang="en-US" sz="1400" b="1" dirty="0">
                <a:solidFill>
                  <a:srgbClr val="D9822B"/>
                </a:solidFill>
                <a:latin typeface="Calibri" pitchFamily="34" charset="0"/>
                <a:ea typeface="Calibri" pitchFamily="34" charset="-122"/>
                <a:cs typeface="Calibri" pitchFamily="34" charset="-120"/>
              </a:rPr>
              <a:t>cost · truth · response</a:t>
            </a:r>
            <a:pPr indent="0" marL="0">
              <a:buNone/>
            </a:pPr>
            <a:r>
              <a:rPr lang="en-US" sz="1400" b="1" dirty="0">
                <a:solidFill>
                  <a:srgbClr val="D9822B"/>
                </a:solidFill>
                <a:latin typeface="Calibri" pitchFamily="34" charset="0"/>
                <a:ea typeface="Calibri" pitchFamily="34" charset="-122"/>
                <a:cs typeface="Calibri" pitchFamily="34" charset="-120"/>
              </a:rPr>
              <a:t>     cost · report · interrogation</a:t>
            </a:r>
            <a:pPr indent="0" marL="0">
              <a:buNone/>
            </a:pPr>
            <a:r>
              <a:rPr lang="en-US" sz="1400" b="1" dirty="0">
                <a:solidFill>
                  <a:srgbClr val="D9822B"/>
                </a:solidFill>
                <a:latin typeface="Calibri" pitchFamily="34" charset="0"/>
                <a:ea typeface="Calibri" pitchFamily="34" charset="-122"/>
                <a:cs typeface="Calibri" pitchFamily="34" charset="-120"/>
              </a:rPr>
              <a:t>     down · across · descend</a:t>
            </a:r>
            <a:endParaRPr lang="en-US" sz="1400" dirty="0"/>
          </a:p>
        </p:txBody>
      </p:sp>
      <p:sp>
        <p:nvSpPr>
          <p:cNvPr id="7" name="Text 4"/>
          <p:cNvSpPr txBox="1"/>
          <p:nvPr/>
        </p:nvSpPr>
        <p:spPr>
          <a:xfrm>
            <a:off x="548640" y="4343400"/>
            <a:ext cx="8046720" cy="320040"/>
          </a:xfrm>
          <a:prstGeom prst="rect">
            <a:avLst/>
          </a:prstGeom>
          <a:noFill/>
          <a:ln/>
        </p:spPr>
        <p:txBody>
          <a:bodyPr wrap="square" lIns="0" tIns="0" rIns="0" bIns="0" rtlCol="0" anchor="ctr"/>
          <a:lstStyle/>
          <a:p>
            <a:pPr indent="0" marL="0">
              <a:buNone/>
            </a:pPr>
            <a:r>
              <a:rPr lang="en-US" sz="1100" dirty="0">
                <a:solidFill>
                  <a:srgbClr val="9AA5B1"/>
                </a:solidFill>
                <a:latin typeface="Calibri" pitchFamily="34" charset="0"/>
                <a:ea typeface="Calibri" pitchFamily="34" charset="-122"/>
                <a:cs typeface="Calibri" pitchFamily="34" charset="-120"/>
              </a:rPr>
              <a:t>K8s Soup to Nuts  ·  for technical leaders, engineering leads, and the platform team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Why they matter</a:t>
            </a:r>
            <a:endParaRPr lang="en-US" sz="3200" dirty="0"/>
          </a:p>
        </p:txBody>
      </p:sp>
      <p:sp>
        <p:nvSpPr>
          <p:cNvPr id="3" name="Text 1"/>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300" i="1" dirty="0">
                <a:solidFill>
                  <a:srgbClr val="52606D"/>
                </a:solidFill>
                <a:latin typeface="Calibri" pitchFamily="34" charset="0"/>
                <a:ea typeface="Calibri" pitchFamily="34" charset="-122"/>
                <a:cs typeface="Calibri" pitchFamily="34" charset="-120"/>
              </a:rPr>
              <a:t>A runbook answers one question. A model answers the next hundred.</a:t>
            </a:r>
            <a:endParaRPr lang="en-US" sz="1300" dirty="0"/>
          </a:p>
        </p:txBody>
      </p:sp>
      <p:sp>
        <p:nvSpPr>
          <p:cNvPr id="4" name="Shape 2"/>
          <p:cNvSpPr/>
          <p:nvPr/>
        </p:nvSpPr>
        <p:spPr>
          <a:xfrm>
            <a:off x="457200" y="1371600"/>
            <a:ext cx="3291840" cy="2743200"/>
          </a:xfrm>
          <a:prstGeom prst="roundRect">
            <a:avLst>
              <a:gd name="adj" fmla="val 2667"/>
            </a:avLst>
          </a:prstGeom>
          <a:solidFill>
            <a:srgbClr val="1F2933"/>
          </a:solidFill>
          <a:ln w="12700">
            <a:solidFill>
              <a:srgbClr val="1F2933"/>
            </a:solidFill>
            <a:prstDash val="solid"/>
          </a:ln>
        </p:spPr>
      </p:sp>
      <p:sp>
        <p:nvSpPr>
          <p:cNvPr id="5" name="Text 3"/>
          <p:cNvSpPr txBox="1"/>
          <p:nvPr/>
        </p:nvSpPr>
        <p:spPr>
          <a:xfrm>
            <a:off x="640080" y="1463040"/>
            <a:ext cx="2926080" cy="731520"/>
          </a:xfrm>
          <a:prstGeom prst="rect">
            <a:avLst/>
          </a:prstGeom>
          <a:noFill/>
          <a:ln/>
        </p:spPr>
        <p:txBody>
          <a:bodyPr wrap="square" lIns="0" tIns="0" rIns="0" bIns="0" rtlCol="0" anchor="ctr"/>
          <a:lstStyle/>
          <a:p>
            <a:pPr indent="0" marL="0">
              <a:buNone/>
            </a:pPr>
            <a:r>
              <a:rPr lang="en-US" sz="5400" b="1" dirty="0">
                <a:solidFill>
                  <a:srgbClr val="D9822B"/>
                </a:solidFill>
                <a:latin typeface="Cambria" pitchFamily="34" charset="0"/>
                <a:ea typeface="Cambria" pitchFamily="34" charset="-122"/>
                <a:cs typeface="Cambria" pitchFamily="34" charset="-120"/>
              </a:rPr>
              <a:t>284</a:t>
            </a:r>
            <a:endParaRPr lang="en-US" sz="5400" dirty="0"/>
          </a:p>
        </p:txBody>
      </p:sp>
      <p:sp>
        <p:nvSpPr>
          <p:cNvPr id="6" name="Text 4"/>
          <p:cNvSpPr txBox="1"/>
          <p:nvPr/>
        </p:nvSpPr>
        <p:spPr>
          <a:xfrm>
            <a:off x="640080" y="2194560"/>
            <a:ext cx="2926080" cy="457200"/>
          </a:xfrm>
          <a:prstGeom prst="rect">
            <a:avLst/>
          </a:prstGeom>
          <a:noFill/>
          <a:ln/>
        </p:spPr>
        <p:txBody>
          <a:bodyPr wrap="square" lIns="0" tIns="0" rIns="0" bIns="0" rtlCol="0" anchor="ctr"/>
          <a:lstStyle/>
          <a:p>
            <a:pPr indent="0" marL="0">
              <a:buNone/>
            </a:pPr>
            <a:r>
              <a:rPr lang="en-US" sz="1300" dirty="0">
                <a:solidFill>
                  <a:srgbClr val="E4E7EB"/>
                </a:solidFill>
                <a:latin typeface="Calibri" pitchFamily="34" charset="0"/>
                <a:ea typeface="Calibri" pitchFamily="34" charset="-122"/>
                <a:cs typeface="Calibri" pitchFamily="34" charset="-120"/>
              </a:rPr>
              <a:t>pages, 21 runbooks, 16 field notes on the site —</a:t>
            </a:r>
            <a:endParaRPr lang="en-US" sz="1300" dirty="0"/>
          </a:p>
        </p:txBody>
      </p:sp>
      <p:sp>
        <p:nvSpPr>
          <p:cNvPr id="7" name="Text 5"/>
          <p:cNvSpPr txBox="1"/>
          <p:nvPr/>
        </p:nvSpPr>
        <p:spPr>
          <a:xfrm>
            <a:off x="640080" y="2606040"/>
            <a:ext cx="2926080" cy="731520"/>
          </a:xfrm>
          <a:prstGeom prst="rect">
            <a:avLst/>
          </a:prstGeom>
          <a:noFill/>
          <a:ln/>
        </p:spPr>
        <p:txBody>
          <a:bodyPr wrap="square" lIns="0" tIns="0" rIns="0" bIns="0" rtlCol="0" anchor="ctr"/>
          <a:lstStyle/>
          <a:p>
            <a:pPr indent="0" marL="0">
              <a:buNone/>
            </a:pPr>
            <a:r>
              <a:rPr lang="en-US" sz="5400" b="1" dirty="0">
                <a:solidFill>
                  <a:srgbClr val="D9822B"/>
                </a:solidFill>
                <a:latin typeface="Cambria" pitchFamily="34" charset="0"/>
                <a:ea typeface="Cambria" pitchFamily="34" charset="-122"/>
                <a:cs typeface="Cambria" pitchFamily="34" charset="-120"/>
              </a:rPr>
              <a:t>3</a:t>
            </a:r>
            <a:endParaRPr lang="en-US" sz="5400" dirty="0"/>
          </a:p>
        </p:txBody>
      </p:sp>
      <p:sp>
        <p:nvSpPr>
          <p:cNvPr id="8" name="Text 6"/>
          <p:cNvSpPr txBox="1"/>
          <p:nvPr/>
        </p:nvSpPr>
        <p:spPr>
          <a:xfrm>
            <a:off x="640080" y="3337560"/>
            <a:ext cx="2926080" cy="731520"/>
          </a:xfrm>
          <a:prstGeom prst="rect">
            <a:avLst/>
          </a:prstGeom>
          <a:noFill/>
          <a:ln/>
        </p:spPr>
        <p:txBody>
          <a:bodyPr wrap="square" lIns="0" tIns="0" rIns="0" bIns="0" rtlCol="0" anchor="ctr"/>
          <a:lstStyle/>
          <a:p>
            <a:pPr indent="0" marL="0">
              <a:buNone/>
            </a:pPr>
            <a:r>
              <a:rPr lang="en-US" sz="1300" dirty="0">
                <a:solidFill>
                  <a:srgbClr val="E4E7EB"/>
                </a:solidFill>
                <a:latin typeface="Calibri" pitchFamily="34" charset="0"/>
                <a:ea typeface="Calibri" pitchFamily="34" charset="-122"/>
                <a:cs typeface="Calibri" pitchFamily="34" charset="-120"/>
              </a:rPr>
              <a:t>models, eleven words, that a new engineer can hold on day one. Everything else is a refinement inside one of them.</a:t>
            </a:r>
            <a:endParaRPr lang="en-US" sz="1300" dirty="0"/>
          </a:p>
        </p:txBody>
      </p:sp>
      <p:sp>
        <p:nvSpPr>
          <p:cNvPr id="9" name="Shape 7"/>
          <p:cNvSpPr/>
          <p:nvPr/>
        </p:nvSpPr>
        <p:spPr>
          <a:xfrm>
            <a:off x="4114800" y="1344168"/>
            <a:ext cx="457200" cy="457200"/>
          </a:xfrm>
          <a:prstGeom prst="ellipse">
            <a:avLst/>
          </a:prstGeom>
          <a:solidFill>
            <a:srgbClr val="D9822B"/>
          </a:solidFill>
          <a:ln w="12700">
            <a:solidFill>
              <a:srgbClr val="D9822B"/>
            </a:solidFill>
            <a:prstDash val="solid"/>
          </a:ln>
        </p:spPr>
      </p:sp>
      <p:pic>
        <p:nvPicPr>
          <p:cNvPr id="10" name="Image 0" descr="preencoded.png">    </p:cNvPr>
          <p:cNvPicPr>
            <a:picLocks noChangeAspect="1"/>
          </p:cNvPicPr>
          <p:nvPr/>
        </p:nvPicPr>
        <p:blipFill>
          <a:blip r:embed="rId1"/>
          <a:stretch>
            <a:fillRect/>
          </a:stretch>
        </p:blipFill>
        <p:spPr>
          <a:xfrm>
            <a:off x="4224528" y="1453896"/>
            <a:ext cx="237744" cy="237744"/>
          </a:xfrm>
          <a:prstGeom prst="rect">
            <a:avLst/>
          </a:prstGeom>
        </p:spPr>
      </p:pic>
      <p:sp>
        <p:nvSpPr>
          <p:cNvPr id="11" name="Text 8"/>
          <p:cNvSpPr txBox="1"/>
          <p:nvPr/>
        </p:nvSpPr>
        <p:spPr>
          <a:xfrm>
            <a:off x="4709160" y="1307592"/>
            <a:ext cx="397764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They compress</a:t>
            </a:r>
            <a:endParaRPr lang="en-US" sz="1400" dirty="0"/>
          </a:p>
        </p:txBody>
      </p:sp>
      <p:sp>
        <p:nvSpPr>
          <p:cNvPr id="12" name="Text 9"/>
          <p:cNvSpPr txBox="1"/>
          <p:nvPr/>
        </p:nvSpPr>
        <p:spPr>
          <a:xfrm>
            <a:off x="4709160" y="1572768"/>
            <a:ext cx="3977640" cy="457200"/>
          </a:xfrm>
          <a:prstGeom prst="rect">
            <a:avLst/>
          </a:prstGeom>
          <a:noFill/>
          <a:ln/>
        </p:spPr>
        <p:txBody>
          <a:bodyPr wrap="square" lIns="0" tIns="0" rIns="0" bIns="0" rtlCol="0" anchor="ctr"/>
          <a:lstStyle/>
          <a:p>
            <a:pPr indent="0" marL="0">
              <a:buNone/>
            </a:pPr>
            <a:r>
              <a:rPr lang="en-US" sz="1050" dirty="0">
                <a:solidFill>
                  <a:srgbClr val="52606D"/>
                </a:solidFill>
                <a:latin typeface="Calibri" pitchFamily="34" charset="0"/>
                <a:ea typeface="Calibri" pitchFamily="34" charset="-122"/>
                <a:cs typeface="Calibri" pitchFamily="34" charset="-120"/>
              </a:rPr>
              <a:t>The smallest complete set: Kubernetes needs exactly three things from a workload, and there is no fourth. Hold three questions; derive the rest.</a:t>
            </a:r>
            <a:endParaRPr lang="en-US" sz="1050" dirty="0"/>
          </a:p>
        </p:txBody>
      </p:sp>
      <p:sp>
        <p:nvSpPr>
          <p:cNvPr id="13" name="Shape 10"/>
          <p:cNvSpPr/>
          <p:nvPr/>
        </p:nvSpPr>
        <p:spPr>
          <a:xfrm>
            <a:off x="4114800" y="2093976"/>
            <a:ext cx="457200" cy="457200"/>
          </a:xfrm>
          <a:prstGeom prst="ellipse">
            <a:avLst/>
          </a:prstGeom>
          <a:solidFill>
            <a:srgbClr val="D9822B"/>
          </a:solidFill>
          <a:ln w="12700">
            <a:solidFill>
              <a:srgbClr val="D9822B"/>
            </a:solidFill>
            <a:prstDash val="solid"/>
          </a:ln>
        </p:spPr>
      </p:sp>
      <p:pic>
        <p:nvPicPr>
          <p:cNvPr id="14" name="Image 1" descr="preencoded.png">    </p:cNvPr>
          <p:cNvPicPr>
            <a:picLocks noChangeAspect="1"/>
          </p:cNvPicPr>
          <p:nvPr/>
        </p:nvPicPr>
        <p:blipFill>
          <a:blip r:embed="rId2"/>
          <a:stretch>
            <a:fillRect/>
          </a:stretch>
        </p:blipFill>
        <p:spPr>
          <a:xfrm>
            <a:off x="4224528" y="2203704"/>
            <a:ext cx="237744" cy="237744"/>
          </a:xfrm>
          <a:prstGeom prst="rect">
            <a:avLst/>
          </a:prstGeom>
        </p:spPr>
      </p:pic>
      <p:sp>
        <p:nvSpPr>
          <p:cNvPr id="15" name="Text 11"/>
          <p:cNvSpPr txBox="1"/>
          <p:nvPr/>
        </p:nvSpPr>
        <p:spPr>
          <a:xfrm>
            <a:off x="4709160" y="2057400"/>
            <a:ext cx="397764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They make disagreement resolvable</a:t>
            </a:r>
            <a:endParaRPr lang="en-US" sz="1400" dirty="0"/>
          </a:p>
        </p:txBody>
      </p:sp>
      <p:sp>
        <p:nvSpPr>
          <p:cNvPr id="16" name="Text 12"/>
          <p:cNvSpPr txBox="1"/>
          <p:nvPr/>
        </p:nvSpPr>
        <p:spPr>
          <a:xfrm>
            <a:off x="4709160" y="2322576"/>
            <a:ext cx="3977640" cy="457200"/>
          </a:xfrm>
          <a:prstGeom prst="rect">
            <a:avLst/>
          </a:prstGeom>
          <a:noFill/>
          <a:ln/>
        </p:spPr>
        <p:txBody>
          <a:bodyPr wrap="square" lIns="0" tIns="0" rIns="0" bIns="0" rtlCol="0" anchor="ctr"/>
          <a:lstStyle/>
          <a:p>
            <a:pPr indent="0" marL="0">
              <a:buNone/>
            </a:pPr>
            <a:r>
              <a:rPr lang="en-US" sz="1050" dirty="0">
                <a:solidFill>
                  <a:srgbClr val="52606D"/>
                </a:solidFill>
                <a:latin typeface="Calibri" pitchFamily="34" charset="0"/>
                <a:ea typeface="Calibri" pitchFamily="34" charset="-122"/>
                <a:cs typeface="Calibri" pitchFamily="34" charset="-120"/>
              </a:rPr>
              <a:t>kubectl top says 40% CPU while p99 triples. Without the lenses that was a week blaming GC and the database; with them, two instruments, one truth.</a:t>
            </a:r>
            <a:endParaRPr lang="en-US" sz="1050" dirty="0"/>
          </a:p>
        </p:txBody>
      </p:sp>
      <p:sp>
        <p:nvSpPr>
          <p:cNvPr id="17" name="Shape 13"/>
          <p:cNvSpPr/>
          <p:nvPr/>
        </p:nvSpPr>
        <p:spPr>
          <a:xfrm>
            <a:off x="4114800" y="2843784"/>
            <a:ext cx="457200" cy="457200"/>
          </a:xfrm>
          <a:prstGeom prst="ellipse">
            <a:avLst/>
          </a:prstGeom>
          <a:solidFill>
            <a:srgbClr val="D9822B"/>
          </a:solidFill>
          <a:ln w="12700">
            <a:solidFill>
              <a:srgbClr val="D9822B"/>
            </a:solidFill>
            <a:prstDash val="solid"/>
          </a:ln>
        </p:spPr>
      </p:sp>
      <p:pic>
        <p:nvPicPr>
          <p:cNvPr id="18" name="Image 2" descr="preencoded.png">    </p:cNvPr>
          <p:cNvPicPr>
            <a:picLocks noChangeAspect="1"/>
          </p:cNvPicPr>
          <p:nvPr/>
        </p:nvPicPr>
        <p:blipFill>
          <a:blip r:embed="rId3"/>
          <a:stretch>
            <a:fillRect/>
          </a:stretch>
        </p:blipFill>
        <p:spPr>
          <a:xfrm>
            <a:off x="4224528" y="2953512"/>
            <a:ext cx="237744" cy="237744"/>
          </a:xfrm>
          <a:prstGeom prst="rect">
            <a:avLst/>
          </a:prstGeom>
        </p:spPr>
      </p:pic>
      <p:sp>
        <p:nvSpPr>
          <p:cNvPr id="19" name="Text 14"/>
          <p:cNvSpPr txBox="1"/>
          <p:nvPr/>
        </p:nvSpPr>
        <p:spPr>
          <a:xfrm>
            <a:off x="4709160" y="2807208"/>
            <a:ext cx="397764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The first command is the right one</a:t>
            </a:r>
            <a:endParaRPr lang="en-US" sz="1400" dirty="0"/>
          </a:p>
        </p:txBody>
      </p:sp>
      <p:sp>
        <p:nvSpPr>
          <p:cNvPr id="20" name="Text 15"/>
          <p:cNvSpPr txBox="1"/>
          <p:nvPr/>
        </p:nvSpPr>
        <p:spPr>
          <a:xfrm>
            <a:off x="4709160" y="3072384"/>
            <a:ext cx="3977640" cy="457200"/>
          </a:xfrm>
          <a:prstGeom prst="rect">
            <a:avLst/>
          </a:prstGeom>
          <a:noFill/>
          <a:ln/>
        </p:spPr>
        <p:txBody>
          <a:bodyPr wrap="square" lIns="0" tIns="0" rIns="0" bIns="0" rtlCol="0" anchor="ctr"/>
          <a:lstStyle/>
          <a:p>
            <a:pPr indent="0" marL="0">
              <a:buNone/>
            </a:pPr>
            <a:r>
              <a:rPr lang="en-US" sz="1050" dirty="0">
                <a:solidFill>
                  <a:srgbClr val="52606D"/>
                </a:solidFill>
                <a:latin typeface="Calibri" pitchFamily="34" charset="0"/>
                <a:ea typeface="Calibri" pitchFamily="34" charset="-122"/>
                <a:cs typeface="Calibri" pitchFamily="34" charset="-120"/>
              </a:rPr>
              <a:t>Which verb failed? Which hop? Which rung? The map chooses the first command in an incident; the runbook finishes the job.</a:t>
            </a:r>
            <a:endParaRPr lang="en-US" sz="1050" dirty="0"/>
          </a:p>
        </p:txBody>
      </p:sp>
      <p:sp>
        <p:nvSpPr>
          <p:cNvPr id="21" name="Shape 16"/>
          <p:cNvSpPr/>
          <p:nvPr/>
        </p:nvSpPr>
        <p:spPr>
          <a:xfrm>
            <a:off x="4114800" y="3593592"/>
            <a:ext cx="457200" cy="457200"/>
          </a:xfrm>
          <a:prstGeom prst="ellipse">
            <a:avLst/>
          </a:prstGeom>
          <a:solidFill>
            <a:srgbClr val="D9822B"/>
          </a:solidFill>
          <a:ln w="12700">
            <a:solidFill>
              <a:srgbClr val="D9822B"/>
            </a:solidFill>
            <a:prstDash val="solid"/>
          </a:ln>
        </p:spPr>
      </p:sp>
      <p:pic>
        <p:nvPicPr>
          <p:cNvPr id="22" name="Image 3" descr="preencoded.png">    </p:cNvPr>
          <p:cNvPicPr>
            <a:picLocks noChangeAspect="1"/>
          </p:cNvPicPr>
          <p:nvPr/>
        </p:nvPicPr>
        <p:blipFill>
          <a:blip r:embed="rId4"/>
          <a:stretch>
            <a:fillRect/>
          </a:stretch>
        </p:blipFill>
        <p:spPr>
          <a:xfrm>
            <a:off x="4224528" y="3703320"/>
            <a:ext cx="237744" cy="237744"/>
          </a:xfrm>
          <a:prstGeom prst="rect">
            <a:avLst/>
          </a:prstGeom>
        </p:spPr>
      </p:pic>
      <p:sp>
        <p:nvSpPr>
          <p:cNvPr id="23" name="Text 17"/>
          <p:cNvSpPr txBox="1"/>
          <p:nvPr/>
        </p:nvSpPr>
        <p:spPr>
          <a:xfrm>
            <a:off x="4709160" y="3557016"/>
            <a:ext cx="397764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They transfer</a:t>
            </a:r>
            <a:endParaRPr lang="en-US" sz="1400" dirty="0"/>
          </a:p>
        </p:txBody>
      </p:sp>
      <p:sp>
        <p:nvSpPr>
          <p:cNvPr id="24" name="Text 18"/>
          <p:cNvSpPr txBox="1"/>
          <p:nvPr/>
        </p:nvSpPr>
        <p:spPr>
          <a:xfrm>
            <a:off x="4709160" y="3822192"/>
            <a:ext cx="3977640" cy="457200"/>
          </a:xfrm>
          <a:prstGeom prst="rect">
            <a:avLst/>
          </a:prstGeom>
          <a:noFill/>
          <a:ln/>
        </p:spPr>
        <p:txBody>
          <a:bodyPr wrap="square" lIns="0" tIns="0" rIns="0" bIns="0" rtlCol="0" anchor="ctr"/>
          <a:lstStyle/>
          <a:p>
            <a:pPr indent="0" marL="0">
              <a:buNone/>
            </a:pPr>
            <a:r>
              <a:rPr lang="en-US" sz="1050" dirty="0">
                <a:solidFill>
                  <a:srgbClr val="52606D"/>
                </a:solidFill>
                <a:latin typeface="Calibri" pitchFamily="34" charset="0"/>
                <a:ea typeface="Calibri" pitchFamily="34" charset="-122"/>
                <a:cs typeface="Calibri" pitchFamily="34" charset="-120"/>
              </a:rPr>
              <a:t>Runbooks are a list; a model is a way to navigate the list. Onboarding becomes three pictures and the habit of asking their questions.</a:t>
            </a:r>
            <a:endParaRPr lang="en-US" sz="1050" dirty="0"/>
          </a:p>
        </p:txBody>
      </p:sp>
      <p:sp>
        <p:nvSpPr>
          <p:cNvPr id="25" name="Text 19"/>
          <p:cNvSpPr txBox="1"/>
          <p:nvPr/>
        </p:nvSpPr>
        <p:spPr>
          <a:xfrm>
            <a:off x="457200" y="4407408"/>
            <a:ext cx="8229600" cy="457200"/>
          </a:xfrm>
          <a:prstGeom prst="rect">
            <a:avLst/>
          </a:prstGeom>
          <a:noFill/>
          <a:ln/>
        </p:spPr>
        <p:txBody>
          <a:bodyPr wrap="square" lIns="0" tIns="0" rIns="0" bIns="0" rtlCol="0" anchor="ctr"/>
          <a:lstStyle/>
          <a:p>
            <a:pPr indent="0" marL="0">
              <a:buNone/>
            </a:pPr>
            <a:r>
              <a:rPr lang="en-US" sz="1100" i="1" dirty="0">
                <a:solidFill>
                  <a:srgbClr val="52606D"/>
                </a:solidFill>
                <a:latin typeface="Calibri" pitchFamily="34" charset="0"/>
                <a:ea typeface="Calibri" pitchFamily="34" charset="-122"/>
                <a:cs typeface="Calibri" pitchFamily="34" charset="-120"/>
              </a:rPr>
              <a:t>The failure galleries — nearly thirty documented misreadings — are the evidence: every one is a correct number read at the wrong door, through the wrong lens, or a road away from the fault.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How we help others build one</a:t>
            </a:r>
            <a:endParaRPr lang="en-US" sz="3200" dirty="0"/>
          </a:p>
        </p:txBody>
      </p:sp>
      <p:sp>
        <p:nvSpPr>
          <p:cNvPr id="3" name="Text 1"/>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300" i="1" dirty="0">
                <a:solidFill>
                  <a:srgbClr val="52606D"/>
                </a:solidFill>
                <a:latin typeface="Calibri" pitchFamily="34" charset="0"/>
                <a:ea typeface="Calibri" pitchFamily="34" charset="-122"/>
                <a:cs typeface="Calibri" pitchFamily="34" charset="-120"/>
              </a:rPr>
              <a:t>The recipe behind all three of ours — six moves, in order.</a:t>
            </a:r>
            <a:endParaRPr lang="en-US" sz="1300" dirty="0"/>
          </a:p>
        </p:txBody>
      </p:sp>
      <p:sp>
        <p:nvSpPr>
          <p:cNvPr id="4" name="Shape 2"/>
          <p:cNvSpPr/>
          <p:nvPr/>
        </p:nvSpPr>
        <p:spPr>
          <a:xfrm>
            <a:off x="457200" y="1371600"/>
            <a:ext cx="2651760" cy="1417320"/>
          </a:xfrm>
          <a:prstGeom prst="roundRect">
            <a:avLst>
              <a:gd name="adj" fmla="val 3871"/>
            </a:avLst>
          </a:prstGeom>
          <a:solidFill>
            <a:srgbClr val="E4E7EB"/>
          </a:solidFill>
          <a:ln w="12700">
            <a:solidFill>
              <a:srgbClr val="E4E7EB"/>
            </a:solidFill>
            <a:prstDash val="solid"/>
          </a:ln>
        </p:spPr>
      </p:sp>
      <p:sp>
        <p:nvSpPr>
          <p:cNvPr id="5" name="Shape 3"/>
          <p:cNvSpPr/>
          <p:nvPr/>
        </p:nvSpPr>
        <p:spPr>
          <a:xfrm>
            <a:off x="594360" y="1508760"/>
            <a:ext cx="384048" cy="384048"/>
          </a:xfrm>
          <a:prstGeom prst="ellipse">
            <a:avLst/>
          </a:prstGeom>
          <a:solidFill>
            <a:srgbClr val="1F2933"/>
          </a:solidFill>
          <a:ln w="12700">
            <a:solidFill>
              <a:srgbClr val="1F2933"/>
            </a:solidFill>
            <a:prstDash val="solid"/>
          </a:ln>
        </p:spPr>
      </p:sp>
      <p:sp>
        <p:nvSpPr>
          <p:cNvPr id="6" name="Text 4"/>
          <p:cNvSpPr txBox="1"/>
          <p:nvPr/>
        </p:nvSpPr>
        <p:spPr>
          <a:xfrm>
            <a:off x="594360" y="1508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078992" y="1499616"/>
            <a:ext cx="1920240" cy="41148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Strip the domain to its job</a:t>
            </a:r>
            <a:endParaRPr lang="en-US" sz="1300" dirty="0"/>
          </a:p>
        </p:txBody>
      </p:sp>
      <p:sp>
        <p:nvSpPr>
          <p:cNvPr id="8" name="Text 6"/>
          <p:cNvSpPr txBox="1"/>
          <p:nvPr/>
        </p:nvSpPr>
        <p:spPr>
          <a:xfrm>
            <a:off x="594360" y="1975104"/>
            <a:ext cx="2377440" cy="731520"/>
          </a:xfrm>
          <a:prstGeom prst="rect">
            <a:avLst/>
          </a:prstGeom>
          <a:noFill/>
          <a:ln/>
        </p:spPr>
        <p:txBody>
          <a:bodyPr wrap="square" lIns="0" tIns="0" rIns="0" bIns="0" rtlCol="0" anchor="t"/>
          <a:lstStyle/>
          <a:p>
            <a:pPr indent="0" marL="0">
              <a:buNone/>
            </a:pPr>
            <a:r>
              <a:rPr lang="en-US" sz="1000" dirty="0">
                <a:solidFill>
                  <a:srgbClr val="52606D"/>
                </a:solidFill>
                <a:latin typeface="Calibri" pitchFamily="34" charset="0"/>
                <a:ea typeface="Calibri" pitchFamily="34" charset="-122"/>
                <a:cs typeface="Calibri" pitchFamily="34" charset="-120"/>
              </a:rPr>
              <a:t>“Kubernetes is a control system; to run one workload it needs exactly three things.” Start from what the system is for, not from its features.</a:t>
            </a:r>
            <a:endParaRPr lang="en-US" sz="1000" dirty="0"/>
          </a:p>
        </p:txBody>
      </p:sp>
      <p:sp>
        <p:nvSpPr>
          <p:cNvPr id="9" name="Shape 7"/>
          <p:cNvSpPr/>
          <p:nvPr/>
        </p:nvSpPr>
        <p:spPr>
          <a:xfrm>
            <a:off x="3429000" y="1371600"/>
            <a:ext cx="2651760" cy="1417320"/>
          </a:xfrm>
          <a:prstGeom prst="roundRect">
            <a:avLst>
              <a:gd name="adj" fmla="val 3871"/>
            </a:avLst>
          </a:prstGeom>
          <a:solidFill>
            <a:srgbClr val="E4E7EB"/>
          </a:solidFill>
          <a:ln w="12700">
            <a:solidFill>
              <a:srgbClr val="E4E7EB"/>
            </a:solidFill>
            <a:prstDash val="solid"/>
          </a:ln>
        </p:spPr>
      </p:sp>
      <p:sp>
        <p:nvSpPr>
          <p:cNvPr id="10" name="Shape 8"/>
          <p:cNvSpPr/>
          <p:nvPr/>
        </p:nvSpPr>
        <p:spPr>
          <a:xfrm>
            <a:off x="3566160" y="1508760"/>
            <a:ext cx="384048" cy="384048"/>
          </a:xfrm>
          <a:prstGeom prst="ellipse">
            <a:avLst/>
          </a:prstGeom>
          <a:solidFill>
            <a:srgbClr val="1F2933"/>
          </a:solidFill>
          <a:ln w="12700">
            <a:solidFill>
              <a:srgbClr val="1F2933"/>
            </a:solidFill>
            <a:prstDash val="solid"/>
          </a:ln>
        </p:spPr>
      </p:sp>
      <p:sp>
        <p:nvSpPr>
          <p:cNvPr id="11" name="Text 9"/>
          <p:cNvSpPr txBox="1"/>
          <p:nvPr/>
        </p:nvSpPr>
        <p:spPr>
          <a:xfrm>
            <a:off x="3566160" y="1508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4050792" y="1499616"/>
            <a:ext cx="1920240" cy="41148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Find the smallest complete set</a:t>
            </a:r>
            <a:endParaRPr lang="en-US" sz="1300" dirty="0"/>
          </a:p>
        </p:txBody>
      </p:sp>
      <p:sp>
        <p:nvSpPr>
          <p:cNvPr id="13" name="Text 11"/>
          <p:cNvSpPr txBox="1"/>
          <p:nvPr/>
        </p:nvSpPr>
        <p:spPr>
          <a:xfrm>
            <a:off x="3566160" y="1975104"/>
            <a:ext cx="2377440" cy="731520"/>
          </a:xfrm>
          <a:prstGeom prst="rect">
            <a:avLst/>
          </a:prstGeom>
          <a:noFill/>
          <a:ln/>
        </p:spPr>
        <p:txBody>
          <a:bodyPr wrap="square" lIns="0" tIns="0" rIns="0" bIns="0" rtlCol="0" anchor="t"/>
          <a:lstStyle/>
          <a:p>
            <a:pPr indent="0" marL="0">
              <a:buNone/>
            </a:pPr>
            <a:r>
              <a:rPr lang="en-US" sz="1000" dirty="0">
                <a:solidFill>
                  <a:srgbClr val="52606D"/>
                </a:solidFill>
                <a:latin typeface="Calibri" pitchFamily="34" charset="0"/>
                <a:ea typeface="Calibri" pitchFamily="34" charset="-122"/>
                <a:cs typeface="Calibri" pitchFamily="34" charset="-120"/>
              </a:rPr>
              <a:t>Three doors, three lenses, five verbs — and say why there is no N+1. If a fourth thing fits, the set was not complete; if it is a refinement of one, the set holds.</a:t>
            </a:r>
            <a:endParaRPr lang="en-US" sz="1000" dirty="0"/>
          </a:p>
        </p:txBody>
      </p:sp>
      <p:sp>
        <p:nvSpPr>
          <p:cNvPr id="14" name="Shape 12"/>
          <p:cNvSpPr/>
          <p:nvPr/>
        </p:nvSpPr>
        <p:spPr>
          <a:xfrm>
            <a:off x="6400800" y="1371600"/>
            <a:ext cx="2651760" cy="1417320"/>
          </a:xfrm>
          <a:prstGeom prst="roundRect">
            <a:avLst>
              <a:gd name="adj" fmla="val 3871"/>
            </a:avLst>
          </a:prstGeom>
          <a:solidFill>
            <a:srgbClr val="E4E7EB"/>
          </a:solidFill>
          <a:ln w="12700">
            <a:solidFill>
              <a:srgbClr val="E4E7EB"/>
            </a:solidFill>
            <a:prstDash val="solid"/>
          </a:ln>
        </p:spPr>
      </p:sp>
      <p:sp>
        <p:nvSpPr>
          <p:cNvPr id="15" name="Shape 13"/>
          <p:cNvSpPr/>
          <p:nvPr/>
        </p:nvSpPr>
        <p:spPr>
          <a:xfrm>
            <a:off x="6537960" y="1508760"/>
            <a:ext cx="384048" cy="384048"/>
          </a:xfrm>
          <a:prstGeom prst="ellipse">
            <a:avLst/>
          </a:prstGeom>
          <a:solidFill>
            <a:srgbClr val="1F2933"/>
          </a:solidFill>
          <a:ln w="12700">
            <a:solidFill>
              <a:srgbClr val="1F2933"/>
            </a:solidFill>
            <a:prstDash val="solid"/>
          </a:ln>
        </p:spPr>
      </p:sp>
      <p:sp>
        <p:nvSpPr>
          <p:cNvPr id="16" name="Text 14"/>
          <p:cNvSpPr txBox="1"/>
          <p:nvPr/>
        </p:nvSpPr>
        <p:spPr>
          <a:xfrm>
            <a:off x="6537960" y="1508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7022592" y="1499616"/>
            <a:ext cx="1920240" cy="41148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Give the parts a shape</a:t>
            </a:r>
            <a:endParaRPr lang="en-US" sz="1300" dirty="0"/>
          </a:p>
        </p:txBody>
      </p:sp>
      <p:sp>
        <p:nvSpPr>
          <p:cNvPr id="18" name="Text 16"/>
          <p:cNvSpPr txBox="1"/>
          <p:nvPr/>
        </p:nvSpPr>
        <p:spPr>
          <a:xfrm>
            <a:off x="6537960" y="1975104"/>
            <a:ext cx="2377440" cy="731520"/>
          </a:xfrm>
          <a:prstGeom prst="rect">
            <a:avLst/>
          </a:prstGeom>
          <a:noFill/>
          <a:ln/>
        </p:spPr>
        <p:txBody>
          <a:bodyPr wrap="square" lIns="0" tIns="0" rIns="0" bIns="0" rtlCol="0" anchor="t"/>
          <a:lstStyle/>
          <a:p>
            <a:pPr indent="0" marL="0">
              <a:buNone/>
            </a:pPr>
            <a:r>
              <a:rPr lang="en-US" sz="1000" dirty="0">
                <a:solidFill>
                  <a:srgbClr val="52606D"/>
                </a:solidFill>
                <a:latin typeface="Calibri" pitchFamily="34" charset="0"/>
                <a:ea typeface="Calibri" pitchFamily="34" charset="-122"/>
                <a:cs typeface="Calibri" pitchFamily="34" charset="-120"/>
              </a:rPr>
              <a:t>A loop, a zoom, two roads and a ladder. The shape says how the parts relate; a list of parts is not yet a model.</a:t>
            </a:r>
            <a:endParaRPr lang="en-US" sz="1000" dirty="0"/>
          </a:p>
        </p:txBody>
      </p:sp>
      <p:sp>
        <p:nvSpPr>
          <p:cNvPr id="19" name="Shape 17"/>
          <p:cNvSpPr/>
          <p:nvPr/>
        </p:nvSpPr>
        <p:spPr>
          <a:xfrm>
            <a:off x="457200" y="3063240"/>
            <a:ext cx="2651760" cy="1417320"/>
          </a:xfrm>
          <a:prstGeom prst="roundRect">
            <a:avLst>
              <a:gd name="adj" fmla="val 3871"/>
            </a:avLst>
          </a:prstGeom>
          <a:solidFill>
            <a:srgbClr val="E4E7EB"/>
          </a:solidFill>
          <a:ln w="12700">
            <a:solidFill>
              <a:srgbClr val="E4E7EB"/>
            </a:solidFill>
            <a:prstDash val="solid"/>
          </a:ln>
        </p:spPr>
      </p:sp>
      <p:sp>
        <p:nvSpPr>
          <p:cNvPr id="20" name="Shape 18"/>
          <p:cNvSpPr/>
          <p:nvPr/>
        </p:nvSpPr>
        <p:spPr>
          <a:xfrm>
            <a:off x="594360" y="3200400"/>
            <a:ext cx="384048" cy="384048"/>
          </a:xfrm>
          <a:prstGeom prst="ellipse">
            <a:avLst/>
          </a:prstGeom>
          <a:solidFill>
            <a:srgbClr val="1F2933"/>
          </a:solidFill>
          <a:ln w="12700">
            <a:solidFill>
              <a:srgbClr val="1F2933"/>
            </a:solidFill>
            <a:prstDash val="solid"/>
          </a:ln>
        </p:spPr>
      </p:sp>
      <p:sp>
        <p:nvSpPr>
          <p:cNvPr id="21" name="Text 19"/>
          <p:cNvSpPr txBox="1"/>
          <p:nvPr/>
        </p:nvSpPr>
        <p:spPr>
          <a:xfrm>
            <a:off x="594360" y="32004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1078992" y="3191256"/>
            <a:ext cx="1920240" cy="41148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Prove it with real misreadings</a:t>
            </a:r>
            <a:endParaRPr lang="en-US" sz="1300" dirty="0"/>
          </a:p>
        </p:txBody>
      </p:sp>
      <p:sp>
        <p:nvSpPr>
          <p:cNvPr id="23" name="Text 21"/>
          <p:cNvSpPr txBox="1"/>
          <p:nvPr/>
        </p:nvSpPr>
        <p:spPr>
          <a:xfrm>
            <a:off x="594360" y="3666744"/>
            <a:ext cx="2377440" cy="731520"/>
          </a:xfrm>
          <a:prstGeom prst="rect">
            <a:avLst/>
          </a:prstGeom>
          <a:noFill/>
          <a:ln/>
        </p:spPr>
        <p:txBody>
          <a:bodyPr wrap="square" lIns="0" tIns="0" rIns="0" bIns="0" rtlCol="0" anchor="t"/>
          <a:lstStyle/>
          <a:p>
            <a:pPr indent="0" marL="0">
              <a:buNone/>
            </a:pPr>
            <a:r>
              <a:rPr lang="en-US" sz="1000" dirty="0">
                <a:solidFill>
                  <a:srgbClr val="52606D"/>
                </a:solidFill>
                <a:latin typeface="Calibri" pitchFamily="34" charset="0"/>
                <a:ea typeface="Calibri" pitchFamily="34" charset="-122"/>
                <a:cs typeface="Calibri" pitchFamily="34" charset="-120"/>
              </a:rPr>
              <a:t>A gallery of incidents people remember, each explained as a correct number seen through the wrong part. Trust comes from the gallery, not the diagram.</a:t>
            </a:r>
            <a:endParaRPr lang="en-US" sz="1000" dirty="0"/>
          </a:p>
        </p:txBody>
      </p:sp>
      <p:sp>
        <p:nvSpPr>
          <p:cNvPr id="24" name="Shape 22"/>
          <p:cNvSpPr/>
          <p:nvPr/>
        </p:nvSpPr>
        <p:spPr>
          <a:xfrm>
            <a:off x="3429000" y="3063240"/>
            <a:ext cx="2651760" cy="1417320"/>
          </a:xfrm>
          <a:prstGeom prst="roundRect">
            <a:avLst>
              <a:gd name="adj" fmla="val 3871"/>
            </a:avLst>
          </a:prstGeom>
          <a:solidFill>
            <a:srgbClr val="E4E7EB"/>
          </a:solidFill>
          <a:ln w="12700">
            <a:solidFill>
              <a:srgbClr val="E4E7EB"/>
            </a:solidFill>
            <a:prstDash val="solid"/>
          </a:ln>
        </p:spPr>
      </p:sp>
      <p:sp>
        <p:nvSpPr>
          <p:cNvPr id="25" name="Shape 23"/>
          <p:cNvSpPr/>
          <p:nvPr/>
        </p:nvSpPr>
        <p:spPr>
          <a:xfrm>
            <a:off x="3566160" y="3200400"/>
            <a:ext cx="384048" cy="384048"/>
          </a:xfrm>
          <a:prstGeom prst="ellipse">
            <a:avLst/>
          </a:prstGeom>
          <a:solidFill>
            <a:srgbClr val="1F2933"/>
          </a:solidFill>
          <a:ln w="12700">
            <a:solidFill>
              <a:srgbClr val="1F2933"/>
            </a:solidFill>
            <a:prstDash val="solid"/>
          </a:ln>
        </p:spPr>
      </p:sp>
      <p:sp>
        <p:nvSpPr>
          <p:cNvPr id="26" name="Text 24"/>
          <p:cNvSpPr txBox="1"/>
          <p:nvPr/>
        </p:nvSpPr>
        <p:spPr>
          <a:xfrm>
            <a:off x="3566160" y="32004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5"/>
          <p:cNvSpPr txBox="1"/>
          <p:nvPr/>
        </p:nvSpPr>
        <p:spPr>
          <a:xfrm>
            <a:off x="4050792" y="3191256"/>
            <a:ext cx="1920240" cy="41148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Attach the tactics</a:t>
            </a:r>
            <a:endParaRPr lang="en-US" sz="1300" dirty="0"/>
          </a:p>
        </p:txBody>
      </p:sp>
      <p:sp>
        <p:nvSpPr>
          <p:cNvPr id="28" name="Text 26"/>
          <p:cNvSpPr txBox="1"/>
          <p:nvPr/>
        </p:nvSpPr>
        <p:spPr>
          <a:xfrm>
            <a:off x="3566160" y="3666744"/>
            <a:ext cx="2377440" cy="731520"/>
          </a:xfrm>
          <a:prstGeom prst="rect">
            <a:avLst/>
          </a:prstGeom>
          <a:noFill/>
          <a:ln/>
        </p:spPr>
        <p:txBody>
          <a:bodyPr wrap="square" lIns="0" tIns="0" rIns="0" bIns="0" rtlCol="0" anchor="t"/>
          <a:lstStyle/>
          <a:p>
            <a:pPr indent="0" marL="0">
              <a:buNone/>
            </a:pPr>
            <a:r>
              <a:rPr lang="en-US" sz="1000" dirty="0">
                <a:solidFill>
                  <a:srgbClr val="52606D"/>
                </a:solidFill>
                <a:latin typeface="Calibri" pitchFamily="34" charset="0"/>
                <a:ea typeface="Calibri" pitchFamily="34" charset="-122"/>
                <a:cs typeface="Calibri" pitchFamily="34" charset="-120"/>
              </a:rPr>
              <a:t>The commands, the console output, the artifact table, a script. A model people can do — verbs.sh, the two-lens query — is one they keep.</a:t>
            </a:r>
            <a:endParaRPr lang="en-US" sz="1000" dirty="0"/>
          </a:p>
        </p:txBody>
      </p:sp>
      <p:sp>
        <p:nvSpPr>
          <p:cNvPr id="29" name="Shape 27"/>
          <p:cNvSpPr/>
          <p:nvPr/>
        </p:nvSpPr>
        <p:spPr>
          <a:xfrm>
            <a:off x="6400800" y="3063240"/>
            <a:ext cx="2651760" cy="1417320"/>
          </a:xfrm>
          <a:prstGeom prst="roundRect">
            <a:avLst>
              <a:gd name="adj" fmla="val 3871"/>
            </a:avLst>
          </a:prstGeom>
          <a:solidFill>
            <a:srgbClr val="E4E7EB"/>
          </a:solidFill>
          <a:ln w="12700">
            <a:solidFill>
              <a:srgbClr val="E4E7EB"/>
            </a:solidFill>
            <a:prstDash val="solid"/>
          </a:ln>
        </p:spPr>
      </p:sp>
      <p:sp>
        <p:nvSpPr>
          <p:cNvPr id="30" name="Shape 28"/>
          <p:cNvSpPr/>
          <p:nvPr/>
        </p:nvSpPr>
        <p:spPr>
          <a:xfrm>
            <a:off x="6537960" y="3200400"/>
            <a:ext cx="384048" cy="384048"/>
          </a:xfrm>
          <a:prstGeom prst="ellipse">
            <a:avLst/>
          </a:prstGeom>
          <a:solidFill>
            <a:srgbClr val="D9822B"/>
          </a:solidFill>
          <a:ln w="12700">
            <a:solidFill>
              <a:srgbClr val="D9822B"/>
            </a:solidFill>
            <a:prstDash val="solid"/>
          </a:ln>
        </p:spPr>
      </p:sp>
      <p:sp>
        <p:nvSpPr>
          <p:cNvPr id="31" name="Text 29"/>
          <p:cNvSpPr txBox="1"/>
          <p:nvPr/>
        </p:nvSpPr>
        <p:spPr>
          <a:xfrm>
            <a:off x="6537960" y="32004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2" name="Text 30"/>
          <p:cNvSpPr txBox="1"/>
          <p:nvPr/>
        </p:nvSpPr>
        <p:spPr>
          <a:xfrm>
            <a:off x="7022592" y="3191256"/>
            <a:ext cx="1920240" cy="41148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Name it</a:t>
            </a:r>
            <a:endParaRPr lang="en-US" sz="1300" dirty="0"/>
          </a:p>
        </p:txBody>
      </p:sp>
      <p:sp>
        <p:nvSpPr>
          <p:cNvPr id="33" name="Text 31"/>
          <p:cNvSpPr txBox="1"/>
          <p:nvPr/>
        </p:nvSpPr>
        <p:spPr>
          <a:xfrm>
            <a:off x="6537960" y="3666744"/>
            <a:ext cx="2377440" cy="731520"/>
          </a:xfrm>
          <a:prstGeom prst="rect">
            <a:avLst/>
          </a:prstGeom>
          <a:noFill/>
          <a:ln/>
        </p:spPr>
        <p:txBody>
          <a:bodyPr wrap="square" lIns="0" tIns="0" rIns="0" bIns="0" rtlCol="0" anchor="t"/>
          <a:lstStyle/>
          <a:p>
            <a:pPr indent="0" marL="0">
              <a:buNone/>
            </a:pPr>
            <a:r>
              <a:rPr lang="en-US" sz="1000" dirty="0">
                <a:solidFill>
                  <a:srgbClr val="52606D"/>
                </a:solidFill>
                <a:latin typeface="Calibri" pitchFamily="34" charset="0"/>
                <a:ea typeface="Calibri" pitchFamily="34" charset="-122"/>
                <a:cs typeface="Calibri" pitchFamily="34" charset="-120"/>
              </a:rPr>
              <a:t>Short enough to say in a channel: “that’s a Door 2 problem”, “which verb failed?”. A model without a name cannot be asked for.</a:t>
            </a:r>
            <a:endParaRPr lang="en-US" sz="1000" dirty="0"/>
          </a:p>
        </p:txBody>
      </p:sp>
      <p:sp>
        <p:nvSpPr>
          <p:cNvPr id="34" name="Text 32"/>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1100" i="1" dirty="0">
                <a:solidFill>
                  <a:srgbClr val="B86A1E"/>
                </a:solidFill>
                <a:latin typeface="Calibri" pitchFamily="34" charset="0"/>
                <a:ea typeface="Calibri" pitchFamily="34" charset="-122"/>
                <a:cs typeface="Calibri" pitchFamily="34" charset="-120"/>
              </a:rPr>
              <a:t>Done when: a number that makes no sense through one part is explained by another part — not by looking harder at the same one.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How they spread</a:t>
            </a:r>
            <a:endParaRPr lang="en-US" sz="3200" dirty="0"/>
          </a:p>
        </p:txBody>
      </p:sp>
      <p:sp>
        <p:nvSpPr>
          <p:cNvPr id="3" name="Text 1"/>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300" i="1" dirty="0">
                <a:solidFill>
                  <a:srgbClr val="52606D"/>
                </a:solidFill>
                <a:latin typeface="Calibri" pitchFamily="34" charset="0"/>
                <a:ea typeface="Calibri" pitchFamily="34" charset="-122"/>
                <a:cs typeface="Calibri" pitchFamily="34" charset="-120"/>
              </a:rPr>
              <a:t>Adoption is not a launch — it is meeting the model at the moment of need, in the tools, and in the words people use.</a:t>
            </a:r>
            <a:endParaRPr lang="en-US" sz="1300" dirty="0"/>
          </a:p>
        </p:txBody>
      </p:sp>
      <p:sp>
        <p:nvSpPr>
          <p:cNvPr id="4" name="Shape 2"/>
          <p:cNvSpPr/>
          <p:nvPr/>
        </p:nvSpPr>
        <p:spPr>
          <a:xfrm>
            <a:off x="457200" y="1371600"/>
            <a:ext cx="457200" cy="457200"/>
          </a:xfrm>
          <a:prstGeom prst="ellipse">
            <a:avLst/>
          </a:prstGeom>
          <a:solidFill>
            <a:srgbClr val="1F2933"/>
          </a:solidFill>
          <a:ln w="12700">
            <a:solidFill>
              <a:srgbClr val="1F2933"/>
            </a:solidFill>
            <a:prstDash val="solid"/>
          </a:ln>
        </p:spPr>
      </p:sp>
      <p:pic>
        <p:nvPicPr>
          <p:cNvPr id="5" name="Image 0" descr="preencoded.png">    </p:cNvPr>
          <p:cNvPicPr>
            <a:picLocks noChangeAspect="1"/>
          </p:cNvPicPr>
          <p:nvPr/>
        </p:nvPicPr>
        <p:blipFill>
          <a:blip r:embed="rId1"/>
          <a:stretch>
            <a:fillRect/>
          </a:stretch>
        </p:blipFill>
        <p:spPr>
          <a:xfrm>
            <a:off x="566928" y="1481328"/>
            <a:ext cx="237744" cy="237744"/>
          </a:xfrm>
          <a:prstGeom prst="rect">
            <a:avLst/>
          </a:prstGeom>
        </p:spPr>
      </p:pic>
      <p:sp>
        <p:nvSpPr>
          <p:cNvPr id="6" name="Text 3"/>
          <p:cNvSpPr txBox="1"/>
          <p:nvPr/>
        </p:nvSpPr>
        <p:spPr>
          <a:xfrm>
            <a:off x="1024128" y="1371600"/>
            <a:ext cx="2084832"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Meet it at the moment of need</a:t>
            </a:r>
            <a:endParaRPr lang="en-US" sz="1300" dirty="0"/>
          </a:p>
        </p:txBody>
      </p:sp>
      <p:sp>
        <p:nvSpPr>
          <p:cNvPr id="7" name="Text 4"/>
          <p:cNvSpPr txBox="1"/>
          <p:nvPr/>
        </p:nvSpPr>
        <p:spPr>
          <a:xfrm>
            <a:off x="457200" y="1920240"/>
            <a:ext cx="2651760" cy="214884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rgbClr val="52606D"/>
                </a:solidFill>
                <a:latin typeface="Calibri" pitchFamily="34" charset="0"/>
                <a:ea typeface="Calibri" pitchFamily="34" charset="-122"/>
                <a:cs typeface="Calibri" pitchFamily="34" charset="-120"/>
              </a:rPr>
              <a:t>Start Here reads Doors → Lenses → Roads on day one; the learning path says “keep it open during your first incident”.</a:t>
            </a:r>
            <a:endParaRPr lang="en-US" sz="1000" dirty="0"/>
          </a:p>
          <a:p>
            <a:pPr marL="152400" indent="-152400">
              <a:spcAft>
                <a:spcPts val="500"/>
              </a:spcAft>
              <a:buSzPct val="100000"/>
              <a:buChar char="•"/>
            </a:pPr>
            <a:r>
              <a:rPr lang="en-US" sz="1000" dirty="0">
                <a:solidFill>
                  <a:srgbClr val="52606D"/>
                </a:solidFill>
                <a:latin typeface="Calibri" pitchFamily="34" charset="0"/>
                <a:ea typeface="Calibri" pitchFamily="34" charset="-122"/>
                <a:cs typeface="Calibri" pitchFamily="34" charset="-120"/>
              </a:rPr>
              <a:t>Every runbook carries a one-line hook — “this is verb 4”, “this is Lens 1” — so the model is met on the page someone is already on.</a:t>
            </a:r>
            <a:endParaRPr lang="en-US" sz="1000" dirty="0"/>
          </a:p>
          <a:p>
            <a:pPr marL="152400" indent="-152400">
              <a:spcAft>
                <a:spcPts val="500"/>
              </a:spcAft>
              <a:buSzPct val="100000"/>
              <a:buChar char="•"/>
            </a:pPr>
            <a:r>
              <a:rPr lang="en-US" sz="1000" dirty="0">
                <a:solidFill>
                  <a:srgbClr val="52606D"/>
                </a:solidFill>
                <a:latin typeface="Calibri" pitchFamily="34" charset="0"/>
                <a:ea typeface="Calibri" pitchFamily="34" charset="-122"/>
                <a:cs typeface="Calibri" pitchFamily="34" charset="-120"/>
              </a:rPr>
              <a:t>The solutions index and the error index are the same map, indexed by task and by the string on the screen.</a:t>
            </a:r>
            <a:endParaRPr lang="en-US" sz="1000" dirty="0"/>
          </a:p>
        </p:txBody>
      </p:sp>
      <p:sp>
        <p:nvSpPr>
          <p:cNvPr id="8" name="Shape 5"/>
          <p:cNvSpPr/>
          <p:nvPr/>
        </p:nvSpPr>
        <p:spPr>
          <a:xfrm>
            <a:off x="3429000" y="1371600"/>
            <a:ext cx="457200" cy="457200"/>
          </a:xfrm>
          <a:prstGeom prst="ellipse">
            <a:avLst/>
          </a:prstGeom>
          <a:solidFill>
            <a:srgbClr val="1F2933"/>
          </a:solidFill>
          <a:ln w="12700">
            <a:solidFill>
              <a:srgbClr val="1F2933"/>
            </a:solidFill>
            <a:prstDash val="solid"/>
          </a:ln>
        </p:spPr>
      </p:sp>
      <p:pic>
        <p:nvPicPr>
          <p:cNvPr id="9" name="Image 1" descr="preencoded.png">    </p:cNvPr>
          <p:cNvPicPr>
            <a:picLocks noChangeAspect="1"/>
          </p:cNvPicPr>
          <p:nvPr/>
        </p:nvPicPr>
        <p:blipFill>
          <a:blip r:embed="rId2"/>
          <a:stretch>
            <a:fillRect/>
          </a:stretch>
        </p:blipFill>
        <p:spPr>
          <a:xfrm>
            <a:off x="3538728" y="1481328"/>
            <a:ext cx="237744" cy="237744"/>
          </a:xfrm>
          <a:prstGeom prst="rect">
            <a:avLst/>
          </a:prstGeom>
        </p:spPr>
      </p:pic>
      <p:sp>
        <p:nvSpPr>
          <p:cNvPr id="10" name="Text 6"/>
          <p:cNvSpPr txBox="1"/>
          <p:nvPr/>
        </p:nvSpPr>
        <p:spPr>
          <a:xfrm>
            <a:off x="3995928" y="1371600"/>
            <a:ext cx="2084832"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Put it in the tools</a:t>
            </a:r>
            <a:endParaRPr lang="en-US" sz="1300" dirty="0"/>
          </a:p>
        </p:txBody>
      </p:sp>
      <p:sp>
        <p:nvSpPr>
          <p:cNvPr id="11" name="Text 7"/>
          <p:cNvSpPr txBox="1"/>
          <p:nvPr/>
        </p:nvSpPr>
        <p:spPr>
          <a:xfrm>
            <a:off x="3429000" y="1920240"/>
            <a:ext cx="2651760" cy="214884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rgbClr val="52606D"/>
                </a:solidFill>
                <a:latin typeface="Calibri" pitchFamily="34" charset="0"/>
                <a:ea typeface="Calibri" pitchFamily="34" charset="-122"/>
                <a:cs typeface="Calibri" pitchFamily="34" charset="-120"/>
              </a:rPr>
              <a:t>The seat marker on every command block; verbs.sh; the two-lens query; the use-case tables — the model as something you run, not something you recall.</a:t>
            </a:r>
            <a:endParaRPr lang="en-US" sz="1000" dirty="0"/>
          </a:p>
          <a:p>
            <a:pPr marL="152400" indent="-152400">
              <a:spcAft>
                <a:spcPts val="500"/>
              </a:spcAft>
              <a:buSzPct val="100000"/>
              <a:buChar char="•"/>
            </a:pPr>
            <a:r>
              <a:rPr lang="en-US" sz="1000" dirty="0">
                <a:solidFill>
                  <a:srgbClr val="52606D"/>
                </a:solidFill>
                <a:latin typeface="Calibri" pitchFamily="34" charset="0"/>
                <a:ea typeface="Calibri" pitchFamily="34" charset="-122"/>
                <a:cs typeface="Calibri" pitchFamily="34" charset="-120"/>
              </a:rPr>
              <a:t>Derivation comments in values files, which the review checklist reads. The model becomes the review’s questions.</a:t>
            </a:r>
            <a:endParaRPr lang="en-US" sz="1000" dirty="0"/>
          </a:p>
          <a:p>
            <a:pPr marL="152400" indent="-152400">
              <a:spcAft>
                <a:spcPts val="500"/>
              </a:spcAft>
              <a:buSzPct val="100000"/>
              <a:buChar char="•"/>
            </a:pPr>
            <a:r>
              <a:rPr lang="en-US" sz="1000" dirty="0">
                <a:solidFill>
                  <a:srgbClr val="52606D"/>
                </a:solidFill>
                <a:latin typeface="Calibri" pitchFamily="34" charset="0"/>
                <a:ea typeface="Calibri" pitchFamily="34" charset="-122"/>
                <a:cs typeface="Calibri" pitchFamily="34" charset="-120"/>
              </a:rPr>
              <a:t>Habit beats slides: nobody re-reads a model page, everybody re-runs a command.</a:t>
            </a:r>
            <a:endParaRPr lang="en-US" sz="1000" dirty="0"/>
          </a:p>
        </p:txBody>
      </p:sp>
      <p:sp>
        <p:nvSpPr>
          <p:cNvPr id="12" name="Shape 8"/>
          <p:cNvSpPr/>
          <p:nvPr/>
        </p:nvSpPr>
        <p:spPr>
          <a:xfrm>
            <a:off x="6400800" y="1371600"/>
            <a:ext cx="457200" cy="457200"/>
          </a:xfrm>
          <a:prstGeom prst="ellipse">
            <a:avLst/>
          </a:prstGeom>
          <a:solidFill>
            <a:srgbClr val="1F2933"/>
          </a:solidFill>
          <a:ln w="12700">
            <a:solidFill>
              <a:srgbClr val="1F2933"/>
            </a:solidFill>
            <a:prstDash val="solid"/>
          </a:ln>
        </p:spPr>
      </p:sp>
      <p:pic>
        <p:nvPicPr>
          <p:cNvPr id="13" name="Image 2" descr="preencoded.png">    </p:cNvPr>
          <p:cNvPicPr>
            <a:picLocks noChangeAspect="1"/>
          </p:cNvPicPr>
          <p:nvPr/>
        </p:nvPicPr>
        <p:blipFill>
          <a:blip r:embed="rId3"/>
          <a:stretch>
            <a:fillRect/>
          </a:stretch>
        </p:blipFill>
        <p:spPr>
          <a:xfrm>
            <a:off x="6510528" y="1481328"/>
            <a:ext cx="237744" cy="237744"/>
          </a:xfrm>
          <a:prstGeom prst="rect">
            <a:avLst/>
          </a:prstGeom>
        </p:spPr>
      </p:pic>
      <p:sp>
        <p:nvSpPr>
          <p:cNvPr id="14" name="Text 9"/>
          <p:cNvSpPr txBox="1"/>
          <p:nvPr/>
        </p:nvSpPr>
        <p:spPr>
          <a:xfrm>
            <a:off x="6967728" y="1371600"/>
            <a:ext cx="2084832"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Speak it — with the platform team</a:t>
            </a:r>
            <a:endParaRPr lang="en-US" sz="1300" dirty="0"/>
          </a:p>
        </p:txBody>
      </p:sp>
      <p:sp>
        <p:nvSpPr>
          <p:cNvPr id="15" name="Text 10"/>
          <p:cNvSpPr txBox="1"/>
          <p:nvPr/>
        </p:nvSpPr>
        <p:spPr>
          <a:xfrm>
            <a:off x="6400800" y="1920240"/>
            <a:ext cx="2651760" cy="214884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rgbClr val="52606D"/>
                </a:solidFill>
                <a:latin typeface="Calibri" pitchFamily="34" charset="0"/>
                <a:ea typeface="Calibri" pitchFamily="34" charset="-122"/>
                <a:cs typeface="Calibri" pitchFamily="34" charset="-120"/>
              </a:rPr>
              <a:t>Incidents and reviews use the words: which door is the symptom at? which lens took that number? which verb failed?</a:t>
            </a:r>
            <a:endParaRPr lang="en-US" sz="1000" dirty="0"/>
          </a:p>
          <a:p>
            <a:pPr marL="152400" indent="-152400">
              <a:spcAft>
                <a:spcPts val="500"/>
              </a:spcAft>
              <a:buSzPct val="100000"/>
              <a:buChar char="•"/>
            </a:pPr>
            <a:r>
              <a:rPr lang="en-US" sz="1000" dirty="0">
                <a:solidFill>
                  <a:srgbClr val="52606D"/>
                </a:solidFill>
                <a:latin typeface="Calibri" pitchFamily="34" charset="0"/>
                <a:ea typeface="Calibri" pitchFamily="34" charset="-122"/>
                <a:cs typeface="Calibri" pitchFamily="34" charset="-120"/>
              </a:rPr>
              <a:t>The platform team uses the same words — the seat marker, the evidence pack — so tickets arrive in a shape they can act on, and stop coming back “works for us”.</a:t>
            </a:r>
            <a:endParaRPr lang="en-US" sz="1000" dirty="0"/>
          </a:p>
          <a:p>
            <a:pPr marL="152400" indent="-152400">
              <a:spcAft>
                <a:spcPts val="500"/>
              </a:spcAft>
              <a:buSzPct val="100000"/>
              <a:buChar char="•"/>
            </a:pPr>
            <a:r>
              <a:rPr lang="en-US" sz="1000" dirty="0">
                <a:solidFill>
                  <a:srgbClr val="52606D"/>
                </a:solidFill>
                <a:latin typeface="Calibri" pitchFamily="34" charset="0"/>
                <a:ea typeface="Calibri" pitchFamily="34" charset="-122"/>
                <a:cs typeface="Calibri" pitchFamily="34" charset="-120"/>
              </a:rPr>
              <a:t>Field notes tell the stories; each one is a gallery row, and stories are what people repeat.</a:t>
            </a:r>
            <a:endParaRPr lang="en-US" sz="1000" dirty="0"/>
          </a:p>
        </p:txBody>
      </p:sp>
      <p:sp>
        <p:nvSpPr>
          <p:cNvPr id="16" name="Shape 11"/>
          <p:cNvSpPr/>
          <p:nvPr/>
        </p:nvSpPr>
        <p:spPr>
          <a:xfrm>
            <a:off x="457200" y="4023360"/>
            <a:ext cx="8229600" cy="685800"/>
          </a:xfrm>
          <a:prstGeom prst="roundRect">
            <a:avLst>
              <a:gd name="adj" fmla="val 8000"/>
            </a:avLst>
          </a:prstGeom>
          <a:solidFill>
            <a:srgbClr val="E4E7EB"/>
          </a:solidFill>
          <a:ln w="12700">
            <a:solidFill>
              <a:srgbClr val="E4E7EB"/>
            </a:solidFill>
            <a:prstDash val="solid"/>
          </a:ln>
        </p:spPr>
      </p:sp>
      <p:pic>
        <p:nvPicPr>
          <p:cNvPr id="17" name="Image 3" descr="preencoded.png">    </p:cNvPr>
          <p:cNvPicPr>
            <a:picLocks noChangeAspect="1"/>
          </p:cNvPicPr>
          <p:nvPr/>
        </p:nvPicPr>
        <p:blipFill>
          <a:blip r:embed="rId4"/>
          <a:stretch>
            <a:fillRect/>
          </a:stretch>
        </p:blipFill>
        <p:spPr>
          <a:xfrm>
            <a:off x="594360" y="4178808"/>
            <a:ext cx="365760" cy="365760"/>
          </a:xfrm>
          <a:prstGeom prst="rect">
            <a:avLst/>
          </a:prstGeom>
        </p:spPr>
      </p:pic>
      <p:sp>
        <p:nvSpPr>
          <p:cNvPr id="18" name="Text 12"/>
          <p:cNvSpPr txBox="1"/>
          <p:nvPr/>
        </p:nvSpPr>
        <p:spPr>
          <a:xfrm>
            <a:off x="1097280" y="4069080"/>
            <a:ext cx="7452360" cy="59436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How you know it is working: </a:t>
            </a:r>
            <a:pPr indent="0" marL="0">
              <a:buNone/>
            </a:pPr>
            <a:r>
              <a:rPr lang="en-US" sz="1050" dirty="0">
                <a:solidFill>
                  <a:srgbClr val="52606D"/>
                </a:solidFill>
                <a:latin typeface="Calibri" pitchFamily="34" charset="0"/>
                <a:ea typeface="Calibri" pitchFamily="34" charset="-122"/>
                <a:cs typeface="Calibri" pitchFamily="34" charset="-120"/>
              </a:rPr>
              <a:t>people say the names unprompted · the first command in an incident is the right one · platform tickets stop bouncing · a new engineer’s first incident starts at step three, not step zero.</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Examples: three models and a tactical layer</a:t>
            </a:r>
            <a:endParaRPr lang="en-US" sz="3200" dirty="0"/>
          </a:p>
        </p:txBody>
      </p:sp>
      <p:sp>
        <p:nvSpPr>
          <p:cNvPr id="3" name="Text 1"/>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300" i="1" dirty="0">
                <a:solidFill>
                  <a:srgbClr val="52606D"/>
                </a:solidFill>
                <a:latin typeface="Calibri" pitchFamily="34" charset="0"/>
                <a:ea typeface="Calibri" pitchFamily="34" charset="-122"/>
                <a:cs typeface="Calibri" pitchFamily="34" charset="-120"/>
              </a:rPr>
              <a:t>All four are on the site today — each with its gallery, and each with its commands.</a:t>
            </a:r>
            <a:endParaRPr lang="en-US" sz="1300" dirty="0"/>
          </a:p>
        </p:txBody>
      </p:sp>
      <p:sp>
        <p:nvSpPr>
          <p:cNvPr id="4" name="Shape 2"/>
          <p:cNvSpPr/>
          <p:nvPr/>
        </p:nvSpPr>
        <p:spPr>
          <a:xfrm>
            <a:off x="457200" y="1371600"/>
            <a:ext cx="1965960" cy="3429000"/>
          </a:xfrm>
          <a:prstGeom prst="roundRect">
            <a:avLst>
              <a:gd name="adj" fmla="val 2791"/>
            </a:avLst>
          </a:prstGeom>
          <a:solidFill>
            <a:srgbClr val="E4E7EB"/>
          </a:solidFill>
          <a:ln w="12700">
            <a:solidFill>
              <a:srgbClr val="E4E7EB"/>
            </a:solidFill>
            <a:prstDash val="solid"/>
          </a:ln>
        </p:spPr>
      </p:sp>
      <p:sp>
        <p:nvSpPr>
          <p:cNvPr id="5" name="Shape 3"/>
          <p:cNvSpPr/>
          <p:nvPr/>
        </p:nvSpPr>
        <p:spPr>
          <a:xfrm>
            <a:off x="594360" y="1508760"/>
            <a:ext cx="438912" cy="438912"/>
          </a:xfrm>
          <a:prstGeom prst="ellipse">
            <a:avLst/>
          </a:prstGeom>
          <a:solidFill>
            <a:srgbClr val="1F2933"/>
          </a:solidFill>
          <a:ln w="12700">
            <a:solidFill>
              <a:srgbClr val="1F2933"/>
            </a:solidFill>
            <a:prstDash val="solid"/>
          </a:ln>
        </p:spPr>
      </p:sp>
      <p:pic>
        <p:nvPicPr>
          <p:cNvPr id="6" name="Image 0" descr="preencoded.png">    </p:cNvPr>
          <p:cNvPicPr>
            <a:picLocks noChangeAspect="1"/>
          </p:cNvPicPr>
          <p:nvPr/>
        </p:nvPicPr>
        <p:blipFill>
          <a:blip r:embed="rId1"/>
          <a:stretch>
            <a:fillRect/>
          </a:stretch>
        </p:blipFill>
        <p:spPr>
          <a:xfrm>
            <a:off x="699699" y="1614099"/>
            <a:ext cx="228234" cy="228234"/>
          </a:xfrm>
          <a:prstGeom prst="rect">
            <a:avLst/>
          </a:prstGeom>
        </p:spPr>
      </p:pic>
      <p:sp>
        <p:nvSpPr>
          <p:cNvPr id="7" name="Text 4"/>
          <p:cNvSpPr txBox="1"/>
          <p:nvPr/>
        </p:nvSpPr>
        <p:spPr>
          <a:xfrm>
            <a:off x="1115568" y="1481328"/>
            <a:ext cx="1234440"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The Three Doors</a:t>
            </a:r>
            <a:endParaRPr lang="en-US" sz="1250" dirty="0"/>
          </a:p>
        </p:txBody>
      </p:sp>
      <p:sp>
        <p:nvSpPr>
          <p:cNvPr id="8" name="Text 5"/>
          <p:cNvSpPr txBox="1"/>
          <p:nvPr/>
        </p:nvSpPr>
        <p:spPr>
          <a:xfrm>
            <a:off x="1115568" y="1737360"/>
            <a:ext cx="1234440" cy="228600"/>
          </a:xfrm>
          <a:prstGeom prst="rect">
            <a:avLst/>
          </a:prstGeom>
          <a:noFill/>
          <a:ln/>
        </p:spPr>
        <p:txBody>
          <a:bodyPr wrap="square" lIns="0" tIns="0" rIns="0" bIns="0" rtlCol="0" anchor="ctr"/>
          <a:lstStyle/>
          <a:p>
            <a:pPr indent="0" marL="0">
              <a:buNone/>
            </a:pPr>
            <a:r>
              <a:rPr lang="en-US" sz="1000" i="1" dirty="0">
                <a:solidFill>
                  <a:srgbClr val="B86A1E"/>
                </a:solidFill>
                <a:latin typeface="Calibri" pitchFamily="34" charset="0"/>
                <a:ea typeface="Calibri" pitchFamily="34" charset="-122"/>
                <a:cs typeface="Calibri" pitchFamily="34" charset="-120"/>
              </a:rPr>
              <a:t>what you set</a:t>
            </a:r>
            <a:endParaRPr lang="en-US" sz="1000" dirty="0"/>
          </a:p>
        </p:txBody>
      </p:sp>
      <p:sp>
        <p:nvSpPr>
          <p:cNvPr id="9" name="Text 6"/>
          <p:cNvSpPr txBox="1"/>
          <p:nvPr/>
        </p:nvSpPr>
        <p:spPr>
          <a:xfrm>
            <a:off x="594360" y="2084832"/>
            <a:ext cx="1691640" cy="1234440"/>
          </a:xfrm>
          <a:prstGeom prst="rect">
            <a:avLst/>
          </a:prstGeom>
          <a:noFill/>
          <a:ln/>
        </p:spPr>
        <p:txBody>
          <a:bodyPr wrap="square" lIns="0" tIns="0" rIns="0" bIns="0" rtlCol="0" anchor="t"/>
          <a:lstStyle/>
          <a:p>
            <a:pPr indent="0" marL="0">
              <a:buNone/>
            </a:pPr>
            <a:r>
              <a:rPr lang="en-US" sz="950" dirty="0">
                <a:solidFill>
                  <a:srgbClr val="52606D"/>
                </a:solidFill>
                <a:latin typeface="Calibri" pitchFamily="34" charset="0"/>
                <a:ea typeface="Calibri" pitchFamily="34" charset="-122"/>
                <a:cs typeface="Calibri" pitchFamily="34" charset="-120"/>
              </a:rPr>
              <a:t>Cost · Truth · Response — one loop. Requests price the loop, probes tell the truth, scaling responds; each door’s output is the next door’s input.</a:t>
            </a:r>
            <a:endParaRPr lang="en-US" sz="950" dirty="0"/>
          </a:p>
        </p:txBody>
      </p:sp>
      <p:sp>
        <p:nvSpPr>
          <p:cNvPr id="10" name="Text 7"/>
          <p:cNvSpPr txBox="1"/>
          <p:nvPr/>
        </p:nvSpPr>
        <p:spPr>
          <a:xfrm>
            <a:off x="594360" y="3337560"/>
            <a:ext cx="1691640" cy="685800"/>
          </a:xfrm>
          <a:prstGeom prst="rect">
            <a:avLst/>
          </a:prstGeom>
          <a:noFill/>
          <a:ln/>
        </p:spPr>
        <p:txBody>
          <a:bodyPr wrap="square" lIns="0" tIns="0" rIns="0" bIns="0" rtlCol="0" anchor="t"/>
          <a:lstStyle/>
          <a:p>
            <a:pPr indent="0" marL="0">
              <a:buNone/>
            </a:pPr>
            <a:r>
              <a:rPr lang="en-US" sz="950" i="1" dirty="0">
                <a:solidFill>
                  <a:srgbClr val="1F2933"/>
                </a:solidFill>
                <a:latin typeface="Calibri" pitchFamily="34" charset="0"/>
                <a:ea typeface="Calibri" pitchFamily="34" charset="-122"/>
                <a:cs typeface="Calibri" pitchFamily="34" charset="-120"/>
              </a:rPr>
              <a:t>“A CPU limit costs you latency; a memory limit costs you the process.”</a:t>
            </a:r>
            <a:endParaRPr lang="en-US" sz="950" dirty="0"/>
          </a:p>
        </p:txBody>
      </p:sp>
      <p:sp>
        <p:nvSpPr>
          <p:cNvPr id="11" name="Text 8"/>
          <p:cNvSpPr txBox="1"/>
          <p:nvPr/>
        </p:nvSpPr>
        <p:spPr>
          <a:xfrm>
            <a:off x="594360" y="4069080"/>
            <a:ext cx="1691640" cy="640080"/>
          </a:xfrm>
          <a:prstGeom prst="rect">
            <a:avLst/>
          </a:prstGeom>
          <a:noFill/>
          <a:ln/>
        </p:spPr>
        <p:txBody>
          <a:bodyPr wrap="square" lIns="0" tIns="0" rIns="0" bIns="0" rtlCol="0" anchor="t"/>
          <a:lstStyle/>
          <a:p>
            <a:pPr indent="0" marL="0">
              <a:buNone/>
            </a:pPr>
            <a:r>
              <a:rPr lang="en-US" sz="950" b="1" dirty="0">
                <a:solidFill>
                  <a:srgbClr val="1F2933"/>
                </a:solidFill>
                <a:latin typeface="Calibri" pitchFamily="34" charset="0"/>
                <a:ea typeface="Calibri" pitchFamily="34" charset="-122"/>
                <a:cs typeface="Calibri" pitchFamily="34" charset="-120"/>
              </a:rPr>
              <a:t>Tactic: </a:t>
            </a:r>
            <a:pPr indent="0" marL="0">
              <a:buNone/>
            </a:pPr>
            <a:r>
              <a:rPr lang="en-US" sz="950" dirty="0">
                <a:solidFill>
                  <a:srgbClr val="52606D"/>
                </a:solidFill>
                <a:latin typeface="Calibri" pitchFamily="34" charset="0"/>
                <a:ea typeface="Calibri" pitchFamily="34" charset="-122"/>
                <a:cs typeface="Calibri" pitchFamily="34" charset="-120"/>
              </a:rPr>
              <a:t>Walk the doors in every review; the triage method is the loop in reverse.</a:t>
            </a:r>
            <a:endParaRPr lang="en-US" sz="950" dirty="0"/>
          </a:p>
        </p:txBody>
      </p:sp>
      <p:sp>
        <p:nvSpPr>
          <p:cNvPr id="12" name="Shape 9"/>
          <p:cNvSpPr/>
          <p:nvPr/>
        </p:nvSpPr>
        <p:spPr>
          <a:xfrm>
            <a:off x="2542032" y="1371600"/>
            <a:ext cx="1965960" cy="3429000"/>
          </a:xfrm>
          <a:prstGeom prst="roundRect">
            <a:avLst>
              <a:gd name="adj" fmla="val 2791"/>
            </a:avLst>
          </a:prstGeom>
          <a:solidFill>
            <a:srgbClr val="E4E7EB"/>
          </a:solidFill>
          <a:ln w="12700">
            <a:solidFill>
              <a:srgbClr val="E4E7EB"/>
            </a:solidFill>
            <a:prstDash val="solid"/>
          </a:ln>
        </p:spPr>
      </p:sp>
      <p:sp>
        <p:nvSpPr>
          <p:cNvPr id="13" name="Shape 10"/>
          <p:cNvSpPr/>
          <p:nvPr/>
        </p:nvSpPr>
        <p:spPr>
          <a:xfrm>
            <a:off x="2679192" y="1508760"/>
            <a:ext cx="438912" cy="438912"/>
          </a:xfrm>
          <a:prstGeom prst="ellipse">
            <a:avLst/>
          </a:prstGeom>
          <a:solidFill>
            <a:srgbClr val="1F2933"/>
          </a:solidFill>
          <a:ln w="12700">
            <a:solidFill>
              <a:srgbClr val="1F2933"/>
            </a:solidFill>
            <a:prstDash val="solid"/>
          </a:ln>
        </p:spPr>
      </p:sp>
      <p:pic>
        <p:nvPicPr>
          <p:cNvPr id="14" name="Image 1" descr="preencoded.png">    </p:cNvPr>
          <p:cNvPicPr>
            <a:picLocks noChangeAspect="1"/>
          </p:cNvPicPr>
          <p:nvPr/>
        </p:nvPicPr>
        <p:blipFill>
          <a:blip r:embed="rId2"/>
          <a:stretch>
            <a:fillRect/>
          </a:stretch>
        </p:blipFill>
        <p:spPr>
          <a:xfrm>
            <a:off x="2784531" y="1614099"/>
            <a:ext cx="228234" cy="228234"/>
          </a:xfrm>
          <a:prstGeom prst="rect">
            <a:avLst/>
          </a:prstGeom>
        </p:spPr>
      </p:pic>
      <p:sp>
        <p:nvSpPr>
          <p:cNvPr id="15" name="Text 11"/>
          <p:cNvSpPr txBox="1"/>
          <p:nvPr/>
        </p:nvSpPr>
        <p:spPr>
          <a:xfrm>
            <a:off x="3200400" y="1481328"/>
            <a:ext cx="1234440"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The Three Lenses</a:t>
            </a:r>
            <a:endParaRPr lang="en-US" sz="1250" dirty="0"/>
          </a:p>
        </p:txBody>
      </p:sp>
      <p:sp>
        <p:nvSpPr>
          <p:cNvPr id="16" name="Text 12"/>
          <p:cNvSpPr txBox="1"/>
          <p:nvPr/>
        </p:nvSpPr>
        <p:spPr>
          <a:xfrm>
            <a:off x="3200400" y="1737360"/>
            <a:ext cx="1234440" cy="228600"/>
          </a:xfrm>
          <a:prstGeom prst="rect">
            <a:avLst/>
          </a:prstGeom>
          <a:noFill/>
          <a:ln/>
        </p:spPr>
        <p:txBody>
          <a:bodyPr wrap="square" lIns="0" tIns="0" rIns="0" bIns="0" rtlCol="0" anchor="ctr"/>
          <a:lstStyle/>
          <a:p>
            <a:pPr indent="0" marL="0">
              <a:buNone/>
            </a:pPr>
            <a:r>
              <a:rPr lang="en-US" sz="1000" i="1" dirty="0">
                <a:solidFill>
                  <a:srgbClr val="B86A1E"/>
                </a:solidFill>
                <a:latin typeface="Calibri" pitchFamily="34" charset="0"/>
                <a:ea typeface="Calibri" pitchFamily="34" charset="-122"/>
                <a:cs typeface="Calibri" pitchFamily="34" charset="-120"/>
              </a:rPr>
              <a:t>what you measure</a:t>
            </a:r>
            <a:endParaRPr lang="en-US" sz="1000" dirty="0"/>
          </a:p>
        </p:txBody>
      </p:sp>
      <p:sp>
        <p:nvSpPr>
          <p:cNvPr id="17" name="Text 13"/>
          <p:cNvSpPr txBox="1"/>
          <p:nvPr/>
        </p:nvSpPr>
        <p:spPr>
          <a:xfrm>
            <a:off x="2679192" y="2084832"/>
            <a:ext cx="1691640" cy="1234440"/>
          </a:xfrm>
          <a:prstGeom prst="rect">
            <a:avLst/>
          </a:prstGeom>
          <a:noFill/>
          <a:ln/>
        </p:spPr>
        <p:txBody>
          <a:bodyPr wrap="square" lIns="0" tIns="0" rIns="0" bIns="0" rtlCol="0" anchor="t"/>
          <a:lstStyle/>
          <a:p>
            <a:pPr indent="0" marL="0">
              <a:buNone/>
            </a:pPr>
            <a:r>
              <a:rPr lang="en-US" sz="950" dirty="0">
                <a:solidFill>
                  <a:srgbClr val="52606D"/>
                </a:solidFill>
                <a:latin typeface="Calibri" pitchFamily="34" charset="0"/>
                <a:ea typeface="Calibri" pitchFamily="34" charset="-122"/>
                <a:cs typeface="Calibri" pitchFamily="34" charset="-120"/>
              </a:rPr>
              <a:t>Cost · Report · Interrogation — one zoom. The cluster’s ledger, the process’s self-report, the inside view; each lens’s blind spot is the next lens’s field of view.</a:t>
            </a:r>
            <a:endParaRPr lang="en-US" sz="950" dirty="0"/>
          </a:p>
        </p:txBody>
      </p:sp>
      <p:sp>
        <p:nvSpPr>
          <p:cNvPr id="18" name="Text 14"/>
          <p:cNvSpPr txBox="1"/>
          <p:nvPr/>
        </p:nvSpPr>
        <p:spPr>
          <a:xfrm>
            <a:off x="2679192" y="3337560"/>
            <a:ext cx="1691640" cy="685800"/>
          </a:xfrm>
          <a:prstGeom prst="rect">
            <a:avLst/>
          </a:prstGeom>
          <a:noFill/>
          <a:ln/>
        </p:spPr>
        <p:txBody>
          <a:bodyPr wrap="square" lIns="0" tIns="0" rIns="0" bIns="0" rtlCol="0" anchor="t"/>
          <a:lstStyle/>
          <a:p>
            <a:pPr indent="0" marL="0">
              <a:buNone/>
            </a:pPr>
            <a:r>
              <a:rPr lang="en-US" sz="950" i="1" dirty="0">
                <a:solidFill>
                  <a:srgbClr val="1F2933"/>
                </a:solidFill>
                <a:latin typeface="Calibri" pitchFamily="34" charset="0"/>
                <a:ea typeface="Calibri" pitchFamily="34" charset="-122"/>
                <a:cs typeface="Calibri" pitchFamily="34" charset="-120"/>
              </a:rPr>
              <a:t>“A correct number read through the wrong lens is the most common misdiagnosis on the cluster.”</a:t>
            </a:r>
            <a:endParaRPr lang="en-US" sz="950" dirty="0"/>
          </a:p>
        </p:txBody>
      </p:sp>
      <p:sp>
        <p:nvSpPr>
          <p:cNvPr id="19" name="Text 15"/>
          <p:cNvSpPr txBox="1"/>
          <p:nvPr/>
        </p:nvSpPr>
        <p:spPr>
          <a:xfrm>
            <a:off x="2679192" y="4069080"/>
            <a:ext cx="1691640" cy="640080"/>
          </a:xfrm>
          <a:prstGeom prst="rect">
            <a:avLst/>
          </a:prstGeom>
          <a:noFill/>
          <a:ln/>
        </p:spPr>
        <p:txBody>
          <a:bodyPr wrap="square" lIns="0" tIns="0" rIns="0" bIns="0" rtlCol="0" anchor="t"/>
          <a:lstStyle/>
          <a:p>
            <a:pPr indent="0" marL="0">
              <a:buNone/>
            </a:pPr>
            <a:r>
              <a:rPr lang="en-US" sz="950" b="1" dirty="0">
                <a:solidFill>
                  <a:srgbClr val="1F2933"/>
                </a:solidFill>
                <a:latin typeface="Calibri" pitchFamily="34" charset="0"/>
                <a:ea typeface="Calibri" pitchFamily="34" charset="-122"/>
                <a:cs typeface="Calibri" pitchFamily="34" charset="-120"/>
              </a:rPr>
              <a:t>Tactic: </a:t>
            </a:r>
            <a:pPr indent="0" marL="0">
              <a:buNone/>
            </a:pPr>
            <a:r>
              <a:rPr lang="en-US" sz="950" dirty="0">
                <a:solidFill>
                  <a:srgbClr val="52606D"/>
                </a:solidFill>
                <a:latin typeface="Calibri" pitchFamily="34" charset="0"/>
                <a:ea typeface="Calibri" pitchFamily="34" charset="-122"/>
                <a:cs typeface="Calibri" pitchFamily="34" charset="-120"/>
              </a:rPr>
              <a:t>The two-lens query: working set minus heap = the native footprint.</a:t>
            </a:r>
            <a:endParaRPr lang="en-US" sz="950" dirty="0"/>
          </a:p>
        </p:txBody>
      </p:sp>
      <p:sp>
        <p:nvSpPr>
          <p:cNvPr id="20" name="Shape 16"/>
          <p:cNvSpPr/>
          <p:nvPr/>
        </p:nvSpPr>
        <p:spPr>
          <a:xfrm>
            <a:off x="4626864" y="1371600"/>
            <a:ext cx="1965960" cy="3429000"/>
          </a:xfrm>
          <a:prstGeom prst="roundRect">
            <a:avLst>
              <a:gd name="adj" fmla="val 2791"/>
            </a:avLst>
          </a:prstGeom>
          <a:solidFill>
            <a:srgbClr val="E4E7EB"/>
          </a:solidFill>
          <a:ln w="12700">
            <a:solidFill>
              <a:srgbClr val="E4E7EB"/>
            </a:solidFill>
            <a:prstDash val="solid"/>
          </a:ln>
        </p:spPr>
      </p:sp>
      <p:sp>
        <p:nvSpPr>
          <p:cNvPr id="21" name="Shape 17"/>
          <p:cNvSpPr/>
          <p:nvPr/>
        </p:nvSpPr>
        <p:spPr>
          <a:xfrm>
            <a:off x="4764024" y="1508760"/>
            <a:ext cx="438912" cy="438912"/>
          </a:xfrm>
          <a:prstGeom prst="ellipse">
            <a:avLst/>
          </a:prstGeom>
          <a:solidFill>
            <a:srgbClr val="1F2933"/>
          </a:solidFill>
          <a:ln w="12700">
            <a:solidFill>
              <a:srgbClr val="1F2933"/>
            </a:solidFill>
            <a:prstDash val="solid"/>
          </a:ln>
        </p:spPr>
      </p:sp>
      <p:pic>
        <p:nvPicPr>
          <p:cNvPr id="22" name="Image 2" descr="preencoded.png">    </p:cNvPr>
          <p:cNvPicPr>
            <a:picLocks noChangeAspect="1"/>
          </p:cNvPicPr>
          <p:nvPr/>
        </p:nvPicPr>
        <p:blipFill>
          <a:blip r:embed="rId3"/>
          <a:stretch>
            <a:fillRect/>
          </a:stretch>
        </p:blipFill>
        <p:spPr>
          <a:xfrm>
            <a:off x="4869363" y="1614099"/>
            <a:ext cx="228234" cy="228234"/>
          </a:xfrm>
          <a:prstGeom prst="rect">
            <a:avLst/>
          </a:prstGeom>
        </p:spPr>
      </p:pic>
      <p:sp>
        <p:nvSpPr>
          <p:cNvPr id="23" name="Text 18"/>
          <p:cNvSpPr txBox="1"/>
          <p:nvPr/>
        </p:nvSpPr>
        <p:spPr>
          <a:xfrm>
            <a:off x="5285232" y="1481328"/>
            <a:ext cx="1234440"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The Two Roads</a:t>
            </a:r>
            <a:endParaRPr lang="en-US" sz="1250" dirty="0"/>
          </a:p>
        </p:txBody>
      </p:sp>
      <p:sp>
        <p:nvSpPr>
          <p:cNvPr id="24" name="Text 19"/>
          <p:cNvSpPr txBox="1"/>
          <p:nvPr/>
        </p:nvSpPr>
        <p:spPr>
          <a:xfrm>
            <a:off x="5285232" y="1737360"/>
            <a:ext cx="1234440" cy="228600"/>
          </a:xfrm>
          <a:prstGeom prst="rect">
            <a:avLst/>
          </a:prstGeom>
          <a:noFill/>
          <a:ln/>
        </p:spPr>
        <p:txBody>
          <a:bodyPr wrap="square" lIns="0" tIns="0" rIns="0" bIns="0" rtlCol="0" anchor="ctr"/>
          <a:lstStyle/>
          <a:p>
            <a:pPr indent="0" marL="0">
              <a:buNone/>
            </a:pPr>
            <a:r>
              <a:rPr lang="en-US" sz="1000" i="1" dirty="0">
                <a:solidFill>
                  <a:srgbClr val="B86A1E"/>
                </a:solidFill>
                <a:latin typeface="Calibri" pitchFamily="34" charset="0"/>
                <a:ea typeface="Calibri" pitchFamily="34" charset="-122"/>
                <a:cs typeface="Calibri" pitchFamily="34" charset="-120"/>
              </a:rPr>
              <a:t>where you look</a:t>
            </a:r>
            <a:endParaRPr lang="en-US" sz="1000" dirty="0"/>
          </a:p>
        </p:txBody>
      </p:sp>
      <p:sp>
        <p:nvSpPr>
          <p:cNvPr id="25" name="Text 20"/>
          <p:cNvSpPr txBox="1"/>
          <p:nvPr/>
        </p:nvSpPr>
        <p:spPr>
          <a:xfrm>
            <a:off x="4764024" y="2084832"/>
            <a:ext cx="1691640" cy="1234440"/>
          </a:xfrm>
          <a:prstGeom prst="rect">
            <a:avLst/>
          </a:prstGeom>
          <a:noFill/>
          <a:ln/>
        </p:spPr>
        <p:txBody>
          <a:bodyPr wrap="square" lIns="0" tIns="0" rIns="0" bIns="0" rtlCol="0" anchor="t"/>
          <a:lstStyle/>
          <a:p>
            <a:pPr indent="0" marL="0">
              <a:buNone/>
            </a:pPr>
            <a:r>
              <a:rPr lang="en-US" sz="950" dirty="0">
                <a:solidFill>
                  <a:srgbClr val="52606D"/>
                </a:solidFill>
                <a:latin typeface="Calibri" pitchFamily="34" charset="0"/>
                <a:ea typeface="Calibri" pitchFamily="34" charset="-122"/>
                <a:cs typeface="Calibri" pitchFamily="34" charset="-120"/>
              </a:rPr>
              <a:t>Five verbs down (admit, schedule, start, route, kill — each writes its reason in one place); five hops across, bisected; a ladder from wherever you stopped.</a:t>
            </a:r>
            <a:endParaRPr lang="en-US" sz="950" dirty="0"/>
          </a:p>
        </p:txBody>
      </p:sp>
      <p:sp>
        <p:nvSpPr>
          <p:cNvPr id="26" name="Text 21"/>
          <p:cNvSpPr txBox="1"/>
          <p:nvPr/>
        </p:nvSpPr>
        <p:spPr>
          <a:xfrm>
            <a:off x="4764024" y="3337560"/>
            <a:ext cx="1691640" cy="685800"/>
          </a:xfrm>
          <a:prstGeom prst="rect">
            <a:avLst/>
          </a:prstGeom>
          <a:noFill/>
          <a:ln/>
        </p:spPr>
        <p:txBody>
          <a:bodyPr wrap="square" lIns="0" tIns="0" rIns="0" bIns="0" rtlCol="0" anchor="t"/>
          <a:lstStyle/>
          <a:p>
            <a:pPr indent="0" marL="0">
              <a:buNone/>
            </a:pPr>
            <a:r>
              <a:rPr lang="en-US" sz="950" i="1" dirty="0">
                <a:solidFill>
                  <a:srgbClr val="1F2933"/>
                </a:solidFill>
                <a:latin typeface="Calibri" pitchFamily="34" charset="0"/>
                <a:ea typeface="Calibri" pitchFamily="34" charset="-122"/>
                <a:cs typeface="Calibri" pitchFamily="34" charset="-120"/>
              </a:rPr>
              <a:t>“The rung below never lies about the rung above.”</a:t>
            </a:r>
            <a:endParaRPr lang="en-US" sz="950" dirty="0"/>
          </a:p>
        </p:txBody>
      </p:sp>
      <p:sp>
        <p:nvSpPr>
          <p:cNvPr id="27" name="Text 22"/>
          <p:cNvSpPr txBox="1"/>
          <p:nvPr/>
        </p:nvSpPr>
        <p:spPr>
          <a:xfrm>
            <a:off x="4764024" y="4069080"/>
            <a:ext cx="1691640" cy="640080"/>
          </a:xfrm>
          <a:prstGeom prst="rect">
            <a:avLst/>
          </a:prstGeom>
          <a:noFill/>
          <a:ln/>
        </p:spPr>
        <p:txBody>
          <a:bodyPr wrap="square" lIns="0" tIns="0" rIns="0" bIns="0" rtlCol="0" anchor="t"/>
          <a:lstStyle/>
          <a:p>
            <a:pPr indent="0" marL="0">
              <a:buNone/>
            </a:pPr>
            <a:r>
              <a:rPr lang="en-US" sz="950" b="1" dirty="0">
                <a:solidFill>
                  <a:srgbClr val="1F2933"/>
                </a:solidFill>
                <a:latin typeface="Calibri" pitchFamily="34" charset="0"/>
                <a:ea typeface="Calibri" pitchFamily="34" charset="-122"/>
                <a:cs typeface="Calibri" pitchFamily="34" charset="-120"/>
              </a:rPr>
              <a:t>Tactic: </a:t>
            </a:r>
            <a:pPr indent="0" marL="0">
              <a:buNone/>
            </a:pPr>
            <a:r>
              <a:rPr lang="en-US" sz="950" dirty="0">
                <a:solidFill>
                  <a:srgbClr val="52606D"/>
                </a:solidFill>
                <a:latin typeface="Calibri" pitchFamily="34" charset="0"/>
                <a:ea typeface="Calibri" pitchFamily="34" charset="-122"/>
                <a:cs typeface="Calibri" pitchFamily="34" charset="-120"/>
              </a:rPr>
              <a:t>verbs.sh — which verb failed, one line per pod; the three-point bisect.</a:t>
            </a:r>
            <a:endParaRPr lang="en-US" sz="950" dirty="0"/>
          </a:p>
        </p:txBody>
      </p:sp>
      <p:sp>
        <p:nvSpPr>
          <p:cNvPr id="28" name="Shape 23"/>
          <p:cNvSpPr/>
          <p:nvPr/>
        </p:nvSpPr>
        <p:spPr>
          <a:xfrm>
            <a:off x="6711696" y="1371600"/>
            <a:ext cx="1965960" cy="3429000"/>
          </a:xfrm>
          <a:prstGeom prst="roundRect">
            <a:avLst>
              <a:gd name="adj" fmla="val 2791"/>
            </a:avLst>
          </a:prstGeom>
          <a:solidFill>
            <a:srgbClr val="E4E7EB"/>
          </a:solidFill>
          <a:ln w="12700">
            <a:solidFill>
              <a:srgbClr val="E4E7EB"/>
            </a:solidFill>
            <a:prstDash val="solid"/>
          </a:ln>
        </p:spPr>
      </p:sp>
      <p:sp>
        <p:nvSpPr>
          <p:cNvPr id="29" name="Shape 24"/>
          <p:cNvSpPr/>
          <p:nvPr/>
        </p:nvSpPr>
        <p:spPr>
          <a:xfrm>
            <a:off x="6848856" y="1508760"/>
            <a:ext cx="438912" cy="438912"/>
          </a:xfrm>
          <a:prstGeom prst="ellipse">
            <a:avLst/>
          </a:prstGeom>
          <a:solidFill>
            <a:srgbClr val="D9822B"/>
          </a:solidFill>
          <a:ln w="12700">
            <a:solidFill>
              <a:srgbClr val="D9822B"/>
            </a:solidFill>
            <a:prstDash val="solid"/>
          </a:ln>
        </p:spPr>
      </p:sp>
      <p:pic>
        <p:nvPicPr>
          <p:cNvPr id="30" name="Image 3" descr="preencoded.png">    </p:cNvPr>
          <p:cNvPicPr>
            <a:picLocks noChangeAspect="1"/>
          </p:cNvPicPr>
          <p:nvPr/>
        </p:nvPicPr>
        <p:blipFill>
          <a:blip r:embed="rId4"/>
          <a:stretch>
            <a:fillRect/>
          </a:stretch>
        </p:blipFill>
        <p:spPr>
          <a:xfrm>
            <a:off x="6954195" y="1614099"/>
            <a:ext cx="228234" cy="228234"/>
          </a:xfrm>
          <a:prstGeom prst="rect">
            <a:avLst/>
          </a:prstGeom>
        </p:spPr>
      </p:pic>
      <p:sp>
        <p:nvSpPr>
          <p:cNvPr id="31" name="Text 25"/>
          <p:cNvSpPr txBox="1"/>
          <p:nvPr/>
        </p:nvSpPr>
        <p:spPr>
          <a:xfrm>
            <a:off x="7370064" y="1481328"/>
            <a:ext cx="1234440"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The Use Cases</a:t>
            </a:r>
            <a:endParaRPr lang="en-US" sz="1250" dirty="0"/>
          </a:p>
        </p:txBody>
      </p:sp>
      <p:sp>
        <p:nvSpPr>
          <p:cNvPr id="32" name="Text 26"/>
          <p:cNvSpPr txBox="1"/>
          <p:nvPr/>
        </p:nvSpPr>
        <p:spPr>
          <a:xfrm>
            <a:off x="7370064" y="1737360"/>
            <a:ext cx="1234440" cy="228600"/>
          </a:xfrm>
          <a:prstGeom prst="rect">
            <a:avLst/>
          </a:prstGeom>
          <a:noFill/>
          <a:ln/>
        </p:spPr>
        <p:txBody>
          <a:bodyPr wrap="square" lIns="0" tIns="0" rIns="0" bIns="0" rtlCol="0" anchor="ctr"/>
          <a:lstStyle/>
          <a:p>
            <a:pPr indent="0" marL="0">
              <a:buNone/>
            </a:pPr>
            <a:r>
              <a:rPr lang="en-US" sz="1000" i="1" dirty="0">
                <a:solidFill>
                  <a:srgbClr val="B86A1E"/>
                </a:solidFill>
                <a:latin typeface="Calibri" pitchFamily="34" charset="0"/>
                <a:ea typeface="Calibri" pitchFamily="34" charset="-122"/>
                <a:cs typeface="Calibri" pitchFamily="34" charset="-120"/>
              </a:rPr>
              <a:t>what you type</a:t>
            </a:r>
            <a:endParaRPr lang="en-US" sz="1000" dirty="0"/>
          </a:p>
        </p:txBody>
      </p:sp>
      <p:sp>
        <p:nvSpPr>
          <p:cNvPr id="33" name="Text 27"/>
          <p:cNvSpPr txBox="1"/>
          <p:nvPr/>
        </p:nvSpPr>
        <p:spPr>
          <a:xfrm>
            <a:off x="6848856" y="2084832"/>
            <a:ext cx="1691640" cy="1234440"/>
          </a:xfrm>
          <a:prstGeom prst="rect">
            <a:avLst/>
          </a:prstGeom>
          <a:noFill/>
          <a:ln/>
        </p:spPr>
        <p:txBody>
          <a:bodyPr wrap="square" lIns="0" tIns="0" rIns="0" bIns="0" rtlCol="0" anchor="t"/>
          <a:lstStyle/>
          <a:p>
            <a:pPr indent="0" marL="0">
              <a:buNone/>
            </a:pPr>
            <a:r>
              <a:rPr lang="en-US" sz="950" dirty="0">
                <a:solidFill>
                  <a:srgbClr val="52606D"/>
                </a:solidFill>
                <a:latin typeface="Calibri" pitchFamily="34" charset="0"/>
                <a:ea typeface="Calibri" pitchFamily="34" charset="-122"/>
                <a:cs typeface="Calibri" pitchFamily="34" charset="-120"/>
              </a:rPr>
              <a:t>Twelve questions people actually ask — are customers happy? is it us or the platform? — each with the answering commands, then the symptoms to rule out, in order.</a:t>
            </a:r>
            <a:endParaRPr lang="en-US" sz="950" dirty="0"/>
          </a:p>
        </p:txBody>
      </p:sp>
      <p:sp>
        <p:nvSpPr>
          <p:cNvPr id="34" name="Text 28"/>
          <p:cNvSpPr txBox="1"/>
          <p:nvPr/>
        </p:nvSpPr>
        <p:spPr>
          <a:xfrm>
            <a:off x="6848856" y="3337560"/>
            <a:ext cx="1691640" cy="685800"/>
          </a:xfrm>
          <a:prstGeom prst="rect">
            <a:avLst/>
          </a:prstGeom>
          <a:noFill/>
          <a:ln/>
        </p:spPr>
        <p:txBody>
          <a:bodyPr wrap="square" lIns="0" tIns="0" rIns="0" bIns="0" rtlCol="0" anchor="t"/>
          <a:lstStyle/>
          <a:p>
            <a:pPr indent="0" marL="0">
              <a:buNone/>
            </a:pPr>
            <a:r>
              <a:rPr lang="en-US" sz="950" i="1" dirty="0">
                <a:solidFill>
                  <a:srgbClr val="1F2933"/>
                </a:solidFill>
                <a:latin typeface="Calibri" pitchFamily="34" charset="0"/>
                <a:ea typeface="Calibri" pitchFamily="34" charset="-122"/>
                <a:cs typeface="Calibri" pitchFamily="34" charset="-120"/>
              </a:rPr>
              <a:t>“Start from the question, not from the graph.”</a:t>
            </a:r>
            <a:endParaRPr lang="en-US" sz="950" dirty="0"/>
          </a:p>
        </p:txBody>
      </p:sp>
      <p:sp>
        <p:nvSpPr>
          <p:cNvPr id="35" name="Text 29"/>
          <p:cNvSpPr txBox="1"/>
          <p:nvPr/>
        </p:nvSpPr>
        <p:spPr>
          <a:xfrm>
            <a:off x="6848856" y="4069080"/>
            <a:ext cx="1691640" cy="640080"/>
          </a:xfrm>
          <a:prstGeom prst="rect">
            <a:avLst/>
          </a:prstGeom>
          <a:noFill/>
          <a:ln/>
        </p:spPr>
        <p:txBody>
          <a:bodyPr wrap="square" lIns="0" tIns="0" rIns="0" bIns="0" rtlCol="0" anchor="t"/>
          <a:lstStyle/>
          <a:p>
            <a:pPr indent="0" marL="0">
              <a:buNone/>
            </a:pPr>
            <a:r>
              <a:rPr lang="en-US" sz="950" b="1" dirty="0">
                <a:solidFill>
                  <a:srgbClr val="1F2933"/>
                </a:solidFill>
                <a:latin typeface="Calibri" pitchFamily="34" charset="0"/>
                <a:ea typeface="Calibri" pitchFamily="34" charset="-122"/>
                <a:cs typeface="Calibri" pitchFamily="34" charset="-120"/>
              </a:rPr>
              <a:t>Tactic: </a:t>
            </a:r>
            <a:pPr indent="0" marL="0">
              <a:buNone/>
            </a:pPr>
            <a:r>
              <a:rPr lang="en-US" sz="950" dirty="0">
                <a:solidFill>
                  <a:srgbClr val="52606D"/>
                </a:solidFill>
                <a:latin typeface="Calibri" pitchFamily="34" charset="0"/>
                <a:ea typeface="Calibri" pitchFamily="34" charset="-122"/>
                <a:cs typeface="Calibri" pitchFamily="34" charset="-120"/>
              </a:rPr>
              <a:t>One page per question; eight symptom walks; three sizing procedures.</a:t>
            </a:r>
            <a:endParaRPr lang="en-US" sz="950" dirty="0"/>
          </a:p>
        </p:txBody>
      </p:sp>
      <p:sp>
        <p:nvSpPr>
          <p:cNvPr id="36" name="Text 30"/>
          <p:cNvSpPr txBox="1"/>
          <p:nvPr/>
        </p:nvSpPr>
        <p:spPr>
          <a:xfrm>
            <a:off x="457200" y="4846320"/>
            <a:ext cx="8229600" cy="228600"/>
          </a:xfrm>
          <a:prstGeom prst="rect">
            <a:avLst/>
          </a:prstGeom>
          <a:noFill/>
          <a:ln/>
        </p:spPr>
        <p:txBody>
          <a:bodyPr wrap="square" lIns="0" tIns="0" rIns="0" bIns="0" rtlCol="0" anchor="ctr"/>
          <a:lstStyle/>
          <a:p>
            <a:pPr indent="0" marL="0">
              <a:buNone/>
            </a:pPr>
            <a:r>
              <a:rPr lang="en-US" sz="950" dirty="0">
                <a:solidFill>
                  <a:srgbClr val="7B8794"/>
                </a:solidFill>
                <a:latin typeface="Calibri" pitchFamily="34" charset="0"/>
                <a:ea typeface="Calibri" pitchFamily="34" charset="-122"/>
                <a:cs typeface="Calibri" pitchFamily="34" charset="-120"/>
              </a:rPr>
              <a:t>Start Here: The Three Doors · The Three Lenses · The Two Roads   |   Java: Three Lenses, Tactically I–III</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Mental Models</dc:title>
  <dc:subject>PptxGenJS Presentation</dc:subject>
  <dc:creator>K8s Soup to Nuts</dc:creator>
  <cp:lastModifiedBy>K8s Soup to Nuts</cp:lastModifiedBy>
  <cp:revision>1</cp:revision>
  <dcterms:created xsi:type="dcterms:W3CDTF">2026-09-10T11:16:45Z</dcterms:created>
  <dcterms:modified xsi:type="dcterms:W3CDTF">2026-09-10T11:16:45Z</dcterms:modified>
</cp:coreProperties>
</file>