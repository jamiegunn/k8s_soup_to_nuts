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set the frame: this is not a Kubernetes tour, it is three questions and a way to read failures. Say out loud that no devops background is assumed and that every concept will be anchored to something they have already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and the room relaxes. Everyone in the audience has sized a pool and written a health check — the anxiety is that Kubernetes is a separate discipline, and it mostly isn't. Ask the room which row they have done most recently; whichever they name, that is the door you start with. The one row worth dwelling on is the last: the JVM heap and the container limit are two different numbers, and most first OOMKills come from assuming they are the same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leave on screen while people ask questions. Everything else in the deck is inside one of these three. The YAML is deliberately a real fragment rather than a diagram — the audience will recognise a values file, and the colours say which door each stanza belongs to. If someone asks 'what about storage, networking, secrets?' — those are refinements inside a door, not a fourth door: a volume is a cost, a Service is downstream of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asymmetry is the one sentence to engrave; if the audience remembers nothing else from this slide, that is enough. Expect pushback on 'no CPU limit' — the honest answer is that it depends on whether your platform's admission policy even allows it, and that the measurable consequence is the throttle ratio, which they can go and look at. The JVM twist is the most common first production incident for a Java team new to Kubernetes: heap at 60%, container dead.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their liveness probe currently checks. In most Spring Boot services it is /actuator/health, which by default aggregates every health indicator including the database — that is the outage in the callout, waiting to happen, and the fix is one line pointing liveness at the liveness group. The shutdown half gets skipped in most introductions and then shows up as 502s on every deploy, which teams misread as a networking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 development audience is usually most confident and most wrong, because horizontal scaling feels free. The two columns are the two ways it isn't: the signal can be blind, and the ceiling can belong to someone else. The concrete numbers are from a real load test on the site; if anyone wants the derivation it is on the Oracle page. The transferable habit: whenever you are about to add replicas, ask what each replica multiplies.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not as a model — the audience has all lost a week to something like it. The throttle ratio is the specific takeaway: it is one query, most teams have never looked at it, and it explains a whole category of 'slow but the graphs look fine'. The three places generalise to every observability tool they will meet: a dashboard, a trace and an APM agent are all one of these three wearing different clothes.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highest-value slide for a team in its first month — 'my pod won't start' is the universal first experience. The discipline is walking down and stopping at the first failed step, because everything after a failed step also looks failed; people burn hours on Services for a pod that never got a node. If you demo one thing live, demo this: break a pod three different ways and show that the STATUS column is identical while the reason field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something they can do without permission from anyone. All four are read-only or one-line changes, and all four produce a question they will bring back — which is the real goal of the session. The reading order matters: do not send a new engineer to the Lenses first, because they have not yet had the experience that makes it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jamiegunn.github.io/k8s_soup_to_nuts/start/three-doors/" TargetMode="External"/><Relationship Id="rId2" Type="http://schemas.openxmlformats.org/officeDocument/2006/relationships/hyperlink" Target="https://jamiegunn.github.io/k8s_soup_to_nuts/tuning/sizing-walkthrough/" TargetMode="External"/><Relationship Id="rId3" Type="http://schemas.openxmlformats.org/officeDocument/2006/relationships/hyperlink" Target="https://jamiegunn.github.io/k8s_soup_to_nuts/start/two-roads/" TargetMode="External"/><Relationship Id="rId4" Type="http://schemas.openxmlformats.org/officeDocument/2006/relationships/hyperlink" Target="https://jamiegunn.github.io/k8s_soup_to_nuts/start/three-lenses/" TargetMode="Externa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Text 0"/>
          <p:cNvSpPr txBox="1"/>
          <p:nvPr/>
        </p:nvSpPr>
        <p:spPr>
          <a:xfrm>
            <a:off x="548640" y="1143000"/>
            <a:ext cx="7498080" cy="10972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Kubernetes, from what you already know</a:t>
            </a:r>
            <a:endParaRPr lang="en-US" sz="4000" dirty="0"/>
          </a:p>
        </p:txBody>
      </p:sp>
      <p:sp>
        <p:nvSpPr>
          <p:cNvPr id="3" name="Text 1"/>
          <p:cNvSpPr txBox="1"/>
          <p:nvPr/>
        </p:nvSpPr>
        <p:spPr>
          <a:xfrm>
            <a:off x="548640" y="2331720"/>
            <a:ext cx="6949440" cy="1005840"/>
          </a:xfrm>
          <a:prstGeom prst="rect">
            <a:avLst/>
          </a:prstGeom>
          <a:noFill/>
          <a:ln/>
        </p:spPr>
        <p:txBody>
          <a:bodyPr wrap="square" lIns="0" tIns="0" rIns="0" bIns="0" rtlCol="0" anchor="ctr"/>
          <a:lstStyle/>
          <a:p>
            <a:pPr indent="0" marL="0">
              <a:buNone/>
            </a:pPr>
            <a:r>
              <a:rPr lang="en-US" sz="1450" dirty="0">
                <a:solidFill>
                  <a:srgbClr val="D9E2EC"/>
                </a:solidFill>
                <a:latin typeface="Calibri" pitchFamily="34" charset="0"/>
                <a:ea typeface="Calibri" pitchFamily="34" charset="-122"/>
                <a:cs typeface="Calibri" pitchFamily="34" charset="-120"/>
              </a:rPr>
              <a:t>You have built servers, sized pools, written health checks and shutdown hooks. Kubernetes asks three questions about all of it — here they are, and here is what to do when the answers go wrong.</a:t>
            </a:r>
            <a:endParaRPr lang="en-US" sz="1450" dirty="0"/>
          </a:p>
        </p:txBody>
      </p:sp>
      <p:sp>
        <p:nvSpPr>
          <p:cNvPr id="4" name="Text 2"/>
          <p:cNvSpPr txBox="1"/>
          <p:nvPr/>
        </p:nvSpPr>
        <p:spPr>
          <a:xfrm>
            <a:off x="548640" y="3520440"/>
            <a:ext cx="7498080" cy="320040"/>
          </a:xfrm>
          <a:prstGeom prst="rect">
            <a:avLst/>
          </a:prstGeom>
          <a:noFill/>
          <a:ln/>
        </p:spPr>
        <p:txBody>
          <a:bodyPr wrap="square" lIns="0" tIns="0" rIns="0" bIns="0" rtlCol="0" anchor="ctr"/>
          <a:lstStyle/>
          <a:p>
            <a:pPr indent="0" marL="0">
              <a:buNone/>
            </a:pPr>
            <a:r>
              <a:rPr lang="en-US" sz="1500" b="1" dirty="0">
                <a:solidFill>
                  <a:srgbClr val="4098D7"/>
                </a:solidFill>
                <a:latin typeface="Calibri" pitchFamily="34" charset="0"/>
                <a:ea typeface="Calibri" pitchFamily="34" charset="-122"/>
                <a:cs typeface="Calibri" pitchFamily="34" charset="-120"/>
              </a:rPr>
              <a:t>cost</a:t>
            </a:r>
            <a:pPr indent="0" marL="0">
              <a:buNone/>
            </a:pPr>
            <a:r>
              <a:rPr lang="en-US" sz="1500" b="1" dirty="0">
                <a:solidFill>
                  <a:srgbClr val="4098D7"/>
                </a:solidFill>
                <a:latin typeface="Calibri" pitchFamily="34" charset="0"/>
                <a:ea typeface="Calibri" pitchFamily="34" charset="-122"/>
                <a:cs typeface="Calibri" pitchFamily="34" charset="-120"/>
              </a:rPr>
              <a:t>   ·   truth</a:t>
            </a:r>
            <a:pPr indent="0" marL="0">
              <a:buNone/>
            </a:pPr>
            <a:r>
              <a:rPr lang="en-US" sz="1500" b="1" dirty="0">
                <a:solidFill>
                  <a:srgbClr val="4098D7"/>
                </a:solidFill>
                <a:latin typeface="Calibri" pitchFamily="34" charset="0"/>
                <a:ea typeface="Calibri" pitchFamily="34" charset="-122"/>
                <a:cs typeface="Calibri" pitchFamily="34" charset="-120"/>
              </a:rPr>
              <a:t>   ·   response</a:t>
            </a:r>
            <a:endParaRPr lang="en-US" sz="1500" dirty="0"/>
          </a:p>
        </p:txBody>
      </p:sp>
      <p:sp>
        <p:nvSpPr>
          <p:cNvPr id="5" name="Text 3"/>
          <p:cNvSpPr txBox="1"/>
          <p:nvPr/>
        </p:nvSpPr>
        <p:spPr>
          <a:xfrm>
            <a:off x="548640" y="4434840"/>
            <a:ext cx="7498080" cy="274320"/>
          </a:xfrm>
          <a:prstGeom prst="rect">
            <a:avLst/>
          </a:prstGeom>
          <a:noFill/>
          <a:ln/>
        </p:spPr>
        <p:txBody>
          <a:bodyPr wrap="square" lIns="0" tIns="0" rIns="0" bIns="0" rtlCol="0" anchor="ctr"/>
          <a:lstStyle/>
          <a:p>
            <a:pPr indent="0" marL="0">
              <a:buNone/>
            </a:pPr>
            <a:r>
              <a:rPr lang="en-US" sz="1050" dirty="0">
                <a:solidFill>
                  <a:srgbClr val="829AB1"/>
                </a:solidFill>
                <a:latin typeface="Calibri" pitchFamily="34" charset="0"/>
                <a:ea typeface="Calibri" pitchFamily="34" charset="-122"/>
                <a:cs typeface="Calibri" pitchFamily="34" charset="-120"/>
              </a:rPr>
              <a:t>For engineers who write the code · no devops background assumed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140" kern="0" dirty="0">
                <a:solidFill>
                  <a:srgbClr val="0A558C"/>
                </a:solidFill>
                <a:latin typeface="Calibri" pitchFamily="34" charset="0"/>
                <a:ea typeface="Calibri" pitchFamily="34" charset="-122"/>
                <a:cs typeface="Calibri" pitchFamily="34" charset="-120"/>
              </a:rPr>
              <a:t>START HERE</a:t>
            </a:r>
            <a:endParaRPr lang="en-US" sz="10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900" b="1" dirty="0">
                <a:solidFill>
                  <a:srgbClr val="102A43"/>
                </a:solidFill>
                <a:latin typeface="Cambria" pitchFamily="34" charset="0"/>
                <a:ea typeface="Cambria" pitchFamily="34" charset="-122"/>
                <a:cs typeface="Cambria" pitchFamily="34" charset="-120"/>
              </a:rPr>
              <a:t>You already know most of this</a:t>
            </a:r>
            <a:endParaRPr lang="en-US" sz="2900" dirty="0"/>
          </a:p>
        </p:txBody>
      </p:sp>
      <p:sp>
        <p:nvSpPr>
          <p:cNvPr id="4" name="Text 2"/>
          <p:cNvSpPr txBox="1"/>
          <p:nvPr/>
        </p:nvSpPr>
        <p:spPr>
          <a:xfrm>
            <a:off x="457200" y="1042416"/>
            <a:ext cx="8229600" cy="384048"/>
          </a:xfrm>
          <a:prstGeom prst="rect">
            <a:avLst/>
          </a:prstGeom>
          <a:noFill/>
          <a:ln/>
        </p:spPr>
        <p:txBody>
          <a:bodyPr wrap="square" lIns="0" tIns="0" rIns="0" bIns="0" rtlCol="0" anchor="ctr"/>
          <a:lstStyle/>
          <a:p>
            <a:pPr indent="0" marL="0">
              <a:buNone/>
            </a:pPr>
            <a:r>
              <a:rPr lang="en-US" sz="1250" i="1" dirty="0">
                <a:solidFill>
                  <a:srgbClr val="486581"/>
                </a:solidFill>
                <a:latin typeface="Calibri" pitchFamily="34" charset="0"/>
                <a:ea typeface="Calibri" pitchFamily="34" charset="-122"/>
                <a:cs typeface="Calibri" pitchFamily="34" charset="-120"/>
              </a:rPr>
              <a:t>Kubernetes is not new physics. It is a runtime that asks about things you have been doing by hand for years — under unfamiliar names.</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8229600" cy="914400"/>
        </p:xfrm>
        <a:graphic>
          <a:graphicData uri="http://schemas.openxmlformats.org/drawingml/2006/table">
            <a:tbl>
              <a:tblPr/>
              <a:tblGrid>
                <a:gridCol w="3657600"/>
                <a:gridCol w="4572000"/>
              </a:tblGrid>
              <a:tr h="0">
                <a:tc>
                  <a:txBody>
                    <a:bodyPr/>
                    <a:lstStyle/>
                    <a:p>
                      <a:pPr indent="0" marL="0">
                        <a:buNone/>
                      </a:pPr>
                      <a:r>
                        <a:rPr lang="en-US" sz="850" b="1" spc="80" kern="0" dirty="0">
                          <a:solidFill>
                            <a:srgbClr val="0A558C"/>
                          </a:solidFill>
                          <a:latin typeface="Calibri" pitchFamily="34" charset="0"/>
                          <a:ea typeface="Calibri" pitchFamily="34" charset="-122"/>
                          <a:cs typeface="Calibri" pitchFamily="34" charset="-120"/>
                        </a:rPr>
                        <a:t>WHAT YOU ALREADY DO</a:t>
                      </a:r>
                      <a:endParaRPr lang="en-US" sz="8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tcPr>
                </a:tc>
                <a:tc>
                  <a:txBody>
                    <a:bodyPr/>
                    <a:lstStyle/>
                    <a:p>
                      <a:pPr indent="0" marL="0">
                        <a:buNone/>
                      </a:pPr>
                      <a:r>
                        <a:rPr lang="en-US" sz="850" b="1" spc="80" kern="0" dirty="0">
                          <a:solidFill>
                            <a:srgbClr val="0A558C"/>
                          </a:solidFill>
                          <a:latin typeface="Calibri" pitchFamily="34" charset="0"/>
                          <a:ea typeface="Calibri" pitchFamily="34" charset="-122"/>
                          <a:cs typeface="Calibri" pitchFamily="34" charset="-120"/>
                        </a:rPr>
                        <a:t>WHAT KUBERNETES CALLS IT</a:t>
                      </a:r>
                      <a:endParaRPr lang="en-US" sz="8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tcPr>
                </a:tc>
              </a:tr>
              <a:tr h="0">
                <a:tc>
                  <a:txBody>
                    <a:bodyPr/>
                    <a:lstStyle/>
                    <a:p>
                      <a:pPr indent="0" marL="0">
                        <a:buNone/>
                      </a:pPr>
                      <a:r>
                        <a:rPr lang="en-US" sz="1050" dirty="0">
                          <a:solidFill>
                            <a:srgbClr val="102A43"/>
                          </a:solidFill>
                          <a:latin typeface="Calibri" pitchFamily="34" charset="0"/>
                          <a:ea typeface="Calibri" pitchFamily="34" charset="-122"/>
                          <a:cs typeface="Calibri" pitchFamily="34" charset="-120"/>
                        </a:rPr>
                        <a:t>Size a thread pool so one service can’t exhaust the box</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c>
                  <a:txBody>
                    <a:bodyPr/>
                    <a:lstStyle/>
                    <a:p>
                      <a:pPr indent="0" marL="0">
                        <a:buNone/>
                      </a:pPr>
                      <a:r>
                        <a:rPr lang="en-US" sz="1050" dirty="0">
                          <a:solidFill>
                            <a:srgbClr val="102A43"/>
                          </a:solidFill>
                          <a:latin typeface="Courier New" pitchFamily="34" charset="0"/>
                          <a:ea typeface="Courier New" pitchFamily="34" charset="-122"/>
                          <a:cs typeface="Courier New" pitchFamily="34" charset="-120"/>
                        </a:rPr>
                        <a:t>resources.requests</a:t>
                      </a:r>
                      <a:pPr indent="0" marL="0">
                        <a:buNone/>
                      </a:pPr>
                      <a:r>
                        <a:rPr lang="en-US" sz="1050" dirty="0">
                          <a:solidFill>
                            <a:srgbClr val="486581"/>
                          </a:solidFill>
                          <a:latin typeface="Calibri" pitchFamily="34" charset="0"/>
                          <a:ea typeface="Calibri" pitchFamily="34" charset="-122"/>
                          <a:cs typeface="Calibri" pitchFamily="34" charset="-120"/>
                        </a:rPr>
                        <a:t> and </a:t>
                      </a:r>
                      <a:pPr indent="0" marL="0">
                        <a:buNone/>
                      </a:pPr>
                      <a:r>
                        <a:rPr lang="en-US" sz="1050" dirty="0">
                          <a:solidFill>
                            <a:srgbClr val="102A43"/>
                          </a:solidFill>
                          <a:latin typeface="Courier New" pitchFamily="34" charset="0"/>
                          <a:ea typeface="Courier New" pitchFamily="34" charset="-122"/>
                          <a:cs typeface="Courier New" pitchFamily="34" charset="-120"/>
                        </a:rPr>
                        <a:t>resources.limits</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r>
              <a:tr h="0">
                <a:tc>
                  <a:txBody>
                    <a:bodyPr/>
                    <a:lstStyle/>
                    <a:p>
                      <a:pPr indent="0" marL="0">
                        <a:buNone/>
                      </a:pPr>
                      <a:r>
                        <a:rPr lang="en-US" sz="1050" dirty="0">
                          <a:solidFill>
                            <a:srgbClr val="102A43"/>
                          </a:solidFill>
                          <a:latin typeface="Calibri" pitchFamily="34" charset="0"/>
                          <a:ea typeface="Calibri" pitchFamily="34" charset="-122"/>
                          <a:cs typeface="Calibri" pitchFamily="34" charset="-120"/>
                        </a:rPr>
                        <a:t>Expose </a:t>
                      </a:r>
                      <a:pPr indent="0" marL="0">
                        <a:buNone/>
                      </a:pPr>
                      <a:r>
                        <a:rPr lang="en-US" sz="1050" dirty="0">
                          <a:solidFill>
                            <a:srgbClr val="102A43"/>
                          </a:solidFill>
                          <a:latin typeface="Courier New" pitchFamily="34" charset="0"/>
                          <a:ea typeface="Courier New" pitchFamily="34" charset="-122"/>
                          <a:cs typeface="Courier New" pitchFamily="34" charset="-120"/>
                        </a:rPr>
                        <a:t>/health</a:t>
                      </a:r>
                      <a:pPr indent="0" marL="0">
                        <a:buNone/>
                      </a:pPr>
                      <a:r>
                        <a:rPr lang="en-US" sz="1050" dirty="0">
                          <a:solidFill>
                            <a:srgbClr val="102A43"/>
                          </a:solidFill>
                          <a:latin typeface="Calibri" pitchFamily="34" charset="0"/>
                          <a:ea typeface="Calibri" pitchFamily="34" charset="-122"/>
                          <a:cs typeface="Calibri" pitchFamily="34" charset="-120"/>
                        </a:rPr>
                        <a:t> so the load balancer stops sending to a sick instance</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050" dirty="0">
                          <a:solidFill>
                            <a:srgbClr val="102A43"/>
                          </a:solidFill>
                          <a:latin typeface="Courier New" pitchFamily="34" charset="0"/>
                          <a:ea typeface="Courier New" pitchFamily="34" charset="-122"/>
                          <a:cs typeface="Courier New" pitchFamily="34" charset="-120"/>
                        </a:rPr>
                        <a:t>readinessProbe</a:t>
                      </a:r>
                      <a:pPr indent="0" marL="0">
                        <a:buNone/>
                      </a:pPr>
                      <a:r>
                        <a:rPr lang="en-US" sz="1050" dirty="0">
                          <a:solidFill>
                            <a:srgbClr val="486581"/>
                          </a:solidFill>
                          <a:latin typeface="Calibri" pitchFamily="34" charset="0"/>
                          <a:ea typeface="Calibri" pitchFamily="34" charset="-122"/>
                          <a:cs typeface="Calibri" pitchFamily="34" charset="-120"/>
                        </a:rPr>
                        <a:t> — the only probe that gates traffic</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02A43"/>
                          </a:solidFill>
                          <a:latin typeface="Calibri" pitchFamily="34" charset="0"/>
                          <a:ea typeface="Calibri" pitchFamily="34" charset="-122"/>
                          <a:cs typeface="Calibri" pitchFamily="34" charset="-120"/>
                        </a:rPr>
                        <a:t>A watchdog that restarts a process that has wedged</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c>
                  <a:txBody>
                    <a:bodyPr/>
                    <a:lstStyle/>
                    <a:p>
                      <a:pPr indent="0" marL="0">
                        <a:buNone/>
                      </a:pPr>
                      <a:r>
                        <a:rPr lang="en-US" sz="1050" dirty="0">
                          <a:solidFill>
                            <a:srgbClr val="102A43"/>
                          </a:solidFill>
                          <a:latin typeface="Courier New" pitchFamily="34" charset="0"/>
                          <a:ea typeface="Courier New" pitchFamily="34" charset="-122"/>
                          <a:cs typeface="Courier New" pitchFamily="34" charset="-120"/>
                        </a:rPr>
                        <a:t>livenessProbe</a:t>
                      </a:r>
                      <a:pPr indent="0" marL="0">
                        <a:buNone/>
                      </a:pPr>
                      <a:r>
                        <a:rPr lang="en-US" sz="1050" dirty="0">
                          <a:solidFill>
                            <a:srgbClr val="486581"/>
                          </a:solidFill>
                          <a:latin typeface="Calibri" pitchFamily="34" charset="0"/>
                          <a:ea typeface="Calibri" pitchFamily="34" charset="-122"/>
                          <a:cs typeface="Calibri" pitchFamily="34" charset="-120"/>
                        </a:rPr>
                        <a:t> — it restarts you, it does not reroute you</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r>
              <a:tr h="0">
                <a:tc>
                  <a:txBody>
                    <a:bodyPr/>
                    <a:lstStyle/>
                    <a:p>
                      <a:pPr indent="0" marL="0">
                        <a:buNone/>
                      </a:pPr>
                      <a:r>
                        <a:rPr lang="en-US" sz="1050" dirty="0">
                          <a:solidFill>
                            <a:srgbClr val="102A43"/>
                          </a:solidFill>
                          <a:latin typeface="Calibri" pitchFamily="34" charset="0"/>
                          <a:ea typeface="Calibri" pitchFamily="34" charset="-122"/>
                          <a:cs typeface="Calibri" pitchFamily="34" charset="-120"/>
                        </a:rPr>
                        <a:t>Finish in-flight work in a shutdown hook before exiting</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050" dirty="0">
                          <a:solidFill>
                            <a:srgbClr val="102A43"/>
                          </a:solidFill>
                          <a:latin typeface="Courier New" pitchFamily="34" charset="0"/>
                          <a:ea typeface="Courier New" pitchFamily="34" charset="-122"/>
                          <a:cs typeface="Courier New" pitchFamily="34" charset="-120"/>
                        </a:rPr>
                        <a:t>preStop</a:t>
                      </a:r>
                      <a:pPr indent="0" marL="0">
                        <a:buNone/>
                      </a:pPr>
                      <a:r>
                        <a:rPr lang="en-US" sz="1050" dirty="0">
                          <a:solidFill>
                            <a:srgbClr val="486581"/>
                          </a:solidFill>
                          <a:latin typeface="Calibri" pitchFamily="34" charset="0"/>
                          <a:ea typeface="Calibri" pitchFamily="34" charset="-122"/>
                          <a:cs typeface="Calibri" pitchFamily="34" charset="-120"/>
                        </a:rPr>
                        <a:t> + SIGTERM + </a:t>
                      </a:r>
                      <a:pPr indent="0" marL="0">
                        <a:buNone/>
                      </a:pPr>
                      <a:r>
                        <a:rPr lang="en-US" sz="1050" dirty="0">
                          <a:solidFill>
                            <a:srgbClr val="102A43"/>
                          </a:solidFill>
                          <a:latin typeface="Courier New" pitchFamily="34" charset="0"/>
                          <a:ea typeface="Courier New" pitchFamily="34" charset="-122"/>
                          <a:cs typeface="Courier New" pitchFamily="34" charset="-120"/>
                        </a:rPr>
                        <a:t>terminationGracePeriodSeconds</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02A43"/>
                          </a:solidFill>
                          <a:latin typeface="Calibri" pitchFamily="34" charset="0"/>
                          <a:ea typeface="Calibri" pitchFamily="34" charset="-122"/>
                          <a:cs typeface="Calibri" pitchFamily="34" charset="-120"/>
                        </a:rPr>
                        <a:t>Stand v2 next to v1, then move traffic across</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c>
                  <a:txBody>
                    <a:bodyPr/>
                    <a:lstStyle/>
                    <a:p>
                      <a:pPr indent="0" marL="0">
                        <a:buNone/>
                      </a:pPr>
                      <a:r>
                        <a:rPr lang="en-US" sz="1050" dirty="0">
                          <a:solidFill>
                            <a:srgbClr val="486581"/>
                          </a:solidFill>
                          <a:latin typeface="Calibri" pitchFamily="34" charset="0"/>
                          <a:ea typeface="Calibri" pitchFamily="34" charset="-122"/>
                          <a:cs typeface="Calibri" pitchFamily="34" charset="-120"/>
                        </a:rPr>
                        <a:t>a rolling update — </a:t>
                      </a:r>
                      <a:pPr indent="0" marL="0">
                        <a:buNone/>
                      </a:pPr>
                      <a:r>
                        <a:rPr lang="en-US" sz="1050" dirty="0">
                          <a:solidFill>
                            <a:srgbClr val="102A43"/>
                          </a:solidFill>
                          <a:latin typeface="Courier New" pitchFamily="34" charset="0"/>
                          <a:ea typeface="Courier New" pitchFamily="34" charset="-122"/>
                          <a:cs typeface="Courier New" pitchFamily="34" charset="-120"/>
                        </a:rPr>
                        <a:t>maxSurge</a:t>
                      </a:r>
                      <a:pPr indent="0" marL="0">
                        <a:buNone/>
                      </a:pPr>
                      <a:r>
                        <a:rPr lang="en-US" sz="1050" dirty="0">
                          <a:solidFill>
                            <a:srgbClr val="486581"/>
                          </a:solidFill>
                          <a:latin typeface="Calibri" pitchFamily="34" charset="0"/>
                          <a:ea typeface="Calibri" pitchFamily="34" charset="-122"/>
                          <a:cs typeface="Calibri" pitchFamily="34" charset="-120"/>
                        </a:rPr>
                        <a:t> / </a:t>
                      </a:r>
                      <a:pPr indent="0" marL="0">
                        <a:buNone/>
                      </a:pPr>
                      <a:r>
                        <a:rPr lang="en-US" sz="1050" dirty="0">
                          <a:solidFill>
                            <a:srgbClr val="102A43"/>
                          </a:solidFill>
                          <a:latin typeface="Courier New" pitchFamily="34" charset="0"/>
                          <a:ea typeface="Courier New" pitchFamily="34" charset="-122"/>
                          <a:cs typeface="Courier New" pitchFamily="34" charset="-120"/>
                        </a:rPr>
                        <a:t>maxUnavailable</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r>
              <a:tr h="0">
                <a:tc>
                  <a:txBody>
                    <a:bodyPr/>
                    <a:lstStyle/>
                    <a:p>
                      <a:pPr indent="0" marL="0">
                        <a:buNone/>
                      </a:pPr>
                      <a:r>
                        <a:rPr lang="en-US" sz="1050" dirty="0">
                          <a:solidFill>
                            <a:srgbClr val="102A43"/>
                          </a:solidFill>
                          <a:latin typeface="Calibri" pitchFamily="34" charset="0"/>
                          <a:ea typeface="Calibri" pitchFamily="34" charset="-122"/>
                          <a:cs typeface="Calibri" pitchFamily="34" charset="-120"/>
                        </a:rPr>
                        <a:t>instances × </a:t>
                      </a:r>
                      <a:pPr indent="0" marL="0">
                        <a:buNone/>
                      </a:pPr>
                      <a:r>
                        <a:rPr lang="en-US" sz="1050" dirty="0">
                          <a:solidFill>
                            <a:srgbClr val="102A43"/>
                          </a:solidFill>
                          <a:latin typeface="Courier New" pitchFamily="34" charset="0"/>
                          <a:ea typeface="Courier New" pitchFamily="34" charset="-122"/>
                          <a:cs typeface="Courier New" pitchFamily="34" charset="-120"/>
                        </a:rPr>
                        <a:t>maxPoolSize</a:t>
                      </a:r>
                      <a:pPr indent="0" marL="0">
                        <a:buNone/>
                      </a:pPr>
                      <a:r>
                        <a:rPr lang="en-US" sz="1050" dirty="0">
                          <a:solidFill>
                            <a:srgbClr val="102A43"/>
                          </a:solidFill>
                          <a:latin typeface="Calibri" pitchFamily="34" charset="0"/>
                          <a:ea typeface="Calibri" pitchFamily="34" charset="-122"/>
                          <a:cs typeface="Calibri" pitchFamily="34" charset="-120"/>
                        </a:rPr>
                        <a:t> = what the database actually sees</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050" dirty="0">
                          <a:solidFill>
                            <a:srgbClr val="102A43"/>
                          </a:solidFill>
                          <a:latin typeface="Courier New" pitchFamily="34" charset="0"/>
                          <a:ea typeface="Courier New" pitchFamily="34" charset="-122"/>
                          <a:cs typeface="Courier New" pitchFamily="34" charset="-120"/>
                        </a:rPr>
                        <a:t>maxReplicas</a:t>
                      </a:r>
                      <a:pPr indent="0" marL="0">
                        <a:buNone/>
                      </a:pPr>
                      <a:r>
                        <a:rPr lang="en-US" sz="1050" dirty="0">
                          <a:solidFill>
                            <a:srgbClr val="486581"/>
                          </a:solidFill>
                          <a:latin typeface="Calibri" pitchFamily="34" charset="0"/>
                          <a:ea typeface="Calibri" pitchFamily="34" charset="-122"/>
                          <a:cs typeface="Calibri" pitchFamily="34" charset="-120"/>
                        </a:rPr>
                        <a:t> × pool size = your session budget</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02A43"/>
                          </a:solidFill>
                          <a:latin typeface="Courier New" pitchFamily="34" charset="0"/>
                          <a:ea typeface="Courier New" pitchFamily="34" charset="-122"/>
                          <a:cs typeface="Courier New" pitchFamily="34" charset="-120"/>
                        </a:rPr>
                        <a:t>-Xmx</a:t>
                      </a:r>
                      <a:pPr indent="0" marL="0">
                        <a:buNone/>
                      </a:pPr>
                      <a:r>
                        <a:rPr lang="en-US" sz="1050" dirty="0">
                          <a:solidFill>
                            <a:srgbClr val="102A43"/>
                          </a:solidFill>
                          <a:latin typeface="Calibri" pitchFamily="34" charset="0"/>
                          <a:ea typeface="Calibri" pitchFamily="34" charset="-122"/>
                          <a:cs typeface="Calibri" pitchFamily="34" charset="-120"/>
                        </a:rPr>
                        <a:t> versus how much memory the box really has</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c>
                  <a:txBody>
                    <a:bodyPr/>
                    <a:lstStyle/>
                    <a:p>
                      <a:pPr indent="0" marL="0">
                        <a:buNone/>
                      </a:pPr>
                      <a:r>
                        <a:rPr lang="en-US" sz="1050" dirty="0">
                          <a:solidFill>
                            <a:srgbClr val="486581"/>
                          </a:solidFill>
                          <a:latin typeface="Calibri" pitchFamily="34" charset="0"/>
                          <a:ea typeface="Calibri" pitchFamily="34" charset="-122"/>
                          <a:cs typeface="Calibri" pitchFamily="34" charset="-120"/>
                        </a:rPr>
                        <a:t>the container memory limit versus the JVM heap</a:t>
                      </a:r>
                      <a:endParaRPr lang="en-US" sz="10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r>
            </a:tbl>
          </a:graphicData>
        </a:graphic>
      </p:graphicFrame>
      <p:sp>
        <p:nvSpPr>
          <p:cNvPr id="6" name="Shape 3"/>
          <p:cNvSpPr/>
          <p:nvPr/>
        </p:nvSpPr>
        <p:spPr>
          <a:xfrm>
            <a:off x="457200" y="4023360"/>
            <a:ext cx="8229600" cy="749808"/>
          </a:xfrm>
          <a:prstGeom prst="roundRect">
            <a:avLst>
              <a:gd name="adj" fmla="val 7317"/>
            </a:avLst>
          </a:prstGeom>
          <a:solidFill>
            <a:srgbClr val="F0F4F8"/>
          </a:solidFill>
          <a:ln w="12700">
            <a:solidFill>
              <a:srgbClr val="D9E2EC"/>
            </a:solidFill>
            <a:prstDash val="solid"/>
          </a:ln>
        </p:spPr>
      </p:sp>
      <p:sp>
        <p:nvSpPr>
          <p:cNvPr id="7" name="Text 4"/>
          <p:cNvSpPr txBox="1"/>
          <p:nvPr/>
        </p:nvSpPr>
        <p:spPr>
          <a:xfrm>
            <a:off x="640080" y="4096512"/>
            <a:ext cx="7863840" cy="182880"/>
          </a:xfrm>
          <a:prstGeom prst="rect">
            <a:avLst/>
          </a:prstGeom>
          <a:noFill/>
          <a:ln/>
        </p:spPr>
        <p:txBody>
          <a:bodyPr wrap="square" lIns="0" tIns="0" rIns="0" bIns="0" rtlCol="0" anchor="ctr"/>
          <a:lstStyle/>
          <a:p>
            <a:pPr indent="0" marL="0">
              <a:buNone/>
            </a:pPr>
            <a:r>
              <a:rPr lang="en-US" sz="850" b="1" spc="90" kern="0" dirty="0">
                <a:solidFill>
                  <a:srgbClr val="0A558C"/>
                </a:solidFill>
                <a:latin typeface="Calibri" pitchFamily="34" charset="0"/>
                <a:ea typeface="Calibri" pitchFamily="34" charset="-122"/>
                <a:cs typeface="Calibri" pitchFamily="34" charset="-120"/>
              </a:rPr>
              <a:t>THE POINT</a:t>
            </a:r>
            <a:endParaRPr lang="en-US" sz="850" dirty="0"/>
          </a:p>
        </p:txBody>
      </p:sp>
      <p:sp>
        <p:nvSpPr>
          <p:cNvPr id="8" name="Text 5"/>
          <p:cNvSpPr txBox="1"/>
          <p:nvPr/>
        </p:nvSpPr>
        <p:spPr>
          <a:xfrm>
            <a:off x="640080" y="4279392"/>
            <a:ext cx="7863840" cy="438912"/>
          </a:xfrm>
          <a:prstGeom prst="rect">
            <a:avLst/>
          </a:prstGeom>
          <a:noFill/>
          <a:ln/>
        </p:spPr>
        <p:txBody>
          <a:bodyPr wrap="square" lIns="0" tIns="0" rIns="0" bIns="0" rtlCol="0" anchor="t"/>
          <a:lstStyle/>
          <a:p>
            <a:pPr indent="0" marL="0">
              <a:buNone/>
            </a:pPr>
            <a:r>
              <a:rPr lang="en-US" sz="1100" dirty="0">
                <a:solidFill>
                  <a:srgbClr val="102A43"/>
                </a:solidFill>
                <a:latin typeface="Calibri" pitchFamily="34" charset="0"/>
                <a:ea typeface="Calibri" pitchFamily="34" charset="-122"/>
                <a:cs typeface="Calibri" pitchFamily="34" charset="-120"/>
              </a:rPr>
              <a:t>The vocabulary is new; the engineering is not. Where this deck says something surprising, it is almost always because the </a:t>
            </a:r>
            <a:pPr indent="0" marL="0">
              <a:buNone/>
            </a:pPr>
            <a:r>
              <a:rPr lang="en-US" sz="1100" i="1" dirty="0">
                <a:solidFill>
                  <a:srgbClr val="102A43"/>
                </a:solidFill>
                <a:latin typeface="Calibri" pitchFamily="34" charset="0"/>
                <a:ea typeface="Calibri" pitchFamily="34" charset="-122"/>
                <a:cs typeface="Calibri" pitchFamily="34" charset="-120"/>
              </a:rPr>
              <a:t>default</a:t>
            </a:r>
            <a:pPr indent="0" marL="0">
              <a:buNone/>
            </a:pPr>
            <a:r>
              <a:rPr lang="en-US" sz="1100" dirty="0">
                <a:solidFill>
                  <a:srgbClr val="102A43"/>
                </a:solidFill>
                <a:latin typeface="Calibri" pitchFamily="34" charset="0"/>
                <a:ea typeface="Calibri" pitchFamily="34" charset="-122"/>
                <a:cs typeface="Calibri" pitchFamily="34" charset="-120"/>
              </a:rPr>
              <a:t> differs from the one you would have chosen yourself.</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140" kern="0" dirty="0">
                <a:solidFill>
                  <a:srgbClr val="0A558C"/>
                </a:solidFill>
                <a:latin typeface="Calibri" pitchFamily="34" charset="0"/>
                <a:ea typeface="Calibri" pitchFamily="34" charset="-122"/>
                <a:cs typeface="Calibri" pitchFamily="34" charset="-120"/>
              </a:rPr>
              <a:t>THE MODEL</a:t>
            </a:r>
            <a:endParaRPr lang="en-US" sz="10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900" b="1" dirty="0">
                <a:solidFill>
                  <a:srgbClr val="102A43"/>
                </a:solidFill>
                <a:latin typeface="Cambria" pitchFamily="34" charset="0"/>
                <a:ea typeface="Cambria" pitchFamily="34" charset="-122"/>
                <a:cs typeface="Cambria" pitchFamily="34" charset="-120"/>
              </a:rPr>
              <a:t>Kubernetes asks three questions</a:t>
            </a:r>
            <a:endParaRPr lang="en-US" sz="2900" dirty="0"/>
          </a:p>
        </p:txBody>
      </p:sp>
      <p:sp>
        <p:nvSpPr>
          <p:cNvPr id="4" name="Text 2"/>
          <p:cNvSpPr txBox="1"/>
          <p:nvPr/>
        </p:nvSpPr>
        <p:spPr>
          <a:xfrm>
            <a:off x="457200" y="1042416"/>
            <a:ext cx="8229600" cy="384048"/>
          </a:xfrm>
          <a:prstGeom prst="rect">
            <a:avLst/>
          </a:prstGeom>
          <a:noFill/>
          <a:ln/>
        </p:spPr>
        <p:txBody>
          <a:bodyPr wrap="square" lIns="0" tIns="0" rIns="0" bIns="0" rtlCol="0" anchor="ctr"/>
          <a:lstStyle/>
          <a:p>
            <a:pPr indent="0" marL="0">
              <a:buNone/>
            </a:pPr>
            <a:r>
              <a:rPr lang="en-US" sz="1250" i="1" dirty="0">
                <a:solidFill>
                  <a:srgbClr val="486581"/>
                </a:solidFill>
                <a:latin typeface="Calibri" pitchFamily="34" charset="0"/>
                <a:ea typeface="Calibri" pitchFamily="34" charset="-122"/>
                <a:cs typeface="Calibri" pitchFamily="34" charset="-120"/>
              </a:rPr>
              <a:t>Strip it to its job: a control loop that makes the cluster match what you asked for. To run one workload it needs exactly three things — and there is no fourth.</a:t>
            </a:r>
            <a:endParaRPr lang="en-US" sz="1250" dirty="0"/>
          </a:p>
        </p:txBody>
      </p:sp>
      <p:sp>
        <p:nvSpPr>
          <p:cNvPr id="5" name="Shape 3"/>
          <p:cNvSpPr/>
          <p:nvPr/>
        </p:nvSpPr>
        <p:spPr>
          <a:xfrm>
            <a:off x="457200" y="1481328"/>
            <a:ext cx="4800600" cy="3246120"/>
          </a:xfrm>
          <a:prstGeom prst="roundRect">
            <a:avLst>
              <a:gd name="adj" fmla="val 1690"/>
            </a:avLst>
          </a:prstGeom>
          <a:solidFill>
            <a:srgbClr val="102A43"/>
          </a:solidFill>
          <a:ln w="12700">
            <a:solidFill>
              <a:srgbClr val="102A43"/>
            </a:solidFill>
            <a:prstDash val="solid"/>
          </a:ln>
        </p:spPr>
      </p:sp>
      <p:sp>
        <p:nvSpPr>
          <p:cNvPr id="6" name="Text 4"/>
          <p:cNvSpPr txBox="1"/>
          <p:nvPr/>
        </p:nvSpPr>
        <p:spPr>
          <a:xfrm>
            <a:off x="621792" y="1572768"/>
            <a:ext cx="4471416" cy="182880"/>
          </a:xfrm>
          <a:prstGeom prst="rect">
            <a:avLst/>
          </a:prstGeom>
          <a:noFill/>
          <a:ln/>
        </p:spPr>
        <p:txBody>
          <a:bodyPr wrap="square" lIns="0" tIns="0" rIns="0" bIns="0" rtlCol="0" anchor="ctr"/>
          <a:lstStyle/>
          <a:p>
            <a:pPr indent="0" marL="0">
              <a:buNone/>
            </a:pPr>
            <a:r>
              <a:rPr lang="en-US" sz="750" spc="80" kern="0" dirty="0">
                <a:solidFill>
                  <a:srgbClr val="829AB1"/>
                </a:solidFill>
                <a:latin typeface="Calibri" pitchFamily="34" charset="0"/>
                <a:ea typeface="Calibri" pitchFamily="34" charset="-122"/>
                <a:cs typeface="Calibri" pitchFamily="34" charset="-120"/>
              </a:rPr>
              <a:t>ONE DEPLOYMENT, THREE DOORS</a:t>
            </a:r>
            <a:endParaRPr lang="en-US" sz="750" dirty="0"/>
          </a:p>
        </p:txBody>
      </p:sp>
      <p:sp>
        <p:nvSpPr>
          <p:cNvPr id="7" name="Text 5"/>
          <p:cNvSpPr txBox="1"/>
          <p:nvPr/>
        </p:nvSpPr>
        <p:spPr>
          <a:xfrm>
            <a:off x="621792" y="1773936"/>
            <a:ext cx="4526280" cy="2843784"/>
          </a:xfrm>
          <a:prstGeom prst="rect">
            <a:avLst/>
          </a:prstGeom>
          <a:noFill/>
          <a:ln/>
        </p:spPr>
        <p:txBody>
          <a:bodyPr wrap="square" lIns="0" tIns="0" rIns="0" bIns="0" rtlCol="0" anchor="t"/>
          <a:lstStyle/>
          <a:p>
            <a:pPr indent="0" marL="0">
              <a:lnSpc>
                <a:spcPct val="115000"/>
              </a:lnSpc>
              <a:buNone/>
            </a:pPr>
            <a:r>
              <a:rPr lang="en-US" sz="750" dirty="0">
                <a:solidFill>
                  <a:srgbClr val="C6D4E1"/>
                </a:solidFill>
                <a:latin typeface="Courier New" pitchFamily="34" charset="0"/>
                <a:ea typeface="Courier New" pitchFamily="34" charset="-122"/>
                <a:cs typeface="Courier New" pitchFamily="34" charset="-120"/>
              </a:rPr>
              <a:t>spec:</a:t>
            </a:r>
            <a:endParaRPr lang="en-US" sz="750" dirty="0"/>
          </a:p>
          <a:p>
            <a:pPr indent="0" marL="0">
              <a:lnSpc>
                <a:spcPct val="115000"/>
              </a:lnSpc>
              <a:buNone/>
            </a:pPr>
            <a:r>
              <a:rPr lang="en-US" sz="750" dirty="0">
                <a:solidFill>
                  <a:srgbClr val="F3CE8E"/>
                </a:solidFill>
                <a:latin typeface="Courier New" pitchFamily="34" charset="0"/>
                <a:ea typeface="Courier New" pitchFamily="34" charset="-122"/>
                <a:cs typeface="Courier New" pitchFamily="34" charset="-120"/>
              </a:rPr>
              <a:t>  replicas: 2                              </a:t>
            </a:r>
            <a:pPr indent="0" marL="0">
              <a:lnSpc>
                <a:spcPct val="115000"/>
              </a:lnSpc>
              <a:buNone/>
            </a:pPr>
            <a:r>
              <a:rPr lang="en-US" sz="700" i="1" dirty="0">
                <a:solidFill>
                  <a:srgbClr val="F3CE8E"/>
                </a:solidFill>
                <a:latin typeface="Calibri" pitchFamily="34" charset="0"/>
                <a:ea typeface="Calibri" pitchFamily="34" charset="-122"/>
                <a:cs typeface="Calibri" pitchFamily="34" charset="-120"/>
              </a:rPr>
              <a:t>  ← 3 · Response — an HPA can own this</a:t>
            </a:r>
            <a:endParaRPr lang="en-US" sz="750" dirty="0"/>
          </a:p>
          <a:p>
            <a:pPr indent="0" marL="0">
              <a:lnSpc>
                <a:spcPct val="115000"/>
              </a:lnSpc>
              <a:buNone/>
            </a:pPr>
            <a:r>
              <a:rPr lang="en-US" sz="750" dirty="0">
                <a:solidFill>
                  <a:srgbClr val="C6D4E1"/>
                </a:solidFill>
                <a:latin typeface="Courier New" pitchFamily="34" charset="0"/>
                <a:ea typeface="Courier New" pitchFamily="34" charset="-122"/>
                <a:cs typeface="Courier New" pitchFamily="34" charset="-120"/>
              </a:rPr>
              <a:t>  template:</a:t>
            </a:r>
            <a:endParaRPr lang="en-US" sz="750" dirty="0"/>
          </a:p>
          <a:p>
            <a:pPr indent="0" marL="0">
              <a:lnSpc>
                <a:spcPct val="115000"/>
              </a:lnSpc>
              <a:buNone/>
            </a:pPr>
            <a:r>
              <a:rPr lang="en-US" sz="750" dirty="0">
                <a:solidFill>
                  <a:srgbClr val="C6D4E1"/>
                </a:solidFill>
                <a:latin typeface="Courier New" pitchFamily="34" charset="0"/>
                <a:ea typeface="Courier New" pitchFamily="34" charset="-122"/>
                <a:cs typeface="Courier New" pitchFamily="34" charset="-120"/>
              </a:rPr>
              <a:t>    spec:</a:t>
            </a:r>
            <a:endParaRPr lang="en-US" sz="750" dirty="0"/>
          </a:p>
          <a:p>
            <a:pPr indent="0" marL="0">
              <a:lnSpc>
                <a:spcPct val="115000"/>
              </a:lnSpc>
              <a:buNone/>
            </a:pPr>
            <a:r>
              <a:rPr lang="en-US" sz="750" dirty="0">
                <a:solidFill>
                  <a:srgbClr val="A7E0C4"/>
                </a:solidFill>
                <a:latin typeface="Courier New" pitchFamily="34" charset="0"/>
                <a:ea typeface="Courier New" pitchFamily="34" charset="-122"/>
                <a:cs typeface="Courier New" pitchFamily="34" charset="-120"/>
              </a:rPr>
              <a:t>      terminationGracePeriodSeconds: 40    </a:t>
            </a:r>
            <a:pPr indent="0" marL="0">
              <a:lnSpc>
                <a:spcPct val="115000"/>
              </a:lnSpc>
              <a:buNone/>
            </a:pPr>
            <a:r>
              <a:rPr lang="en-US" sz="700" i="1" dirty="0">
                <a:solidFill>
                  <a:srgbClr val="A7E0C4"/>
                </a:solidFill>
                <a:latin typeface="Calibri" pitchFamily="34" charset="0"/>
                <a:ea typeface="Calibri" pitchFamily="34" charset="-122"/>
                <a:cs typeface="Calibri" pitchFamily="34" charset="-120"/>
              </a:rPr>
              <a:t>  ← 2 · Truth — leaving</a:t>
            </a:r>
            <a:endParaRPr lang="en-US" sz="750" dirty="0"/>
          </a:p>
          <a:p>
            <a:pPr indent="0" marL="0">
              <a:lnSpc>
                <a:spcPct val="115000"/>
              </a:lnSpc>
              <a:buNone/>
            </a:pPr>
            <a:r>
              <a:rPr lang="en-US" sz="750" dirty="0">
                <a:solidFill>
                  <a:srgbClr val="C6D4E1"/>
                </a:solidFill>
                <a:latin typeface="Courier New" pitchFamily="34" charset="0"/>
                <a:ea typeface="Courier New" pitchFamily="34" charset="-122"/>
                <a:cs typeface="Courier New" pitchFamily="34" charset="-120"/>
              </a:rPr>
              <a:t>      containers:</a:t>
            </a:r>
            <a:endParaRPr lang="en-US" sz="750" dirty="0"/>
          </a:p>
          <a:p>
            <a:pPr indent="0" marL="0">
              <a:lnSpc>
                <a:spcPct val="115000"/>
              </a:lnSpc>
              <a:buNone/>
            </a:pPr>
            <a:r>
              <a:rPr lang="en-US" sz="750" dirty="0">
                <a:solidFill>
                  <a:srgbClr val="C6D4E1"/>
                </a:solidFill>
                <a:latin typeface="Courier New" pitchFamily="34" charset="0"/>
                <a:ea typeface="Courier New" pitchFamily="34" charset="-122"/>
                <a:cs typeface="Courier New" pitchFamily="34" charset="-120"/>
              </a:rPr>
              <a:t>        - name: payments-api</a:t>
            </a:r>
            <a:endParaRPr lang="en-US" sz="750" dirty="0"/>
          </a:p>
          <a:p>
            <a:pPr indent="0" marL="0">
              <a:lnSpc>
                <a:spcPct val="115000"/>
              </a:lnSpc>
              <a:buNone/>
            </a:pPr>
            <a:r>
              <a:rPr lang="en-US" sz="750" dirty="0">
                <a:solidFill>
                  <a:srgbClr val="C6D4E1"/>
                </a:solidFill>
                <a:latin typeface="Courier New" pitchFamily="34" charset="0"/>
                <a:ea typeface="Courier New" pitchFamily="34" charset="-122"/>
                <a:cs typeface="Courier New" pitchFamily="34" charset="-120"/>
              </a:rPr>
              <a:t>          resources:</a:t>
            </a:r>
            <a:endParaRPr lang="en-US" sz="750" dirty="0"/>
          </a:p>
          <a:p>
            <a:pPr indent="0" marL="0">
              <a:lnSpc>
                <a:spcPct val="115000"/>
              </a:lnSpc>
              <a:buNone/>
            </a:pPr>
            <a:r>
              <a:rPr lang="en-US" sz="750" dirty="0">
                <a:solidFill>
                  <a:srgbClr val="9BD1F5"/>
                </a:solidFill>
                <a:latin typeface="Courier New" pitchFamily="34" charset="0"/>
                <a:ea typeface="Courier New" pitchFamily="34" charset="-122"/>
                <a:cs typeface="Courier New" pitchFamily="34" charset="-120"/>
              </a:rPr>
              <a:t>            requests:                      </a:t>
            </a:r>
            <a:pPr indent="0" marL="0">
              <a:lnSpc>
                <a:spcPct val="115000"/>
              </a:lnSpc>
              <a:buNone/>
            </a:pPr>
            <a:r>
              <a:rPr lang="en-US" sz="700" i="1" dirty="0">
                <a:solidFill>
                  <a:srgbClr val="9BD1F5"/>
                </a:solidFill>
                <a:latin typeface="Calibri" pitchFamily="34" charset="0"/>
                <a:ea typeface="Calibri" pitchFamily="34" charset="-122"/>
                <a:cs typeface="Calibri" pitchFamily="34" charset="-120"/>
              </a:rPr>
              <a:t>  ← 1 · Cost — what is reserved</a:t>
            </a:r>
            <a:endParaRPr lang="en-US" sz="750" dirty="0"/>
          </a:p>
          <a:p>
            <a:pPr indent="0" marL="0">
              <a:lnSpc>
                <a:spcPct val="115000"/>
              </a:lnSpc>
              <a:buNone/>
            </a:pPr>
            <a:r>
              <a:rPr lang="en-US" sz="750" dirty="0">
                <a:solidFill>
                  <a:srgbClr val="9BD1F5"/>
                </a:solidFill>
                <a:latin typeface="Courier New" pitchFamily="34" charset="0"/>
                <a:ea typeface="Courier New" pitchFamily="34" charset="-122"/>
                <a:cs typeface="Courier New" pitchFamily="34" charset="-120"/>
              </a:rPr>
              <a:t>              cpu: 250m</a:t>
            </a:r>
            <a:endParaRPr lang="en-US" sz="750" dirty="0"/>
          </a:p>
          <a:p>
            <a:pPr indent="0" marL="0">
              <a:lnSpc>
                <a:spcPct val="115000"/>
              </a:lnSpc>
              <a:buNone/>
            </a:pPr>
            <a:r>
              <a:rPr lang="en-US" sz="750" dirty="0">
                <a:solidFill>
                  <a:srgbClr val="9BD1F5"/>
                </a:solidFill>
                <a:latin typeface="Courier New" pitchFamily="34" charset="0"/>
                <a:ea typeface="Courier New" pitchFamily="34" charset="-122"/>
                <a:cs typeface="Courier New" pitchFamily="34" charset="-120"/>
              </a:rPr>
              <a:t>              memory: 1Gi</a:t>
            </a:r>
            <a:endParaRPr lang="en-US" sz="750" dirty="0"/>
          </a:p>
          <a:p>
            <a:pPr indent="0" marL="0">
              <a:lnSpc>
                <a:spcPct val="115000"/>
              </a:lnSpc>
              <a:buNone/>
            </a:pPr>
            <a:r>
              <a:rPr lang="en-US" sz="750" dirty="0">
                <a:solidFill>
                  <a:srgbClr val="9BD1F5"/>
                </a:solidFill>
                <a:latin typeface="Courier New" pitchFamily="34" charset="0"/>
                <a:ea typeface="Courier New" pitchFamily="34" charset="-122"/>
                <a:cs typeface="Courier New" pitchFamily="34" charset="-120"/>
              </a:rPr>
              <a:t>            limits:</a:t>
            </a:r>
            <a:endParaRPr lang="en-US" sz="750" dirty="0"/>
          </a:p>
          <a:p>
            <a:pPr indent="0" marL="0">
              <a:lnSpc>
                <a:spcPct val="115000"/>
              </a:lnSpc>
              <a:buNone/>
            </a:pPr>
            <a:r>
              <a:rPr lang="en-US" sz="750" dirty="0">
                <a:solidFill>
                  <a:srgbClr val="9BD1F5"/>
                </a:solidFill>
                <a:latin typeface="Courier New" pitchFamily="34" charset="0"/>
                <a:ea typeface="Courier New" pitchFamily="34" charset="-122"/>
                <a:cs typeface="Courier New" pitchFamily="34" charset="-120"/>
              </a:rPr>
              <a:t>              memory: 1Gi                  </a:t>
            </a:r>
            <a:pPr indent="0" marL="0">
              <a:lnSpc>
                <a:spcPct val="115000"/>
              </a:lnSpc>
              <a:buNone/>
            </a:pPr>
            <a:r>
              <a:rPr lang="en-US" sz="700" i="1" dirty="0">
                <a:solidFill>
                  <a:srgbClr val="9BD1F5"/>
                </a:solidFill>
                <a:latin typeface="Calibri" pitchFamily="34" charset="0"/>
                <a:ea typeface="Calibri" pitchFamily="34" charset="-122"/>
                <a:cs typeface="Calibri" pitchFamily="34" charset="-120"/>
              </a:rPr>
              <a:t>  ← request == limit</a:t>
            </a:r>
            <a:endParaRPr lang="en-US" sz="750" dirty="0"/>
          </a:p>
          <a:p>
            <a:pPr indent="0" marL="0">
              <a:lnSpc>
                <a:spcPct val="115000"/>
              </a:lnSpc>
              <a:buNone/>
            </a:pPr>
            <a:r>
              <a:rPr lang="en-US" sz="750" dirty="0">
                <a:solidFill>
                  <a:srgbClr val="A7E0C4"/>
                </a:solidFill>
                <a:latin typeface="Courier New" pitchFamily="34" charset="0"/>
                <a:ea typeface="Courier New" pitchFamily="34" charset="-122"/>
                <a:cs typeface="Courier New" pitchFamily="34" charset="-120"/>
              </a:rPr>
              <a:t>          readinessProbe:                  </a:t>
            </a:r>
            <a:pPr indent="0" marL="0">
              <a:lnSpc>
                <a:spcPct val="115000"/>
              </a:lnSpc>
              <a:buNone/>
            </a:pPr>
            <a:r>
              <a:rPr lang="en-US" sz="700" i="1" dirty="0">
                <a:solidFill>
                  <a:srgbClr val="A7E0C4"/>
                </a:solidFill>
                <a:latin typeface="Calibri" pitchFamily="34" charset="0"/>
                <a:ea typeface="Calibri" pitchFamily="34" charset="-122"/>
                <a:cs typeface="Calibri" pitchFamily="34" charset="-120"/>
              </a:rPr>
              <a:t>  ← 2 · Truth — arriving</a:t>
            </a:r>
            <a:endParaRPr lang="en-US" sz="750" dirty="0"/>
          </a:p>
          <a:p>
            <a:pPr indent="0" marL="0">
              <a:lnSpc>
                <a:spcPct val="115000"/>
              </a:lnSpc>
              <a:buNone/>
            </a:pPr>
            <a:r>
              <a:rPr lang="en-US" sz="750" dirty="0">
                <a:solidFill>
                  <a:srgbClr val="A7E0C4"/>
                </a:solidFill>
                <a:latin typeface="Courier New" pitchFamily="34" charset="0"/>
                <a:ea typeface="Courier New" pitchFamily="34" charset="-122"/>
                <a:cs typeface="Courier New" pitchFamily="34" charset="-120"/>
              </a:rPr>
              <a:t>            httpGet: { path: /health/readiness, port: 8081 }</a:t>
            </a:r>
            <a:endParaRPr lang="en-US" sz="750" dirty="0"/>
          </a:p>
          <a:p>
            <a:pPr indent="0" marL="0">
              <a:lnSpc>
                <a:spcPct val="115000"/>
              </a:lnSpc>
              <a:buNone/>
            </a:pPr>
            <a:r>
              <a:rPr lang="en-US" sz="750" dirty="0">
                <a:solidFill>
                  <a:srgbClr val="A7E0C4"/>
                </a:solidFill>
                <a:latin typeface="Courier New" pitchFamily="34" charset="0"/>
                <a:ea typeface="Courier New" pitchFamily="34" charset="-122"/>
                <a:cs typeface="Courier New" pitchFamily="34" charset="-120"/>
              </a:rPr>
              <a:t>          lifecycle:</a:t>
            </a:r>
            <a:endParaRPr lang="en-US" sz="750" dirty="0"/>
          </a:p>
          <a:p>
            <a:pPr indent="0" marL="0">
              <a:lnSpc>
                <a:spcPct val="115000"/>
              </a:lnSpc>
              <a:buNone/>
            </a:pPr>
            <a:r>
              <a:rPr lang="en-US" sz="750" dirty="0">
                <a:solidFill>
                  <a:srgbClr val="A7E0C4"/>
                </a:solidFill>
                <a:latin typeface="Courier New" pitchFamily="34" charset="0"/>
                <a:ea typeface="Courier New" pitchFamily="34" charset="-122"/>
                <a:cs typeface="Courier New" pitchFamily="34" charset="-120"/>
              </a:rPr>
              <a:t>            preStop:                       </a:t>
            </a:r>
            <a:pPr indent="0" marL="0">
              <a:lnSpc>
                <a:spcPct val="115000"/>
              </a:lnSpc>
              <a:buNone/>
            </a:pPr>
            <a:r>
              <a:rPr lang="en-US" sz="700" i="1" dirty="0">
                <a:solidFill>
                  <a:srgbClr val="A7E0C4"/>
                </a:solidFill>
                <a:latin typeface="Calibri" pitchFamily="34" charset="0"/>
                <a:ea typeface="Calibri" pitchFamily="34" charset="-122"/>
                <a:cs typeface="Calibri" pitchFamily="34" charset="-120"/>
              </a:rPr>
              <a:t>  ← 2 · Truth — the drain</a:t>
            </a:r>
            <a:endParaRPr lang="en-US" sz="750" dirty="0"/>
          </a:p>
          <a:p>
            <a:pPr indent="0" marL="0">
              <a:lnSpc>
                <a:spcPct val="115000"/>
              </a:lnSpc>
              <a:buNone/>
            </a:pPr>
            <a:r>
              <a:rPr lang="en-US" sz="750" dirty="0">
                <a:solidFill>
                  <a:srgbClr val="A7E0C4"/>
                </a:solidFill>
                <a:latin typeface="Courier New" pitchFamily="34" charset="0"/>
                <a:ea typeface="Courier New" pitchFamily="34" charset="-122"/>
                <a:cs typeface="Courier New" pitchFamily="34" charset="-120"/>
              </a:rPr>
              <a:t>              exec: { command: ["sh","-c","sleep 5"] }</a:t>
            </a:r>
            <a:endParaRPr lang="en-US" sz="750" dirty="0"/>
          </a:p>
        </p:txBody>
      </p:sp>
      <p:sp>
        <p:nvSpPr>
          <p:cNvPr id="8" name="Shape 6"/>
          <p:cNvSpPr/>
          <p:nvPr/>
        </p:nvSpPr>
        <p:spPr>
          <a:xfrm>
            <a:off x="5458968" y="1481328"/>
            <a:ext cx="3227832" cy="658368"/>
          </a:xfrm>
          <a:prstGeom prst="roundRect">
            <a:avLst>
              <a:gd name="adj" fmla="val 6944"/>
            </a:avLst>
          </a:prstGeom>
          <a:solidFill>
            <a:srgbClr val="F0F4F8"/>
          </a:solidFill>
          <a:ln w="12700">
            <a:solidFill>
              <a:srgbClr val="D9E2EC"/>
            </a:solidFill>
            <a:prstDash val="solid"/>
          </a:ln>
        </p:spPr>
      </p:sp>
      <p:sp>
        <p:nvSpPr>
          <p:cNvPr id="9" name="Shape 7"/>
          <p:cNvSpPr/>
          <p:nvPr/>
        </p:nvSpPr>
        <p:spPr>
          <a:xfrm>
            <a:off x="5596128" y="1600200"/>
            <a:ext cx="219456" cy="219456"/>
          </a:xfrm>
          <a:prstGeom prst="ellipse">
            <a:avLst/>
          </a:prstGeom>
          <a:solidFill>
            <a:srgbClr val="2680C2"/>
          </a:solidFill>
          <a:ln w="12700">
            <a:solidFill>
              <a:srgbClr val="2680C2"/>
            </a:solidFill>
            <a:prstDash val="solid"/>
          </a:ln>
        </p:spPr>
      </p:sp>
      <p:sp>
        <p:nvSpPr>
          <p:cNvPr id="10" name="Text 8"/>
          <p:cNvSpPr txBox="1"/>
          <p:nvPr/>
        </p:nvSpPr>
        <p:spPr>
          <a:xfrm>
            <a:off x="5596128" y="160020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txBox="1"/>
          <p:nvPr/>
        </p:nvSpPr>
        <p:spPr>
          <a:xfrm>
            <a:off x="5888736" y="1572768"/>
            <a:ext cx="2679192" cy="237744"/>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Cost</a:t>
            </a:r>
            <a:endParaRPr lang="en-US" sz="1250" dirty="0"/>
          </a:p>
        </p:txBody>
      </p:sp>
      <p:sp>
        <p:nvSpPr>
          <p:cNvPr id="12" name="Text 10"/>
          <p:cNvSpPr txBox="1"/>
          <p:nvPr/>
        </p:nvSpPr>
        <p:spPr>
          <a:xfrm>
            <a:off x="5596128" y="1828800"/>
            <a:ext cx="2953512" cy="274320"/>
          </a:xfrm>
          <a:prstGeom prst="rect">
            <a:avLst/>
          </a:prstGeom>
          <a:noFill/>
          <a:ln/>
        </p:spPr>
        <p:txBody>
          <a:bodyPr wrap="square" lIns="0" tIns="0" rIns="0" bIns="0" rtlCol="0" anchor="ctr"/>
          <a:lstStyle/>
          <a:p>
            <a:pPr indent="0" marL="0">
              <a:buNone/>
            </a:pPr>
            <a:r>
              <a:rPr lang="en-US" sz="950" dirty="0">
                <a:solidFill>
                  <a:srgbClr val="486581"/>
                </a:solidFill>
                <a:latin typeface="Calibri" pitchFamily="34" charset="0"/>
                <a:ea typeface="Calibri" pitchFamily="34" charset="-122"/>
                <a:cs typeface="Calibri" pitchFamily="34" charset="-120"/>
              </a:rPr>
              <a:t>What does it reserve, and what happens when it goes over?</a:t>
            </a:r>
            <a:endParaRPr lang="en-US" sz="950" dirty="0"/>
          </a:p>
        </p:txBody>
      </p:sp>
      <p:sp>
        <p:nvSpPr>
          <p:cNvPr id="13" name="Shape 11"/>
          <p:cNvSpPr/>
          <p:nvPr/>
        </p:nvSpPr>
        <p:spPr>
          <a:xfrm>
            <a:off x="5458968" y="2231136"/>
            <a:ext cx="3227832" cy="658368"/>
          </a:xfrm>
          <a:prstGeom prst="roundRect">
            <a:avLst>
              <a:gd name="adj" fmla="val 6944"/>
            </a:avLst>
          </a:prstGeom>
          <a:solidFill>
            <a:srgbClr val="F0F4F8"/>
          </a:solidFill>
          <a:ln w="12700">
            <a:solidFill>
              <a:srgbClr val="D9E2EC"/>
            </a:solidFill>
            <a:prstDash val="solid"/>
          </a:ln>
        </p:spPr>
      </p:sp>
      <p:sp>
        <p:nvSpPr>
          <p:cNvPr id="14" name="Shape 12"/>
          <p:cNvSpPr/>
          <p:nvPr/>
        </p:nvSpPr>
        <p:spPr>
          <a:xfrm>
            <a:off x="5596128" y="2350008"/>
            <a:ext cx="219456" cy="219456"/>
          </a:xfrm>
          <a:prstGeom prst="ellipse">
            <a:avLst/>
          </a:prstGeom>
          <a:solidFill>
            <a:srgbClr val="2680C2"/>
          </a:solidFill>
          <a:ln w="12700">
            <a:solidFill>
              <a:srgbClr val="2680C2"/>
            </a:solidFill>
            <a:prstDash val="solid"/>
          </a:ln>
        </p:spPr>
      </p:sp>
      <p:sp>
        <p:nvSpPr>
          <p:cNvPr id="15" name="Text 13"/>
          <p:cNvSpPr txBox="1"/>
          <p:nvPr/>
        </p:nvSpPr>
        <p:spPr>
          <a:xfrm>
            <a:off x="5596128" y="2350008"/>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txBox="1"/>
          <p:nvPr/>
        </p:nvSpPr>
        <p:spPr>
          <a:xfrm>
            <a:off x="5888736" y="2322576"/>
            <a:ext cx="2679192" cy="237744"/>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Truth</a:t>
            </a:r>
            <a:endParaRPr lang="en-US" sz="1250" dirty="0"/>
          </a:p>
        </p:txBody>
      </p:sp>
      <p:sp>
        <p:nvSpPr>
          <p:cNvPr id="17" name="Text 15"/>
          <p:cNvSpPr txBox="1"/>
          <p:nvPr/>
        </p:nvSpPr>
        <p:spPr>
          <a:xfrm>
            <a:off x="5596128" y="2578608"/>
            <a:ext cx="2953512" cy="274320"/>
          </a:xfrm>
          <a:prstGeom prst="rect">
            <a:avLst/>
          </a:prstGeom>
          <a:noFill/>
          <a:ln/>
        </p:spPr>
        <p:txBody>
          <a:bodyPr wrap="square" lIns="0" tIns="0" rIns="0" bIns="0" rtlCol="0" anchor="ctr"/>
          <a:lstStyle/>
          <a:p>
            <a:pPr indent="0" marL="0">
              <a:buNone/>
            </a:pPr>
            <a:r>
              <a:rPr lang="en-US" sz="950" dirty="0">
                <a:solidFill>
                  <a:srgbClr val="486581"/>
                </a:solidFill>
                <a:latin typeface="Calibri" pitchFamily="34" charset="0"/>
                <a:ea typeface="Calibri" pitchFamily="34" charset="-122"/>
                <a:cs typeface="Calibri" pitchFamily="34" charset="-120"/>
              </a:rPr>
              <a:t>Does it tell the truth about being ready — and about shutting down?</a:t>
            </a:r>
            <a:endParaRPr lang="en-US" sz="950" dirty="0"/>
          </a:p>
        </p:txBody>
      </p:sp>
      <p:sp>
        <p:nvSpPr>
          <p:cNvPr id="18" name="Shape 16"/>
          <p:cNvSpPr/>
          <p:nvPr/>
        </p:nvSpPr>
        <p:spPr>
          <a:xfrm>
            <a:off x="5458968" y="2980944"/>
            <a:ext cx="3227832" cy="658368"/>
          </a:xfrm>
          <a:prstGeom prst="roundRect">
            <a:avLst>
              <a:gd name="adj" fmla="val 6944"/>
            </a:avLst>
          </a:prstGeom>
          <a:solidFill>
            <a:srgbClr val="F0F4F8"/>
          </a:solidFill>
          <a:ln w="12700">
            <a:solidFill>
              <a:srgbClr val="D9E2EC"/>
            </a:solidFill>
            <a:prstDash val="solid"/>
          </a:ln>
        </p:spPr>
      </p:sp>
      <p:sp>
        <p:nvSpPr>
          <p:cNvPr id="19" name="Shape 17"/>
          <p:cNvSpPr/>
          <p:nvPr/>
        </p:nvSpPr>
        <p:spPr>
          <a:xfrm>
            <a:off x="5596128" y="3099816"/>
            <a:ext cx="219456" cy="219456"/>
          </a:xfrm>
          <a:prstGeom prst="ellipse">
            <a:avLst/>
          </a:prstGeom>
          <a:solidFill>
            <a:srgbClr val="2680C2"/>
          </a:solidFill>
          <a:ln w="12700">
            <a:solidFill>
              <a:srgbClr val="2680C2"/>
            </a:solidFill>
            <a:prstDash val="solid"/>
          </a:ln>
        </p:spPr>
      </p:sp>
      <p:sp>
        <p:nvSpPr>
          <p:cNvPr id="20" name="Text 18"/>
          <p:cNvSpPr txBox="1"/>
          <p:nvPr/>
        </p:nvSpPr>
        <p:spPr>
          <a:xfrm>
            <a:off x="5596128" y="3099816"/>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txBox="1"/>
          <p:nvPr/>
        </p:nvSpPr>
        <p:spPr>
          <a:xfrm>
            <a:off x="5888736" y="3072384"/>
            <a:ext cx="2679192" cy="237744"/>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Response</a:t>
            </a:r>
            <a:endParaRPr lang="en-US" sz="1250" dirty="0"/>
          </a:p>
        </p:txBody>
      </p:sp>
      <p:sp>
        <p:nvSpPr>
          <p:cNvPr id="22" name="Text 20"/>
          <p:cNvSpPr txBox="1"/>
          <p:nvPr/>
        </p:nvSpPr>
        <p:spPr>
          <a:xfrm>
            <a:off x="5596128" y="3328416"/>
            <a:ext cx="2953512" cy="274320"/>
          </a:xfrm>
          <a:prstGeom prst="rect">
            <a:avLst/>
          </a:prstGeom>
          <a:noFill/>
          <a:ln/>
        </p:spPr>
        <p:txBody>
          <a:bodyPr wrap="square" lIns="0" tIns="0" rIns="0" bIns="0" rtlCol="0" anchor="ctr"/>
          <a:lstStyle/>
          <a:p>
            <a:pPr indent="0" marL="0">
              <a:buNone/>
            </a:pPr>
            <a:r>
              <a:rPr lang="en-US" sz="950" dirty="0">
                <a:solidFill>
                  <a:srgbClr val="486581"/>
                </a:solidFill>
                <a:latin typeface="Calibri" pitchFamily="34" charset="0"/>
                <a:ea typeface="Calibri" pitchFamily="34" charset="-122"/>
                <a:cs typeface="Calibri" pitchFamily="34" charset="-120"/>
              </a:rPr>
              <a:t>How should the number of copies answer load?</a:t>
            </a:r>
            <a:endParaRPr lang="en-US" sz="950" dirty="0"/>
          </a:p>
        </p:txBody>
      </p:sp>
      <p:sp>
        <p:nvSpPr>
          <p:cNvPr id="23" name="Shape 21"/>
          <p:cNvSpPr/>
          <p:nvPr/>
        </p:nvSpPr>
        <p:spPr>
          <a:xfrm>
            <a:off x="5458968" y="3730752"/>
            <a:ext cx="3227832" cy="996696"/>
          </a:xfrm>
          <a:prstGeom prst="roundRect">
            <a:avLst>
              <a:gd name="adj" fmla="val 5505"/>
            </a:avLst>
          </a:prstGeom>
          <a:solidFill>
            <a:srgbClr val="F0F4F8"/>
          </a:solidFill>
          <a:ln w="12700">
            <a:solidFill>
              <a:srgbClr val="D9E2EC"/>
            </a:solidFill>
            <a:prstDash val="solid"/>
          </a:ln>
        </p:spPr>
      </p:sp>
      <p:sp>
        <p:nvSpPr>
          <p:cNvPr id="24" name="Text 22"/>
          <p:cNvSpPr txBox="1"/>
          <p:nvPr/>
        </p:nvSpPr>
        <p:spPr>
          <a:xfrm>
            <a:off x="5641848" y="3803904"/>
            <a:ext cx="2862072" cy="182880"/>
          </a:xfrm>
          <a:prstGeom prst="rect">
            <a:avLst/>
          </a:prstGeom>
          <a:noFill/>
          <a:ln/>
        </p:spPr>
        <p:txBody>
          <a:bodyPr wrap="square" lIns="0" tIns="0" rIns="0" bIns="0" rtlCol="0" anchor="ctr"/>
          <a:lstStyle/>
          <a:p>
            <a:pPr indent="0" marL="0">
              <a:buNone/>
            </a:pPr>
            <a:r>
              <a:rPr lang="en-US" sz="850" b="1" spc="90" kern="0" dirty="0">
                <a:solidFill>
                  <a:srgbClr val="0A558C"/>
                </a:solidFill>
                <a:latin typeface="Calibri" pitchFamily="34" charset="0"/>
                <a:ea typeface="Calibri" pitchFamily="34" charset="-122"/>
                <a:cs typeface="Calibri" pitchFamily="34" charset="-120"/>
              </a:rPr>
              <a:t>WHY IT IS A LOOP</a:t>
            </a:r>
            <a:endParaRPr lang="en-US" sz="850" dirty="0"/>
          </a:p>
        </p:txBody>
      </p:sp>
      <p:sp>
        <p:nvSpPr>
          <p:cNvPr id="25" name="Text 23"/>
          <p:cNvSpPr txBox="1"/>
          <p:nvPr/>
        </p:nvSpPr>
        <p:spPr>
          <a:xfrm>
            <a:off x="5641848" y="3986784"/>
            <a:ext cx="2862072" cy="685800"/>
          </a:xfrm>
          <a:prstGeom prst="rect">
            <a:avLst/>
          </a:prstGeom>
          <a:noFill/>
          <a:ln/>
        </p:spPr>
        <p:txBody>
          <a:bodyPr wrap="square" lIns="0" tIns="0" rIns="0" bIns="0" rtlCol="0" anchor="t"/>
          <a:lstStyle/>
          <a:p>
            <a:pPr indent="0" marL="0">
              <a:buNone/>
            </a:pPr>
            <a:r>
              <a:rPr lang="en-US" sz="1100" dirty="0">
                <a:solidFill>
                  <a:srgbClr val="102A43"/>
                </a:solidFill>
                <a:latin typeface="Calibri" pitchFamily="34" charset="0"/>
                <a:ea typeface="Calibri" pitchFamily="34" charset="-122"/>
                <a:cs typeface="Calibri" pitchFamily="34" charset="-120"/>
              </a:rPr>
              <a:t>The request you set at Door 1 is the number the autoscaler divides by at Door 3, and Door 2 decides whether either number is believable. Get Door 1 wrong and Door 3 is wrong by the same factor.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140" kern="0" dirty="0">
                <a:solidFill>
                  <a:srgbClr val="0A558C"/>
                </a:solidFill>
                <a:latin typeface="Calibri" pitchFamily="34" charset="0"/>
                <a:ea typeface="Calibri" pitchFamily="34" charset="-122"/>
                <a:cs typeface="Calibri" pitchFamily="34" charset="-120"/>
              </a:rPr>
              <a:t>DOOR 1 · COST</a:t>
            </a:r>
            <a:endParaRPr lang="en-US" sz="10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900" b="1" dirty="0">
                <a:solidFill>
                  <a:srgbClr val="102A43"/>
                </a:solidFill>
                <a:latin typeface="Cambria" pitchFamily="34" charset="0"/>
                <a:ea typeface="Cambria" pitchFamily="34" charset="-122"/>
                <a:cs typeface="Cambria" pitchFamily="34" charset="-120"/>
              </a:rPr>
              <a:t>One asymmetry decides everything</a:t>
            </a:r>
            <a:endParaRPr lang="en-US" sz="2900" dirty="0"/>
          </a:p>
        </p:txBody>
      </p:sp>
      <p:sp>
        <p:nvSpPr>
          <p:cNvPr id="4" name="Text 2"/>
          <p:cNvSpPr txBox="1"/>
          <p:nvPr/>
        </p:nvSpPr>
        <p:spPr>
          <a:xfrm>
            <a:off x="457200" y="1115568"/>
            <a:ext cx="8229600" cy="457200"/>
          </a:xfrm>
          <a:prstGeom prst="rect">
            <a:avLst/>
          </a:prstGeom>
          <a:noFill/>
          <a:ln/>
        </p:spPr>
        <p:txBody>
          <a:bodyPr wrap="square" lIns="0" tIns="0" rIns="0" bIns="0" rtlCol="0" anchor="ctr"/>
          <a:lstStyle/>
          <a:p>
            <a:pPr indent="0" marL="0">
              <a:buNone/>
            </a:pPr>
            <a:r>
              <a:rPr lang="en-US" sz="2100" b="1" dirty="0">
                <a:solidFill>
                  <a:srgbClr val="102A43"/>
                </a:solidFill>
                <a:latin typeface="Cambria" pitchFamily="34" charset="0"/>
                <a:ea typeface="Cambria" pitchFamily="34" charset="-122"/>
                <a:cs typeface="Cambria" pitchFamily="34" charset="-120"/>
              </a:rPr>
              <a:t>A CPU limit costs you latency. A memory limit costs you the process.</a:t>
            </a:r>
            <a:endParaRPr lang="en-US" sz="2100" dirty="0"/>
          </a:p>
        </p:txBody>
      </p:sp>
      <p:sp>
        <p:nvSpPr>
          <p:cNvPr id="5" name="Text 3"/>
          <p:cNvSpPr txBox="1"/>
          <p:nvPr/>
        </p:nvSpPr>
        <p:spPr>
          <a:xfrm>
            <a:off x="457200" y="1618488"/>
            <a:ext cx="8229600" cy="566928"/>
          </a:xfrm>
          <a:prstGeom prst="rect">
            <a:avLst/>
          </a:prstGeom>
          <a:noFill/>
          <a:ln/>
        </p:spPr>
        <p:txBody>
          <a:bodyPr wrap="square" lIns="0" tIns="0" rIns="0" bIns="0" rtlCol="0" anchor="ctr"/>
          <a:lstStyle/>
          <a:p>
            <a:pPr indent="0" marL="0">
              <a:buNone/>
            </a:pPr>
            <a:r>
              <a:rPr lang="en-US" sz="1150" dirty="0">
                <a:solidFill>
                  <a:srgbClr val="486581"/>
                </a:solidFill>
                <a:latin typeface="Calibri" pitchFamily="34" charset="0"/>
                <a:ea typeface="Calibri" pitchFamily="34" charset="-122"/>
                <a:cs typeface="Calibri" pitchFamily="34" charset="-120"/>
              </a:rPr>
              <a:t>CPU is compressible: exceed your share and the kernel makes you wait. Memory is not — there is no ‘wait’, so the only move the kernel has is to kill. That single difference is why the two knobs are set in completely different ways.</a:t>
            </a:r>
            <a:endParaRPr lang="en-US" sz="1150" dirty="0"/>
          </a:p>
        </p:txBody>
      </p:sp>
      <p:sp>
        <p:nvSpPr>
          <p:cNvPr id="6" name="Shape 4"/>
          <p:cNvSpPr/>
          <p:nvPr/>
        </p:nvSpPr>
        <p:spPr>
          <a:xfrm>
            <a:off x="457200" y="2231136"/>
            <a:ext cx="2633472" cy="1325880"/>
          </a:xfrm>
          <a:prstGeom prst="roundRect">
            <a:avLst>
              <a:gd name="adj" fmla="val 4138"/>
            </a:avLst>
          </a:prstGeom>
          <a:solidFill>
            <a:srgbClr val="F0F4F8"/>
          </a:solidFill>
          <a:ln w="12700">
            <a:solidFill>
              <a:srgbClr val="D9E2EC"/>
            </a:solidFill>
            <a:prstDash val="solid"/>
          </a:ln>
        </p:spPr>
      </p:sp>
      <p:sp>
        <p:nvSpPr>
          <p:cNvPr id="7" name="Text 5"/>
          <p:cNvSpPr txBox="1"/>
          <p:nvPr/>
        </p:nvSpPr>
        <p:spPr>
          <a:xfrm>
            <a:off x="603504" y="2359152"/>
            <a:ext cx="2340864" cy="237744"/>
          </a:xfrm>
          <a:prstGeom prst="rect">
            <a:avLst/>
          </a:prstGeom>
          <a:noFill/>
          <a:ln/>
        </p:spPr>
        <p:txBody>
          <a:bodyPr wrap="square" lIns="0" tIns="0" rIns="0" bIns="0" rtlCol="0" anchor="ctr"/>
          <a:lstStyle/>
          <a:p>
            <a:pPr indent="0" marL="0">
              <a:buNone/>
            </a:pPr>
            <a:r>
              <a:rPr lang="en-US" sz="1300" b="1" dirty="0">
                <a:solidFill>
                  <a:srgbClr val="102A43"/>
                </a:solidFill>
                <a:latin typeface="Calibri" pitchFamily="34" charset="0"/>
                <a:ea typeface="Calibri" pitchFamily="34" charset="-122"/>
                <a:cs typeface="Calibri" pitchFamily="34" charset="-120"/>
              </a:rPr>
              <a:t>Memory: request = limit</a:t>
            </a:r>
            <a:endParaRPr lang="en-US" sz="1300" dirty="0"/>
          </a:p>
        </p:txBody>
      </p:sp>
      <p:sp>
        <p:nvSpPr>
          <p:cNvPr id="8" name="Text 6"/>
          <p:cNvSpPr txBox="1"/>
          <p:nvPr/>
        </p:nvSpPr>
        <p:spPr>
          <a:xfrm>
            <a:off x="603504" y="2615184"/>
            <a:ext cx="2340864" cy="832104"/>
          </a:xfrm>
          <a:prstGeom prst="rect">
            <a:avLst/>
          </a:prstGeom>
          <a:noFill/>
          <a:ln/>
        </p:spPr>
        <p:txBody>
          <a:bodyPr wrap="square" lIns="0" tIns="0" rIns="0" bIns="0" rtlCol="0" anchor="t"/>
          <a:lstStyle/>
          <a:p>
            <a:pPr indent="0" marL="0">
              <a:buNone/>
            </a:pPr>
            <a:r>
              <a:rPr lang="en-US" sz="1000" dirty="0">
                <a:solidFill>
                  <a:srgbClr val="486581"/>
                </a:solidFill>
                <a:latin typeface="Calibri" pitchFamily="34" charset="0"/>
                <a:ea typeface="Calibri" pitchFamily="34" charset="-122"/>
                <a:cs typeface="Calibri" pitchFamily="34" charset="-120"/>
              </a:rPr>
              <a:t>Pin them together. You are then killed at exactly the number you reserved, with no surprising gap in between — and the scheduler has actually set that much aside for you.</a:t>
            </a:r>
            <a:endParaRPr lang="en-US" sz="1000" dirty="0"/>
          </a:p>
        </p:txBody>
      </p:sp>
      <p:sp>
        <p:nvSpPr>
          <p:cNvPr id="9" name="Shape 7"/>
          <p:cNvSpPr/>
          <p:nvPr/>
        </p:nvSpPr>
        <p:spPr>
          <a:xfrm>
            <a:off x="3255264" y="2231136"/>
            <a:ext cx="2633472" cy="1325880"/>
          </a:xfrm>
          <a:prstGeom prst="roundRect">
            <a:avLst>
              <a:gd name="adj" fmla="val 4138"/>
            </a:avLst>
          </a:prstGeom>
          <a:solidFill>
            <a:srgbClr val="F0F4F8"/>
          </a:solidFill>
          <a:ln w="12700">
            <a:solidFill>
              <a:srgbClr val="D9E2EC"/>
            </a:solidFill>
            <a:prstDash val="solid"/>
          </a:ln>
        </p:spPr>
      </p:sp>
      <p:sp>
        <p:nvSpPr>
          <p:cNvPr id="10" name="Text 8"/>
          <p:cNvSpPr txBox="1"/>
          <p:nvPr/>
        </p:nvSpPr>
        <p:spPr>
          <a:xfrm>
            <a:off x="3401568" y="2359152"/>
            <a:ext cx="2340864" cy="237744"/>
          </a:xfrm>
          <a:prstGeom prst="rect">
            <a:avLst/>
          </a:prstGeom>
          <a:noFill/>
          <a:ln/>
        </p:spPr>
        <p:txBody>
          <a:bodyPr wrap="square" lIns="0" tIns="0" rIns="0" bIns="0" rtlCol="0" anchor="ctr"/>
          <a:lstStyle/>
          <a:p>
            <a:pPr indent="0" marL="0">
              <a:buNone/>
            </a:pPr>
            <a:r>
              <a:rPr lang="en-US" sz="1300" b="1" dirty="0">
                <a:solidFill>
                  <a:srgbClr val="102A43"/>
                </a:solidFill>
                <a:latin typeface="Calibri" pitchFamily="34" charset="0"/>
                <a:ea typeface="Calibri" pitchFamily="34" charset="-122"/>
                <a:cs typeface="Calibri" pitchFamily="34" charset="-120"/>
              </a:rPr>
              <a:t>CPU: set a request, think hard about a limit</a:t>
            </a:r>
            <a:endParaRPr lang="en-US" sz="1300" dirty="0"/>
          </a:p>
        </p:txBody>
      </p:sp>
      <p:sp>
        <p:nvSpPr>
          <p:cNvPr id="11" name="Text 9"/>
          <p:cNvSpPr txBox="1"/>
          <p:nvPr/>
        </p:nvSpPr>
        <p:spPr>
          <a:xfrm>
            <a:off x="3401568" y="2615184"/>
            <a:ext cx="2340864" cy="832104"/>
          </a:xfrm>
          <a:prstGeom prst="rect">
            <a:avLst/>
          </a:prstGeom>
          <a:noFill/>
          <a:ln/>
        </p:spPr>
        <p:txBody>
          <a:bodyPr wrap="square" lIns="0" tIns="0" rIns="0" bIns="0" rtlCol="0" anchor="t"/>
          <a:lstStyle/>
          <a:p>
            <a:pPr indent="0" marL="0">
              <a:buNone/>
            </a:pPr>
            <a:r>
              <a:rPr lang="en-US" sz="1000" dirty="0">
                <a:solidFill>
                  <a:srgbClr val="486581"/>
                </a:solidFill>
                <a:latin typeface="Calibri" pitchFamily="34" charset="0"/>
                <a:ea typeface="Calibri" pitchFamily="34" charset="-122"/>
                <a:cs typeface="Calibri" pitchFamily="34" charset="-120"/>
              </a:rPr>
              <a:t>A quota throttles precisely the tail you are judged on. Plenty of teams deliberately run a CPU request with no CPU limit, and watch the throttle ratio instead.</a:t>
            </a:r>
            <a:endParaRPr lang="en-US" sz="1000" dirty="0"/>
          </a:p>
        </p:txBody>
      </p:sp>
      <p:sp>
        <p:nvSpPr>
          <p:cNvPr id="12" name="Shape 10"/>
          <p:cNvSpPr/>
          <p:nvPr/>
        </p:nvSpPr>
        <p:spPr>
          <a:xfrm>
            <a:off x="6053328" y="2231136"/>
            <a:ext cx="2633472" cy="1325880"/>
          </a:xfrm>
          <a:prstGeom prst="roundRect">
            <a:avLst>
              <a:gd name="adj" fmla="val 4138"/>
            </a:avLst>
          </a:prstGeom>
          <a:solidFill>
            <a:srgbClr val="F0F4F8"/>
          </a:solidFill>
          <a:ln w="12700">
            <a:solidFill>
              <a:srgbClr val="D9E2EC"/>
            </a:solidFill>
            <a:prstDash val="solid"/>
          </a:ln>
        </p:spPr>
      </p:sp>
      <p:sp>
        <p:nvSpPr>
          <p:cNvPr id="13" name="Text 11"/>
          <p:cNvSpPr txBox="1"/>
          <p:nvPr/>
        </p:nvSpPr>
        <p:spPr>
          <a:xfrm>
            <a:off x="6199632" y="2359152"/>
            <a:ext cx="2340864" cy="237744"/>
          </a:xfrm>
          <a:prstGeom prst="rect">
            <a:avLst/>
          </a:prstGeom>
          <a:noFill/>
          <a:ln/>
        </p:spPr>
        <p:txBody>
          <a:bodyPr wrap="square" lIns="0" tIns="0" rIns="0" bIns="0" rtlCol="0" anchor="ctr"/>
          <a:lstStyle/>
          <a:p>
            <a:pPr indent="0" marL="0">
              <a:buNone/>
            </a:pPr>
            <a:r>
              <a:rPr lang="en-US" sz="1300" b="1" dirty="0">
                <a:solidFill>
                  <a:srgbClr val="102A43"/>
                </a:solidFill>
                <a:latin typeface="Calibri" pitchFamily="34" charset="0"/>
                <a:ea typeface="Calibri" pitchFamily="34" charset="-122"/>
                <a:cs typeface="Calibri" pitchFamily="34" charset="-120"/>
              </a:rPr>
              <a:t>The kill is not a Java exception</a:t>
            </a:r>
            <a:endParaRPr lang="en-US" sz="1300" dirty="0"/>
          </a:p>
        </p:txBody>
      </p:sp>
      <p:sp>
        <p:nvSpPr>
          <p:cNvPr id="14" name="Text 12"/>
          <p:cNvSpPr txBox="1"/>
          <p:nvPr/>
        </p:nvSpPr>
        <p:spPr>
          <a:xfrm>
            <a:off x="6199632" y="2615184"/>
            <a:ext cx="2340864" cy="832104"/>
          </a:xfrm>
          <a:prstGeom prst="rect">
            <a:avLst/>
          </a:prstGeom>
          <a:noFill/>
          <a:ln/>
        </p:spPr>
        <p:txBody>
          <a:bodyPr wrap="square" lIns="0" tIns="0" rIns="0" bIns="0" rtlCol="0" anchor="t"/>
          <a:lstStyle/>
          <a:p>
            <a:pPr indent="0" marL="0">
              <a:buNone/>
            </a:pPr>
            <a:r>
              <a:rPr lang="en-US" sz="1000" dirty="0">
                <a:solidFill>
                  <a:srgbClr val="102A43"/>
                </a:solidFill>
                <a:latin typeface="Courier New" pitchFamily="34" charset="0"/>
                <a:ea typeface="Courier New" pitchFamily="34" charset="-122"/>
                <a:cs typeface="Courier New" pitchFamily="34" charset="-120"/>
              </a:rPr>
              <a:t>OOMKilled</a:t>
            </a:r>
            <a:pPr indent="0" marL="0">
              <a:buNone/>
            </a:pPr>
            <a:r>
              <a:rPr lang="en-US" sz="1000" dirty="0">
                <a:solidFill>
                  <a:srgbClr val="486581"/>
                </a:solidFill>
                <a:latin typeface="Calibri" pitchFamily="34" charset="0"/>
                <a:ea typeface="Calibri" pitchFamily="34" charset="-122"/>
                <a:cs typeface="Calibri" pitchFamily="34" charset="-120"/>
              </a:rPr>
              <a:t>, exit 137, is the kernel. Your </a:t>
            </a:r>
            <a:pPr indent="0" marL="0">
              <a:buNone/>
            </a:pPr>
            <a:r>
              <a:rPr lang="en-US" sz="1000" dirty="0">
                <a:solidFill>
                  <a:srgbClr val="102A43"/>
                </a:solidFill>
                <a:latin typeface="Courier New" pitchFamily="34" charset="0"/>
                <a:ea typeface="Courier New" pitchFamily="34" charset="-122"/>
                <a:cs typeface="Courier New" pitchFamily="34" charset="-120"/>
              </a:rPr>
              <a:t>OutOfMemoryError</a:t>
            </a:r>
            <a:pPr indent="0" marL="0">
              <a:buNone/>
            </a:pPr>
            <a:r>
              <a:rPr lang="en-US" sz="1000" dirty="0">
                <a:solidFill>
                  <a:srgbClr val="486581"/>
                </a:solidFill>
                <a:latin typeface="Calibri" pitchFamily="34" charset="0"/>
                <a:ea typeface="Calibri" pitchFamily="34" charset="-122"/>
                <a:cs typeface="Calibri" pitchFamily="34" charset="-120"/>
              </a:rPr>
              <a:t> handling never runs, no stack trace is printed, and nothing in your code could have caught it.</a:t>
            </a:r>
            <a:endParaRPr lang="en-US" sz="1000" dirty="0"/>
          </a:p>
        </p:txBody>
      </p:sp>
      <p:sp>
        <p:nvSpPr>
          <p:cNvPr id="15" name="Shape 13"/>
          <p:cNvSpPr/>
          <p:nvPr/>
        </p:nvSpPr>
        <p:spPr>
          <a:xfrm>
            <a:off x="457200" y="3675888"/>
            <a:ext cx="8229600" cy="658368"/>
          </a:xfrm>
          <a:prstGeom prst="roundRect">
            <a:avLst>
              <a:gd name="adj" fmla="val 8333"/>
            </a:avLst>
          </a:prstGeom>
          <a:solidFill>
            <a:srgbClr val="F0F4F8"/>
          </a:solidFill>
          <a:ln w="12700">
            <a:solidFill>
              <a:srgbClr val="D9E2EC"/>
            </a:solidFill>
            <a:prstDash val="solid"/>
          </a:ln>
        </p:spPr>
      </p:sp>
      <p:sp>
        <p:nvSpPr>
          <p:cNvPr id="16" name="Text 14"/>
          <p:cNvSpPr txBox="1"/>
          <p:nvPr/>
        </p:nvSpPr>
        <p:spPr>
          <a:xfrm>
            <a:off x="640080" y="3749040"/>
            <a:ext cx="7863840" cy="182880"/>
          </a:xfrm>
          <a:prstGeom prst="rect">
            <a:avLst/>
          </a:prstGeom>
          <a:noFill/>
          <a:ln/>
        </p:spPr>
        <p:txBody>
          <a:bodyPr wrap="square" lIns="0" tIns="0" rIns="0" bIns="0" rtlCol="0" anchor="ctr"/>
          <a:lstStyle/>
          <a:p>
            <a:pPr indent="0" marL="0">
              <a:buNone/>
            </a:pPr>
            <a:r>
              <a:rPr lang="en-US" sz="850" b="1" spc="90" kern="0" dirty="0">
                <a:solidFill>
                  <a:srgbClr val="0A558C"/>
                </a:solidFill>
                <a:latin typeface="Calibri" pitchFamily="34" charset="0"/>
                <a:ea typeface="Calibri" pitchFamily="34" charset="-122"/>
                <a:cs typeface="Calibri" pitchFamily="34" charset="-120"/>
              </a:rPr>
              <a:t>THE JVM TWIST</a:t>
            </a:r>
            <a:endParaRPr lang="en-US" sz="850" dirty="0"/>
          </a:p>
        </p:txBody>
      </p:sp>
      <p:sp>
        <p:nvSpPr>
          <p:cNvPr id="17" name="Text 15"/>
          <p:cNvSpPr txBox="1"/>
          <p:nvPr/>
        </p:nvSpPr>
        <p:spPr>
          <a:xfrm>
            <a:off x="640080" y="3931920"/>
            <a:ext cx="7863840" cy="347472"/>
          </a:xfrm>
          <a:prstGeom prst="rect">
            <a:avLst/>
          </a:prstGeom>
          <a:noFill/>
          <a:ln/>
        </p:spPr>
        <p:txBody>
          <a:bodyPr wrap="square" lIns="0" tIns="0" rIns="0" bIns="0" rtlCol="0" anchor="t"/>
          <a:lstStyle/>
          <a:p>
            <a:pPr indent="0" marL="0">
              <a:buNone/>
            </a:pPr>
            <a:r>
              <a:rPr lang="en-US" sz="1100" dirty="0">
                <a:solidFill>
                  <a:srgbClr val="102A43"/>
                </a:solidFill>
                <a:latin typeface="Calibri" pitchFamily="34" charset="0"/>
                <a:ea typeface="Calibri" pitchFamily="34" charset="-122"/>
                <a:cs typeface="Calibri" pitchFamily="34" charset="-120"/>
              </a:rPr>
              <a:t>Your heap is only the biggest tenant of the container. Metaspace, thread stacks, the code cache and direct buffers live there too — which is exactly how a pod dies at its memory limit while every heap dump looks healthy.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140" kern="0" dirty="0">
                <a:solidFill>
                  <a:srgbClr val="0A558C"/>
                </a:solidFill>
                <a:latin typeface="Calibri" pitchFamily="34" charset="0"/>
                <a:ea typeface="Calibri" pitchFamily="34" charset="-122"/>
                <a:cs typeface="Calibri" pitchFamily="34" charset="-120"/>
              </a:rPr>
              <a:t>DOOR 2 · TRUTH</a:t>
            </a:r>
            <a:endParaRPr lang="en-US" sz="10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900" b="1" dirty="0">
                <a:solidFill>
                  <a:srgbClr val="102A43"/>
                </a:solidFill>
                <a:latin typeface="Cambria" pitchFamily="34" charset="0"/>
                <a:ea typeface="Cambria" pitchFamily="34" charset="-122"/>
                <a:cs typeface="Cambria" pitchFamily="34" charset="-120"/>
              </a:rPr>
              <a:t>Three probes, three different questions</a:t>
            </a:r>
            <a:endParaRPr lang="en-US" sz="2900" dirty="0"/>
          </a:p>
        </p:txBody>
      </p:sp>
      <p:sp>
        <p:nvSpPr>
          <p:cNvPr id="4" name="Shape 2"/>
          <p:cNvSpPr/>
          <p:nvPr/>
        </p:nvSpPr>
        <p:spPr>
          <a:xfrm>
            <a:off x="457200" y="1115568"/>
            <a:ext cx="2633472" cy="1554480"/>
          </a:xfrm>
          <a:prstGeom prst="roundRect">
            <a:avLst>
              <a:gd name="adj" fmla="val 3529"/>
            </a:avLst>
          </a:prstGeom>
          <a:solidFill>
            <a:srgbClr val="F0F4F8"/>
          </a:solidFill>
          <a:ln w="12700">
            <a:solidFill>
              <a:srgbClr val="D9E2EC"/>
            </a:solidFill>
            <a:prstDash val="solid"/>
          </a:ln>
        </p:spPr>
      </p:sp>
      <p:sp>
        <p:nvSpPr>
          <p:cNvPr id="5" name="Text 3"/>
          <p:cNvSpPr txBox="1"/>
          <p:nvPr/>
        </p:nvSpPr>
        <p:spPr>
          <a:xfrm>
            <a:off x="603504" y="1243584"/>
            <a:ext cx="2340864" cy="237744"/>
          </a:xfrm>
          <a:prstGeom prst="rect">
            <a:avLst/>
          </a:prstGeom>
          <a:noFill/>
          <a:ln/>
        </p:spPr>
        <p:txBody>
          <a:bodyPr wrap="square" lIns="0" tIns="0" rIns="0" bIns="0" rtlCol="0" anchor="ctr"/>
          <a:lstStyle/>
          <a:p>
            <a:pPr indent="0" marL="0">
              <a:buNone/>
            </a:pPr>
            <a:r>
              <a:rPr lang="en-US" sz="1400" b="1" dirty="0">
                <a:solidFill>
                  <a:srgbClr val="102A43"/>
                </a:solidFill>
                <a:latin typeface="Calibri" pitchFamily="34" charset="0"/>
                <a:ea typeface="Calibri" pitchFamily="34" charset="-122"/>
                <a:cs typeface="Calibri" pitchFamily="34" charset="-120"/>
              </a:rPr>
              <a:t>startupProbe</a:t>
            </a:r>
            <a:endParaRPr lang="en-US" sz="1400" dirty="0"/>
          </a:p>
        </p:txBody>
      </p:sp>
      <p:sp>
        <p:nvSpPr>
          <p:cNvPr id="6" name="Text 4"/>
          <p:cNvSpPr txBox="1"/>
          <p:nvPr/>
        </p:nvSpPr>
        <p:spPr>
          <a:xfrm>
            <a:off x="603504" y="1499616"/>
            <a:ext cx="2340864" cy="219456"/>
          </a:xfrm>
          <a:prstGeom prst="rect">
            <a:avLst/>
          </a:prstGeom>
          <a:noFill/>
          <a:ln/>
        </p:spPr>
        <p:txBody>
          <a:bodyPr wrap="square" lIns="0" tIns="0" rIns="0" bIns="0" rtlCol="0" anchor="ctr"/>
          <a:lstStyle/>
          <a:p>
            <a:pPr indent="0" marL="0">
              <a:buNone/>
            </a:pPr>
            <a:r>
              <a:rPr lang="en-US" sz="1050" i="1" dirty="0">
                <a:solidFill>
                  <a:srgbClr val="0A558C"/>
                </a:solidFill>
                <a:latin typeface="Calibri" pitchFamily="34" charset="0"/>
                <a:ea typeface="Calibri" pitchFamily="34" charset="-122"/>
                <a:cs typeface="Calibri" pitchFamily="34" charset="-120"/>
              </a:rPr>
              <a:t>“Have you finished booting?”</a:t>
            </a:r>
            <a:endParaRPr lang="en-US" sz="1050" dirty="0"/>
          </a:p>
        </p:txBody>
      </p:sp>
      <p:sp>
        <p:nvSpPr>
          <p:cNvPr id="7" name="Text 5"/>
          <p:cNvSpPr txBox="1"/>
          <p:nvPr/>
        </p:nvSpPr>
        <p:spPr>
          <a:xfrm>
            <a:off x="603504" y="1737360"/>
            <a:ext cx="2340864" cy="822960"/>
          </a:xfrm>
          <a:prstGeom prst="rect">
            <a:avLst/>
          </a:prstGeom>
          <a:noFill/>
          <a:ln/>
        </p:spPr>
        <p:txBody>
          <a:bodyPr wrap="square" lIns="0" tIns="0" rIns="0" bIns="0" rtlCol="0" anchor="t"/>
          <a:lstStyle/>
          <a:p>
            <a:pPr indent="0" marL="0">
              <a:buNone/>
            </a:pPr>
            <a:r>
              <a:rPr lang="en-US" sz="1000" dirty="0">
                <a:solidFill>
                  <a:srgbClr val="486581"/>
                </a:solidFill>
                <a:latin typeface="Calibri" pitchFamily="34" charset="0"/>
                <a:ea typeface="Calibri" pitchFamily="34" charset="-122"/>
                <a:cs typeface="Calibri" pitchFamily="34" charset="-120"/>
              </a:rPr>
              <a:t>Buys a slow JVM all the time it needs, without making the liveness probe permanently lenient.</a:t>
            </a:r>
            <a:endParaRPr lang="en-US" sz="1000" dirty="0"/>
          </a:p>
        </p:txBody>
      </p:sp>
      <p:sp>
        <p:nvSpPr>
          <p:cNvPr id="8" name="Shape 6"/>
          <p:cNvSpPr/>
          <p:nvPr/>
        </p:nvSpPr>
        <p:spPr>
          <a:xfrm>
            <a:off x="3255264" y="1115568"/>
            <a:ext cx="2633472" cy="1554480"/>
          </a:xfrm>
          <a:prstGeom prst="roundRect">
            <a:avLst>
              <a:gd name="adj" fmla="val 3529"/>
            </a:avLst>
          </a:prstGeom>
          <a:solidFill>
            <a:srgbClr val="F0F4F8"/>
          </a:solidFill>
          <a:ln w="12700">
            <a:solidFill>
              <a:srgbClr val="D9E2EC"/>
            </a:solidFill>
            <a:prstDash val="solid"/>
          </a:ln>
        </p:spPr>
      </p:sp>
      <p:sp>
        <p:nvSpPr>
          <p:cNvPr id="9" name="Text 7"/>
          <p:cNvSpPr txBox="1"/>
          <p:nvPr/>
        </p:nvSpPr>
        <p:spPr>
          <a:xfrm>
            <a:off x="3401568" y="1243584"/>
            <a:ext cx="2340864" cy="237744"/>
          </a:xfrm>
          <a:prstGeom prst="rect">
            <a:avLst/>
          </a:prstGeom>
          <a:noFill/>
          <a:ln/>
        </p:spPr>
        <p:txBody>
          <a:bodyPr wrap="square" lIns="0" tIns="0" rIns="0" bIns="0" rtlCol="0" anchor="ctr"/>
          <a:lstStyle/>
          <a:p>
            <a:pPr indent="0" marL="0">
              <a:buNone/>
            </a:pPr>
            <a:r>
              <a:rPr lang="en-US" sz="1400" b="1" dirty="0">
                <a:solidFill>
                  <a:srgbClr val="102A43"/>
                </a:solidFill>
                <a:latin typeface="Calibri" pitchFamily="34" charset="0"/>
                <a:ea typeface="Calibri" pitchFamily="34" charset="-122"/>
                <a:cs typeface="Calibri" pitchFamily="34" charset="-120"/>
              </a:rPr>
              <a:t>readinessProbe</a:t>
            </a:r>
            <a:endParaRPr lang="en-US" sz="1400" dirty="0"/>
          </a:p>
        </p:txBody>
      </p:sp>
      <p:sp>
        <p:nvSpPr>
          <p:cNvPr id="10" name="Text 8"/>
          <p:cNvSpPr txBox="1"/>
          <p:nvPr/>
        </p:nvSpPr>
        <p:spPr>
          <a:xfrm>
            <a:off x="3401568" y="1499616"/>
            <a:ext cx="2340864" cy="219456"/>
          </a:xfrm>
          <a:prstGeom prst="rect">
            <a:avLst/>
          </a:prstGeom>
          <a:noFill/>
          <a:ln/>
        </p:spPr>
        <p:txBody>
          <a:bodyPr wrap="square" lIns="0" tIns="0" rIns="0" bIns="0" rtlCol="0" anchor="ctr"/>
          <a:lstStyle/>
          <a:p>
            <a:pPr indent="0" marL="0">
              <a:buNone/>
            </a:pPr>
            <a:r>
              <a:rPr lang="en-US" sz="1050" i="1" dirty="0">
                <a:solidFill>
                  <a:srgbClr val="0A558C"/>
                </a:solidFill>
                <a:latin typeface="Calibri" pitchFamily="34" charset="0"/>
                <a:ea typeface="Calibri" pitchFamily="34" charset="-122"/>
                <a:cs typeface="Calibri" pitchFamily="34" charset="-120"/>
              </a:rPr>
              <a:t>“Should I send you traffic right now?”</a:t>
            </a:r>
            <a:endParaRPr lang="en-US" sz="1050" dirty="0"/>
          </a:p>
        </p:txBody>
      </p:sp>
      <p:sp>
        <p:nvSpPr>
          <p:cNvPr id="11" name="Text 9"/>
          <p:cNvSpPr txBox="1"/>
          <p:nvPr/>
        </p:nvSpPr>
        <p:spPr>
          <a:xfrm>
            <a:off x="3401568" y="1737360"/>
            <a:ext cx="2340864" cy="822960"/>
          </a:xfrm>
          <a:prstGeom prst="rect">
            <a:avLst/>
          </a:prstGeom>
          <a:noFill/>
          <a:ln/>
        </p:spPr>
        <p:txBody>
          <a:bodyPr wrap="square" lIns="0" tIns="0" rIns="0" bIns="0" rtlCol="0" anchor="t"/>
          <a:lstStyle/>
          <a:p>
            <a:pPr indent="0" marL="0">
              <a:buNone/>
            </a:pPr>
            <a:r>
              <a:rPr lang="en-US" sz="1000" dirty="0">
                <a:solidFill>
                  <a:srgbClr val="486581"/>
                </a:solidFill>
                <a:latin typeface="Calibri" pitchFamily="34" charset="0"/>
                <a:ea typeface="Calibri" pitchFamily="34" charset="-122"/>
                <a:cs typeface="Calibri" pitchFamily="34" charset="-120"/>
              </a:rPr>
              <a:t>The only probe that gates the Service. Failing it removes you from the load balancer — it does not restart you.</a:t>
            </a:r>
            <a:endParaRPr lang="en-US" sz="1000" dirty="0"/>
          </a:p>
        </p:txBody>
      </p:sp>
      <p:sp>
        <p:nvSpPr>
          <p:cNvPr id="12" name="Shape 10"/>
          <p:cNvSpPr/>
          <p:nvPr/>
        </p:nvSpPr>
        <p:spPr>
          <a:xfrm>
            <a:off x="6053328" y="1115568"/>
            <a:ext cx="2633472" cy="1554480"/>
          </a:xfrm>
          <a:prstGeom prst="roundRect">
            <a:avLst>
              <a:gd name="adj" fmla="val 3529"/>
            </a:avLst>
          </a:prstGeom>
          <a:solidFill>
            <a:srgbClr val="F0F4F8"/>
          </a:solidFill>
          <a:ln w="12700">
            <a:solidFill>
              <a:srgbClr val="D9E2EC"/>
            </a:solidFill>
            <a:prstDash val="solid"/>
          </a:ln>
        </p:spPr>
      </p:sp>
      <p:sp>
        <p:nvSpPr>
          <p:cNvPr id="13" name="Text 11"/>
          <p:cNvSpPr txBox="1"/>
          <p:nvPr/>
        </p:nvSpPr>
        <p:spPr>
          <a:xfrm>
            <a:off x="6199632" y="1243584"/>
            <a:ext cx="2340864" cy="237744"/>
          </a:xfrm>
          <a:prstGeom prst="rect">
            <a:avLst/>
          </a:prstGeom>
          <a:noFill/>
          <a:ln/>
        </p:spPr>
        <p:txBody>
          <a:bodyPr wrap="square" lIns="0" tIns="0" rIns="0" bIns="0" rtlCol="0" anchor="ctr"/>
          <a:lstStyle/>
          <a:p>
            <a:pPr indent="0" marL="0">
              <a:buNone/>
            </a:pPr>
            <a:r>
              <a:rPr lang="en-US" sz="1400" b="1" dirty="0">
                <a:solidFill>
                  <a:srgbClr val="102A43"/>
                </a:solidFill>
                <a:latin typeface="Calibri" pitchFamily="34" charset="0"/>
                <a:ea typeface="Calibri" pitchFamily="34" charset="-122"/>
                <a:cs typeface="Calibri" pitchFamily="34" charset="-120"/>
              </a:rPr>
              <a:t>livenessProbe</a:t>
            </a:r>
            <a:endParaRPr lang="en-US" sz="1400" dirty="0"/>
          </a:p>
        </p:txBody>
      </p:sp>
      <p:sp>
        <p:nvSpPr>
          <p:cNvPr id="14" name="Text 12"/>
          <p:cNvSpPr txBox="1"/>
          <p:nvPr/>
        </p:nvSpPr>
        <p:spPr>
          <a:xfrm>
            <a:off x="6199632" y="1499616"/>
            <a:ext cx="2340864" cy="219456"/>
          </a:xfrm>
          <a:prstGeom prst="rect">
            <a:avLst/>
          </a:prstGeom>
          <a:noFill/>
          <a:ln/>
        </p:spPr>
        <p:txBody>
          <a:bodyPr wrap="square" lIns="0" tIns="0" rIns="0" bIns="0" rtlCol="0" anchor="ctr"/>
          <a:lstStyle/>
          <a:p>
            <a:pPr indent="0" marL="0">
              <a:buNone/>
            </a:pPr>
            <a:r>
              <a:rPr lang="en-US" sz="1050" i="1" dirty="0">
                <a:solidFill>
                  <a:srgbClr val="0A558C"/>
                </a:solidFill>
                <a:latin typeface="Calibri" pitchFamily="34" charset="0"/>
                <a:ea typeface="Calibri" pitchFamily="34" charset="-122"/>
                <a:cs typeface="Calibri" pitchFamily="34" charset="-120"/>
              </a:rPr>
              <a:t>“Are you wedged, so only a restart helps?”</a:t>
            </a:r>
            <a:endParaRPr lang="en-US" sz="1050" dirty="0"/>
          </a:p>
        </p:txBody>
      </p:sp>
      <p:sp>
        <p:nvSpPr>
          <p:cNvPr id="15" name="Text 13"/>
          <p:cNvSpPr txBox="1"/>
          <p:nvPr/>
        </p:nvSpPr>
        <p:spPr>
          <a:xfrm>
            <a:off x="6199632" y="1737360"/>
            <a:ext cx="2340864" cy="822960"/>
          </a:xfrm>
          <a:prstGeom prst="rect">
            <a:avLst/>
          </a:prstGeom>
          <a:noFill/>
          <a:ln/>
        </p:spPr>
        <p:txBody>
          <a:bodyPr wrap="square" lIns="0" tIns="0" rIns="0" bIns="0" rtlCol="0" anchor="t"/>
          <a:lstStyle/>
          <a:p>
            <a:pPr indent="0" marL="0">
              <a:buNone/>
            </a:pPr>
            <a:r>
              <a:rPr lang="en-US" sz="1000" dirty="0">
                <a:solidFill>
                  <a:srgbClr val="486581"/>
                </a:solidFill>
                <a:latin typeface="Calibri" pitchFamily="34" charset="0"/>
                <a:ea typeface="Calibri" pitchFamily="34" charset="-122"/>
                <a:cs typeface="Calibri" pitchFamily="34" charset="-120"/>
              </a:rPr>
              <a:t>It must judge nothing but itself. If it can fail for a reason a restart cannot fix, it is wired wrong.</a:t>
            </a:r>
            <a:endParaRPr lang="en-US" sz="1000" dirty="0"/>
          </a:p>
        </p:txBody>
      </p:sp>
      <p:sp>
        <p:nvSpPr>
          <p:cNvPr id="16" name="Shape 14"/>
          <p:cNvSpPr/>
          <p:nvPr/>
        </p:nvSpPr>
        <p:spPr>
          <a:xfrm>
            <a:off x="457200" y="2807208"/>
            <a:ext cx="8229600" cy="804672"/>
          </a:xfrm>
          <a:prstGeom prst="roundRect">
            <a:avLst>
              <a:gd name="adj" fmla="val 6818"/>
            </a:avLst>
          </a:prstGeom>
          <a:solidFill>
            <a:srgbClr val="F0F4F8"/>
          </a:solidFill>
          <a:ln w="12700">
            <a:solidFill>
              <a:srgbClr val="D9E2EC"/>
            </a:solidFill>
            <a:prstDash val="solid"/>
          </a:ln>
        </p:spPr>
      </p:sp>
      <p:sp>
        <p:nvSpPr>
          <p:cNvPr id="17" name="Text 15"/>
          <p:cNvSpPr txBox="1"/>
          <p:nvPr/>
        </p:nvSpPr>
        <p:spPr>
          <a:xfrm>
            <a:off x="640080" y="2880360"/>
            <a:ext cx="7863840" cy="182880"/>
          </a:xfrm>
          <a:prstGeom prst="rect">
            <a:avLst/>
          </a:prstGeom>
          <a:noFill/>
          <a:ln/>
        </p:spPr>
        <p:txBody>
          <a:bodyPr wrap="square" lIns="0" tIns="0" rIns="0" bIns="0" rtlCol="0" anchor="ctr"/>
          <a:lstStyle/>
          <a:p>
            <a:pPr indent="0" marL="0">
              <a:buNone/>
            </a:pPr>
            <a:r>
              <a:rPr lang="en-US" sz="850" b="1" spc="90" kern="0" dirty="0">
                <a:solidFill>
                  <a:srgbClr val="0A558C"/>
                </a:solidFill>
                <a:latin typeface="Calibri" pitchFamily="34" charset="0"/>
                <a:ea typeface="Calibri" pitchFamily="34" charset="-122"/>
                <a:cs typeface="Calibri" pitchFamily="34" charset="-120"/>
              </a:rPr>
              <a:t>THE CLASSIC OUTAGE</a:t>
            </a:r>
            <a:endParaRPr lang="en-US" sz="850" dirty="0"/>
          </a:p>
        </p:txBody>
      </p:sp>
      <p:sp>
        <p:nvSpPr>
          <p:cNvPr id="18" name="Text 16"/>
          <p:cNvSpPr txBox="1"/>
          <p:nvPr/>
        </p:nvSpPr>
        <p:spPr>
          <a:xfrm>
            <a:off x="640080" y="3063240"/>
            <a:ext cx="7863840" cy="493776"/>
          </a:xfrm>
          <a:prstGeom prst="rect">
            <a:avLst/>
          </a:prstGeom>
          <a:noFill/>
          <a:ln/>
        </p:spPr>
        <p:txBody>
          <a:bodyPr wrap="square" lIns="0" tIns="0" rIns="0" bIns="0" rtlCol="0" anchor="t"/>
          <a:lstStyle/>
          <a:p>
            <a:pPr indent="0" marL="0">
              <a:buNone/>
            </a:pPr>
            <a:r>
              <a:rPr lang="en-US" sz="1100" dirty="0">
                <a:solidFill>
                  <a:srgbClr val="102A43"/>
                </a:solidFill>
                <a:latin typeface="Calibri" pitchFamily="34" charset="0"/>
                <a:ea typeface="Calibri" pitchFamily="34" charset="-122"/>
                <a:cs typeface="Calibri" pitchFamily="34" charset="-120"/>
              </a:rPr>
              <a:t>A readiness probe that checks a downstream dependency. The dependency blips for thirty seconds → every replica reports not-ready → every replica leaves the load balancer at once → a wobble becomes a 100% outage. Readiness answers for you, never for your dependencies.</a:t>
            </a:r>
            <a:endParaRPr lang="en-US" sz="1100" dirty="0"/>
          </a:p>
        </p:txBody>
      </p:sp>
      <p:sp>
        <p:nvSpPr>
          <p:cNvPr id="19" name="Text 17"/>
          <p:cNvSpPr txBox="1"/>
          <p:nvPr/>
        </p:nvSpPr>
        <p:spPr>
          <a:xfrm>
            <a:off x="457200" y="3721608"/>
            <a:ext cx="8229600" cy="566928"/>
          </a:xfrm>
          <a:prstGeom prst="rect">
            <a:avLst/>
          </a:prstGeom>
          <a:noFill/>
          <a:ln/>
        </p:spPr>
        <p:txBody>
          <a:bodyPr wrap="square" lIns="0" tIns="0" rIns="0" bIns="0" rtlCol="0" anchor="ctr"/>
          <a:lstStyle/>
          <a:p>
            <a:pPr indent="0" marL="0">
              <a:buNone/>
            </a:pPr>
            <a:r>
              <a:rPr lang="en-US" sz="1100" dirty="0">
                <a:solidFill>
                  <a:srgbClr val="486581"/>
                </a:solidFill>
                <a:latin typeface="Calibri" pitchFamily="34" charset="0"/>
                <a:ea typeface="Calibri" pitchFamily="34" charset="-122"/>
                <a:cs typeface="Calibri" pitchFamily="34" charset="-120"/>
              </a:rPr>
              <a:t>And leaving is half of truth. When Kubernetes wants a pod gone, it removes the endpoint and sends SIGTERM at the same moment — these race. </a:t>
            </a:r>
            <a:pPr indent="0" marL="0">
              <a:buNone/>
            </a:pPr>
            <a:r>
              <a:rPr lang="en-US" sz="1100" dirty="0">
                <a:solidFill>
                  <a:srgbClr val="102A43"/>
                </a:solidFill>
                <a:latin typeface="Courier New" pitchFamily="34" charset="0"/>
                <a:ea typeface="Courier New" pitchFamily="34" charset="-122"/>
                <a:cs typeface="Courier New" pitchFamily="34" charset="-120"/>
              </a:rPr>
              <a:t>preStop: sleep 5</a:t>
            </a:r>
            <a:pPr indent="0" marL="0">
              <a:buNone/>
            </a:pPr>
            <a:r>
              <a:rPr lang="en-US" sz="1100" dirty="0">
                <a:solidFill>
                  <a:srgbClr val="486581"/>
                </a:solidFill>
                <a:latin typeface="Calibri" pitchFamily="34" charset="0"/>
                <a:ea typeface="Calibri" pitchFamily="34" charset="-122"/>
                <a:cs typeface="Calibri" pitchFamily="34" charset="-120"/>
              </a:rPr>
              <a:t> lets endpoint removal propagate first; your shutdown hook then finishes in-flight work inside the grace period.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140" kern="0" dirty="0">
                <a:solidFill>
                  <a:srgbClr val="0A558C"/>
                </a:solidFill>
                <a:latin typeface="Calibri" pitchFamily="34" charset="0"/>
                <a:ea typeface="Calibri" pitchFamily="34" charset="-122"/>
                <a:cs typeface="Calibri" pitchFamily="34" charset="-120"/>
              </a:rPr>
              <a:t>DOOR 3 · RESPONSE</a:t>
            </a:r>
            <a:endParaRPr lang="en-US" sz="10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900" b="1" dirty="0">
                <a:solidFill>
                  <a:srgbClr val="102A43"/>
                </a:solidFill>
                <a:latin typeface="Cambria" pitchFamily="34" charset="0"/>
                <a:ea typeface="Cambria" pitchFamily="34" charset="-122"/>
                <a:cs typeface="Cambria" pitchFamily="34" charset="-120"/>
              </a:rPr>
              <a:t>Scale on the thing that actually runs out</a:t>
            </a:r>
            <a:endParaRPr lang="en-US" sz="2900" dirty="0"/>
          </a:p>
        </p:txBody>
      </p:sp>
      <p:sp>
        <p:nvSpPr>
          <p:cNvPr id="4" name="Text 2"/>
          <p:cNvSpPr txBox="1"/>
          <p:nvPr/>
        </p:nvSpPr>
        <p:spPr>
          <a:xfrm>
            <a:off x="457200" y="1115568"/>
            <a:ext cx="8229600" cy="365760"/>
          </a:xfrm>
          <a:prstGeom prst="rect">
            <a:avLst/>
          </a:prstGeom>
          <a:noFill/>
          <a:ln/>
        </p:spPr>
        <p:txBody>
          <a:bodyPr wrap="square" lIns="0" tIns="0" rIns="0" bIns="0" rtlCol="0" anchor="ctr"/>
          <a:lstStyle/>
          <a:p>
            <a:pPr indent="0" marL="0">
              <a:buNone/>
            </a:pPr>
            <a:r>
              <a:rPr lang="en-US" sz="1150" dirty="0">
                <a:solidFill>
                  <a:srgbClr val="486581"/>
                </a:solidFill>
                <a:latin typeface="Calibri" pitchFamily="34" charset="0"/>
                <a:ea typeface="Calibri" pitchFamily="34" charset="-122"/>
                <a:cs typeface="Calibri" pitchFamily="34" charset="-120"/>
              </a:rPr>
              <a:t>The autoscaler's arithmetic is </a:t>
            </a:r>
            <a:pPr indent="0" marL="0">
              <a:buNone/>
            </a:pPr>
            <a:r>
              <a:rPr lang="en-US" sz="1150" dirty="0">
                <a:solidFill>
                  <a:srgbClr val="102A43"/>
                </a:solidFill>
                <a:latin typeface="Courier New" pitchFamily="34" charset="0"/>
                <a:ea typeface="Courier New" pitchFamily="34" charset="-122"/>
                <a:cs typeface="Courier New" pitchFamily="34" charset="-120"/>
              </a:rPr>
              <a:t>usage ÷ request</a:t>
            </a:r>
            <a:pPr indent="0" marL="0">
              <a:buNone/>
            </a:pPr>
            <a:r>
              <a:rPr lang="en-US" sz="1150" dirty="0">
                <a:solidFill>
                  <a:srgbClr val="486581"/>
                </a:solidFill>
                <a:latin typeface="Calibri" pitchFamily="34" charset="0"/>
                <a:ea typeface="Calibri" pitchFamily="34" charset="-122"/>
                <a:cs typeface="Calibri" pitchFamily="34" charset="-120"/>
              </a:rPr>
              <a:t>. It divides by the number you set at Door 1 — so a request nobody can defend produces scaling that is confidently wrong.</a:t>
            </a:r>
            <a:endParaRPr lang="en-US" sz="1150" dirty="0"/>
          </a:p>
        </p:txBody>
      </p:sp>
      <p:sp>
        <p:nvSpPr>
          <p:cNvPr id="5" name="Shape 3"/>
          <p:cNvSpPr/>
          <p:nvPr/>
        </p:nvSpPr>
        <p:spPr>
          <a:xfrm>
            <a:off x="457200" y="1572768"/>
            <a:ext cx="4005072" cy="1783080"/>
          </a:xfrm>
          <a:prstGeom prst="roundRect">
            <a:avLst>
              <a:gd name="adj" fmla="val 3077"/>
            </a:avLst>
          </a:prstGeom>
          <a:solidFill>
            <a:srgbClr val="F0F4F8"/>
          </a:solidFill>
          <a:ln w="12700">
            <a:solidFill>
              <a:srgbClr val="D9E2EC"/>
            </a:solidFill>
            <a:prstDash val="solid"/>
          </a:ln>
        </p:spPr>
      </p:sp>
      <p:sp>
        <p:nvSpPr>
          <p:cNvPr id="6" name="Text 4"/>
          <p:cNvSpPr txBox="1"/>
          <p:nvPr/>
        </p:nvSpPr>
        <p:spPr>
          <a:xfrm>
            <a:off x="640080" y="1700784"/>
            <a:ext cx="3639312" cy="274320"/>
          </a:xfrm>
          <a:prstGeom prst="rect">
            <a:avLst/>
          </a:prstGeom>
          <a:noFill/>
          <a:ln/>
        </p:spPr>
        <p:txBody>
          <a:bodyPr wrap="square" lIns="0" tIns="0" rIns="0" bIns="0" rtlCol="0" anchor="ctr"/>
          <a:lstStyle/>
          <a:p>
            <a:pPr indent="0" marL="0">
              <a:buNone/>
            </a:pPr>
            <a:r>
              <a:rPr lang="en-US" sz="1400" b="1" dirty="0">
                <a:solidFill>
                  <a:srgbClr val="102A43"/>
                </a:solidFill>
                <a:latin typeface="Calibri" pitchFamily="34" charset="0"/>
                <a:ea typeface="Calibri" pitchFamily="34" charset="-122"/>
                <a:cs typeface="Calibri" pitchFamily="34" charset="-120"/>
              </a:rPr>
              <a:t>CPU is the default, not the answer</a:t>
            </a:r>
            <a:endParaRPr lang="en-US" sz="1400" dirty="0"/>
          </a:p>
        </p:txBody>
      </p:sp>
      <p:sp>
        <p:nvSpPr>
          <p:cNvPr id="7" name="Text 5"/>
          <p:cNvSpPr txBox="1"/>
          <p:nvPr/>
        </p:nvSpPr>
        <p:spPr>
          <a:xfrm>
            <a:off x="640080" y="2011680"/>
            <a:ext cx="3639312" cy="868680"/>
          </a:xfrm>
          <a:prstGeom prst="rect">
            <a:avLst/>
          </a:prstGeom>
          <a:noFill/>
          <a:ln/>
        </p:spPr>
        <p:txBody>
          <a:bodyPr wrap="square" lIns="0" tIns="0" rIns="0" bIns="0" rtlCol="0" anchor="t"/>
          <a:lstStyle/>
          <a:p>
            <a:pPr indent="0" marL="0">
              <a:buNone/>
            </a:pPr>
            <a:r>
              <a:rPr lang="en-US" sz="1050" dirty="0">
                <a:solidFill>
                  <a:srgbClr val="486581"/>
                </a:solidFill>
                <a:latin typeface="Calibri" pitchFamily="34" charset="0"/>
                <a:ea typeface="Calibri" pitchFamily="34" charset="-122"/>
                <a:cs typeface="Calibri" pitchFamily="34" charset="-120"/>
              </a:rPr>
              <a:t>Measured on a service that spends its time waiting on a database: across the point where latency broke its promise, CPU utilisation moved from 0.61 to 0.66. Busy threads moved from 0.58 to 0.94. An autoscaler watching CPU would never have fired.</a:t>
            </a:r>
            <a:endParaRPr lang="en-US" sz="1050" dirty="0"/>
          </a:p>
        </p:txBody>
      </p:sp>
      <p:sp>
        <p:nvSpPr>
          <p:cNvPr id="8" name="Text 6"/>
          <p:cNvSpPr txBox="1"/>
          <p:nvPr/>
        </p:nvSpPr>
        <p:spPr>
          <a:xfrm>
            <a:off x="640080" y="2880360"/>
            <a:ext cx="3639312" cy="402336"/>
          </a:xfrm>
          <a:prstGeom prst="rect">
            <a:avLst/>
          </a:prstGeom>
          <a:noFill/>
          <a:ln/>
        </p:spPr>
        <p:txBody>
          <a:bodyPr wrap="square" lIns="0" tIns="0" rIns="0" bIns="0" rtlCol="0" anchor="b"/>
          <a:lstStyle/>
          <a:p>
            <a:pPr indent="0" marL="0">
              <a:buNone/>
            </a:pPr>
            <a:r>
              <a:rPr lang="en-US" sz="1000" i="1" dirty="0">
                <a:solidFill>
                  <a:srgbClr val="0A558C"/>
                </a:solidFill>
                <a:latin typeface="Calibri" pitchFamily="34" charset="0"/>
                <a:ea typeface="Calibri" pitchFamily="34" charset="-122"/>
                <a:cs typeface="Calibri" pitchFamily="34" charset="-120"/>
              </a:rPr>
              <a:t>Pick the number that saturates when the promise breaks — and was already moving one step earlier.</a:t>
            </a:r>
            <a:endParaRPr lang="en-US" sz="1000" dirty="0"/>
          </a:p>
        </p:txBody>
      </p:sp>
      <p:sp>
        <p:nvSpPr>
          <p:cNvPr id="9" name="Shape 7"/>
          <p:cNvSpPr/>
          <p:nvPr/>
        </p:nvSpPr>
        <p:spPr>
          <a:xfrm>
            <a:off x="4681728" y="1572768"/>
            <a:ext cx="4005072" cy="1783080"/>
          </a:xfrm>
          <a:prstGeom prst="roundRect">
            <a:avLst>
              <a:gd name="adj" fmla="val 3077"/>
            </a:avLst>
          </a:prstGeom>
          <a:solidFill>
            <a:srgbClr val="F0F4F8"/>
          </a:solidFill>
          <a:ln w="12700">
            <a:solidFill>
              <a:srgbClr val="D9E2EC"/>
            </a:solidFill>
            <a:prstDash val="solid"/>
          </a:ln>
        </p:spPr>
      </p:sp>
      <p:sp>
        <p:nvSpPr>
          <p:cNvPr id="10" name="Text 8"/>
          <p:cNvSpPr txBox="1"/>
          <p:nvPr/>
        </p:nvSpPr>
        <p:spPr>
          <a:xfrm>
            <a:off x="4864608" y="1700784"/>
            <a:ext cx="3639312" cy="274320"/>
          </a:xfrm>
          <a:prstGeom prst="rect">
            <a:avLst/>
          </a:prstGeom>
          <a:noFill/>
          <a:ln/>
        </p:spPr>
        <p:txBody>
          <a:bodyPr wrap="square" lIns="0" tIns="0" rIns="0" bIns="0" rtlCol="0" anchor="ctr"/>
          <a:lstStyle/>
          <a:p>
            <a:pPr indent="0" marL="0">
              <a:buNone/>
            </a:pPr>
            <a:r>
              <a:rPr lang="en-US" sz="1400" b="1" dirty="0">
                <a:solidFill>
                  <a:srgbClr val="102A43"/>
                </a:solidFill>
                <a:latin typeface="Calibri" pitchFamily="34" charset="0"/>
                <a:ea typeface="Calibri" pitchFamily="34" charset="-122"/>
                <a:cs typeface="Calibri" pitchFamily="34" charset="-120"/>
              </a:rPr>
              <a:t>The ceiling usually isn’t yours</a:t>
            </a:r>
            <a:endParaRPr lang="en-US" sz="1400" dirty="0"/>
          </a:p>
        </p:txBody>
      </p:sp>
      <p:sp>
        <p:nvSpPr>
          <p:cNvPr id="11" name="Text 9"/>
          <p:cNvSpPr txBox="1"/>
          <p:nvPr/>
        </p:nvSpPr>
        <p:spPr>
          <a:xfrm>
            <a:off x="4864608" y="2011680"/>
            <a:ext cx="3639312" cy="868680"/>
          </a:xfrm>
          <a:prstGeom prst="rect">
            <a:avLst/>
          </a:prstGeom>
          <a:noFill/>
          <a:ln/>
        </p:spPr>
        <p:txBody>
          <a:bodyPr wrap="square" lIns="0" tIns="0" rIns="0" bIns="0" rtlCol="0" anchor="t"/>
          <a:lstStyle/>
          <a:p>
            <a:pPr indent="0" marL="0">
              <a:buNone/>
            </a:pPr>
            <a:r>
              <a:rPr lang="en-US" sz="1050" dirty="0">
                <a:solidFill>
                  <a:srgbClr val="486581"/>
                </a:solidFill>
                <a:latin typeface="Calibri" pitchFamily="34" charset="0"/>
                <a:ea typeface="Calibri" pitchFamily="34" charset="-122"/>
                <a:cs typeface="Calibri" pitchFamily="34" charset="-120"/>
              </a:rPr>
              <a:t>16 replicas × a connection pool of 10 = 160 database sessions. Past the budget the database refuses new connections — for everyone sharing it, not just for you. Your scale-out becomes the batch team's outage.</a:t>
            </a:r>
            <a:endParaRPr lang="en-US" sz="1050" dirty="0"/>
          </a:p>
        </p:txBody>
      </p:sp>
      <p:sp>
        <p:nvSpPr>
          <p:cNvPr id="12" name="Text 10"/>
          <p:cNvSpPr txBox="1"/>
          <p:nvPr/>
        </p:nvSpPr>
        <p:spPr>
          <a:xfrm>
            <a:off x="4864608" y="2880360"/>
            <a:ext cx="3639312" cy="402336"/>
          </a:xfrm>
          <a:prstGeom prst="rect">
            <a:avLst/>
          </a:prstGeom>
          <a:noFill/>
          <a:ln/>
        </p:spPr>
        <p:txBody>
          <a:bodyPr wrap="square" lIns="0" tIns="0" rIns="0" bIns="0" rtlCol="0" anchor="b"/>
          <a:lstStyle/>
          <a:p>
            <a:pPr indent="0" marL="0">
              <a:buNone/>
            </a:pPr>
            <a:r>
              <a:rPr lang="en-US" sz="1000" i="1" dirty="0">
                <a:solidFill>
                  <a:srgbClr val="0A558C"/>
                </a:solidFill>
                <a:latin typeface="Calibri" pitchFamily="34" charset="0"/>
                <a:ea typeface="Calibri" pitchFamily="34" charset="-122"/>
                <a:cs typeface="Calibri" pitchFamily="34" charset="-120"/>
              </a:rPr>
              <a:t>Before raising a replica ceiling, do the multiplication and find out whose number you are spending.</a:t>
            </a:r>
            <a:endParaRPr lang="en-US" sz="1000" dirty="0"/>
          </a:p>
        </p:txBody>
      </p:sp>
      <p:sp>
        <p:nvSpPr>
          <p:cNvPr id="13" name="Shape 11"/>
          <p:cNvSpPr/>
          <p:nvPr/>
        </p:nvSpPr>
        <p:spPr>
          <a:xfrm>
            <a:off x="457200" y="3502152"/>
            <a:ext cx="8229600" cy="603504"/>
          </a:xfrm>
          <a:prstGeom prst="roundRect">
            <a:avLst>
              <a:gd name="adj" fmla="val 9091"/>
            </a:avLst>
          </a:prstGeom>
          <a:solidFill>
            <a:srgbClr val="F0F4F8"/>
          </a:solidFill>
          <a:ln w="12700">
            <a:solidFill>
              <a:srgbClr val="D9E2EC"/>
            </a:solidFill>
            <a:prstDash val="solid"/>
          </a:ln>
        </p:spPr>
      </p:sp>
      <p:sp>
        <p:nvSpPr>
          <p:cNvPr id="14" name="Text 12"/>
          <p:cNvSpPr txBox="1"/>
          <p:nvPr/>
        </p:nvSpPr>
        <p:spPr>
          <a:xfrm>
            <a:off x="640080" y="3575304"/>
            <a:ext cx="7863840" cy="182880"/>
          </a:xfrm>
          <a:prstGeom prst="rect">
            <a:avLst/>
          </a:prstGeom>
          <a:noFill/>
          <a:ln/>
        </p:spPr>
        <p:txBody>
          <a:bodyPr wrap="square" lIns="0" tIns="0" rIns="0" bIns="0" rtlCol="0" anchor="ctr"/>
          <a:lstStyle/>
          <a:p>
            <a:pPr indent="0" marL="0">
              <a:buNone/>
            </a:pPr>
            <a:r>
              <a:rPr lang="en-US" sz="850" b="1" spc="90" kern="0" dirty="0">
                <a:solidFill>
                  <a:srgbClr val="0A558C"/>
                </a:solidFill>
                <a:latin typeface="Calibri" pitchFamily="34" charset="0"/>
                <a:ea typeface="Calibri" pitchFamily="34" charset="-122"/>
                <a:cs typeface="Calibri" pitchFamily="34" charset="-120"/>
              </a:rPr>
              <a:t>RE-CHECK IT</a:t>
            </a:r>
            <a:endParaRPr lang="en-US" sz="850" dirty="0"/>
          </a:p>
        </p:txBody>
      </p:sp>
      <p:sp>
        <p:nvSpPr>
          <p:cNvPr id="15" name="Text 13"/>
          <p:cNvSpPr txBox="1"/>
          <p:nvPr/>
        </p:nvSpPr>
        <p:spPr>
          <a:xfrm>
            <a:off x="640080" y="3758184"/>
            <a:ext cx="7863840" cy="292608"/>
          </a:xfrm>
          <a:prstGeom prst="rect">
            <a:avLst/>
          </a:prstGeom>
          <a:noFill/>
          <a:ln/>
        </p:spPr>
        <p:txBody>
          <a:bodyPr wrap="square" lIns="0" tIns="0" rIns="0" bIns="0" rtlCol="0" anchor="t"/>
          <a:lstStyle/>
          <a:p>
            <a:pPr indent="0" marL="0">
              <a:buNone/>
            </a:pPr>
            <a:r>
              <a:rPr lang="en-US" sz="1100" dirty="0">
                <a:solidFill>
                  <a:srgbClr val="102A43"/>
                </a:solidFill>
                <a:latin typeface="Calibri" pitchFamily="34" charset="0"/>
                <a:ea typeface="Calibri" pitchFamily="34" charset="-122"/>
                <a:cs typeface="Calibri" pitchFamily="34" charset="-120"/>
              </a:rPr>
              <a:t>Which number saturates first is a property of what a request </a:t>
            </a:r>
            <a:pPr indent="0" marL="0">
              <a:buNone/>
            </a:pPr>
            <a:r>
              <a:rPr lang="en-US" sz="1100" i="1" dirty="0">
                <a:solidFill>
                  <a:srgbClr val="102A43"/>
                </a:solidFill>
                <a:latin typeface="Calibri" pitchFamily="34" charset="0"/>
                <a:ea typeface="Calibri" pitchFamily="34" charset="-122"/>
                <a:cs typeface="Calibri" pitchFamily="34" charset="-120"/>
              </a:rPr>
              <a:t>does</a:t>
            </a:r>
            <a:pPr indent="0" marL="0">
              <a:buNone/>
            </a:pPr>
            <a:r>
              <a:rPr lang="en-US" sz="1100" dirty="0">
                <a:solidFill>
                  <a:srgbClr val="102A43"/>
                </a:solidFill>
                <a:latin typeface="Calibri" pitchFamily="34" charset="0"/>
                <a:ea typeface="Calibri" pitchFamily="34" charset="-122"/>
                <a:cs typeface="Calibri" pitchFamily="34" charset="-120"/>
              </a:rPr>
              <a:t>. Any release that adds a call to something slow can move it — so the signal is re-measured after the release, not inherited from last quarter.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140" kern="0" dirty="0">
                <a:solidFill>
                  <a:srgbClr val="0A558C"/>
                </a:solidFill>
                <a:latin typeface="Calibri" pitchFamily="34" charset="0"/>
                <a:ea typeface="Calibri" pitchFamily="34" charset="-122"/>
                <a:cs typeface="Calibri" pitchFamily="34" charset="-120"/>
              </a:rPr>
              <a:t>WHEN NUMBERS FIGHT</a:t>
            </a:r>
            <a:endParaRPr lang="en-US" sz="10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900" b="1" dirty="0">
                <a:solidFill>
                  <a:srgbClr val="102A43"/>
                </a:solidFill>
                <a:latin typeface="Cambria" pitchFamily="34" charset="0"/>
                <a:ea typeface="Cambria" pitchFamily="34" charset="-122"/>
                <a:cs typeface="Cambria" pitchFamily="34" charset="-120"/>
              </a:rPr>
              <a:t>Both numbers are correct</a:t>
            </a:r>
            <a:endParaRPr lang="en-US" sz="2900" dirty="0"/>
          </a:p>
        </p:txBody>
      </p:sp>
      <p:sp>
        <p:nvSpPr>
          <p:cNvPr id="4" name="Text 2"/>
          <p:cNvSpPr txBox="1"/>
          <p:nvPr/>
        </p:nvSpPr>
        <p:spPr>
          <a:xfrm>
            <a:off x="457200" y="1115568"/>
            <a:ext cx="3566160" cy="841248"/>
          </a:xfrm>
          <a:prstGeom prst="rect">
            <a:avLst/>
          </a:prstGeom>
          <a:noFill/>
          <a:ln/>
        </p:spPr>
        <p:txBody>
          <a:bodyPr wrap="square" lIns="0" tIns="0" rIns="0" bIns="0" rtlCol="0" anchor="t"/>
          <a:lstStyle/>
          <a:p>
            <a:pPr indent="0" marL="0">
              <a:buNone/>
            </a:pPr>
            <a:r>
              <a:rPr lang="en-US" sz="1150" dirty="0">
                <a:solidFill>
                  <a:srgbClr val="102A43"/>
                </a:solidFill>
                <a:latin typeface="Courier New" pitchFamily="34" charset="0"/>
                <a:ea typeface="Courier New" pitchFamily="34" charset="-122"/>
                <a:cs typeface="Courier New" pitchFamily="34" charset="-120"/>
              </a:rPr>
              <a:t>kubectl top</a:t>
            </a:r>
            <a:pPr indent="0" marL="0">
              <a:buNone/>
            </a:pPr>
            <a:r>
              <a:rPr lang="en-US" sz="1150" dirty="0">
                <a:solidFill>
                  <a:srgbClr val="102A43"/>
                </a:solidFill>
                <a:latin typeface="Calibri" pitchFamily="34" charset="0"/>
                <a:ea typeface="Calibri" pitchFamily="34" charset="-122"/>
                <a:cs typeface="Calibri" pitchFamily="34" charset="-120"/>
              </a:rPr>
              <a:t> says the pod is using 40% of its CPU. The p99 has tripled. Someone says “we have headroom — it must be GC.” A week goes into GC flags, the database, and the network.</a:t>
            </a:r>
            <a:endParaRPr lang="en-US" sz="1150" dirty="0"/>
          </a:p>
        </p:txBody>
      </p:sp>
      <p:sp>
        <p:nvSpPr>
          <p:cNvPr id="5" name="Text 3"/>
          <p:cNvSpPr txBox="1"/>
          <p:nvPr/>
        </p:nvSpPr>
        <p:spPr>
          <a:xfrm>
            <a:off x="457200" y="2011680"/>
            <a:ext cx="3566160" cy="841248"/>
          </a:xfrm>
          <a:prstGeom prst="rect">
            <a:avLst/>
          </a:prstGeom>
          <a:noFill/>
          <a:ln/>
        </p:spPr>
        <p:txBody>
          <a:bodyPr wrap="square" lIns="0" tIns="0" rIns="0" bIns="0" rtlCol="0" anchor="t"/>
          <a:lstStyle/>
          <a:p>
            <a:pPr indent="0" marL="0">
              <a:buNone/>
            </a:pPr>
            <a:r>
              <a:rPr lang="en-US" sz="1150" dirty="0">
                <a:solidFill>
                  <a:srgbClr val="486581"/>
                </a:solidFill>
                <a:latin typeface="Calibri" pitchFamily="34" charset="0"/>
                <a:ea typeface="Calibri" pitchFamily="34" charset="-122"/>
                <a:cs typeface="Calibri" pitchFamily="34" charset="-120"/>
              </a:rPr>
              <a:t>The answer was a third number: the container was </a:t>
            </a:r>
            <a:pPr indent="0" marL="0">
              <a:buNone/>
            </a:pPr>
            <a:r>
              <a:rPr lang="en-US" sz="1150" b="1" dirty="0">
                <a:solidFill>
                  <a:srgbClr val="102A43"/>
                </a:solidFill>
                <a:latin typeface="Calibri" pitchFamily="34" charset="0"/>
                <a:ea typeface="Calibri" pitchFamily="34" charset="-122"/>
                <a:cs typeface="Calibri" pitchFamily="34" charset="-120"/>
              </a:rPr>
              <a:t>throttled in 41% of its 100-millisecond scheduling periods</a:t>
            </a:r>
            <a:pPr indent="0" marL="0">
              <a:buNone/>
            </a:pPr>
            <a:r>
              <a:rPr lang="en-US" sz="1150" dirty="0">
                <a:solidFill>
                  <a:srgbClr val="486581"/>
                </a:solidFill>
                <a:latin typeface="Calibri" pitchFamily="34" charset="0"/>
                <a:ea typeface="Calibri" pitchFamily="34" charset="-122"/>
                <a:cs typeface="Calibri" pitchFamily="34" charset="-120"/>
              </a:rPr>
              <a:t> while </a:t>
            </a:r>
            <a:pPr indent="0" marL="0">
              <a:buNone/>
            </a:pPr>
            <a:r>
              <a:rPr lang="en-US" sz="1150" i="1" dirty="0">
                <a:solidFill>
                  <a:srgbClr val="486581"/>
                </a:solidFill>
                <a:latin typeface="Calibri" pitchFamily="34" charset="0"/>
                <a:ea typeface="Calibri" pitchFamily="34" charset="-122"/>
                <a:cs typeface="Calibri" pitchFamily="34" charset="-120"/>
              </a:rPr>
              <a:t>averaging</a:t>
            </a:r>
            <a:pPr indent="0" marL="0">
              <a:buNone/>
            </a:pPr>
            <a:r>
              <a:rPr lang="en-US" sz="1150" dirty="0">
                <a:solidFill>
                  <a:srgbClr val="486581"/>
                </a:solidFill>
                <a:latin typeface="Calibri" pitchFamily="34" charset="0"/>
                <a:ea typeface="Calibri" pitchFamily="34" charset="-122"/>
                <a:cs typeface="Calibri" pitchFamily="34" charset="-120"/>
              </a:rPr>
              <a:t> 31% of its limit. Bursty work meeting a quota. An average hides a wall you are hitting ten times a second.</a:t>
            </a:r>
            <a:endParaRPr lang="en-US" sz="1150" dirty="0"/>
          </a:p>
        </p:txBody>
      </p:sp>
      <p:sp>
        <p:nvSpPr>
          <p:cNvPr id="6" name="Text 4"/>
          <p:cNvSpPr txBox="1"/>
          <p:nvPr/>
        </p:nvSpPr>
        <p:spPr>
          <a:xfrm>
            <a:off x="457200" y="2907792"/>
            <a:ext cx="3566160" cy="841248"/>
          </a:xfrm>
          <a:prstGeom prst="rect">
            <a:avLst/>
          </a:prstGeom>
          <a:noFill/>
          <a:ln/>
        </p:spPr>
        <p:txBody>
          <a:bodyPr wrap="square" lIns="0" tIns="0" rIns="0" bIns="0" rtlCol="0" anchor="t"/>
          <a:lstStyle/>
          <a:p>
            <a:pPr indent="0" marL="0">
              <a:buNone/>
            </a:pPr>
            <a:r>
              <a:rPr lang="en-US" sz="1150" dirty="0">
                <a:solidFill>
                  <a:srgbClr val="486581"/>
                </a:solidFill>
                <a:latin typeface="Calibri" pitchFamily="34" charset="0"/>
                <a:ea typeface="Calibri" pitchFamily="34" charset="-122"/>
                <a:cs typeface="Calibri" pitchFamily="34" charset="-120"/>
              </a:rPr>
              <a:t>Neither instrument lied. They answer different questions, because they stand in different places — and there are only three places to stand.</a:t>
            </a:r>
            <a:endParaRPr lang="en-US" sz="1150" dirty="0"/>
          </a:p>
        </p:txBody>
      </p:sp>
      <p:sp>
        <p:nvSpPr>
          <p:cNvPr id="7" name="Shape 5"/>
          <p:cNvSpPr/>
          <p:nvPr/>
        </p:nvSpPr>
        <p:spPr>
          <a:xfrm>
            <a:off x="4251960" y="1115568"/>
            <a:ext cx="4434840" cy="822960"/>
          </a:xfrm>
          <a:prstGeom prst="roundRect">
            <a:avLst>
              <a:gd name="adj" fmla="val 5556"/>
            </a:avLst>
          </a:prstGeom>
          <a:solidFill>
            <a:srgbClr val="F0F4F8"/>
          </a:solidFill>
          <a:ln w="12700">
            <a:solidFill>
              <a:srgbClr val="D9E2EC"/>
            </a:solidFill>
            <a:prstDash val="solid"/>
          </a:ln>
        </p:spPr>
      </p:sp>
      <p:sp>
        <p:nvSpPr>
          <p:cNvPr id="8" name="Shape 6"/>
          <p:cNvSpPr/>
          <p:nvPr/>
        </p:nvSpPr>
        <p:spPr>
          <a:xfrm>
            <a:off x="4389120" y="1234440"/>
            <a:ext cx="219456" cy="219456"/>
          </a:xfrm>
          <a:prstGeom prst="ellipse">
            <a:avLst/>
          </a:prstGeom>
          <a:solidFill>
            <a:srgbClr val="2680C2"/>
          </a:solidFill>
          <a:ln w="12700">
            <a:solidFill>
              <a:srgbClr val="2680C2"/>
            </a:solidFill>
            <a:prstDash val="solid"/>
          </a:ln>
        </p:spPr>
      </p:sp>
      <p:sp>
        <p:nvSpPr>
          <p:cNvPr id="9" name="Text 7"/>
          <p:cNvSpPr txBox="1"/>
          <p:nvPr/>
        </p:nvSpPr>
        <p:spPr>
          <a:xfrm>
            <a:off x="4389120" y="123444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txBox="1"/>
          <p:nvPr/>
        </p:nvSpPr>
        <p:spPr>
          <a:xfrm>
            <a:off x="4681728" y="1207008"/>
            <a:ext cx="3886200" cy="237744"/>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Outside the process</a:t>
            </a:r>
            <a:endParaRPr lang="en-US" sz="1250" dirty="0"/>
          </a:p>
        </p:txBody>
      </p:sp>
      <p:sp>
        <p:nvSpPr>
          <p:cNvPr id="11" name="Text 9"/>
          <p:cNvSpPr txBox="1"/>
          <p:nvPr/>
        </p:nvSpPr>
        <p:spPr>
          <a:xfrm>
            <a:off x="4389120" y="1463040"/>
            <a:ext cx="4160520" cy="420624"/>
          </a:xfrm>
          <a:prstGeom prst="rect">
            <a:avLst/>
          </a:prstGeom>
          <a:noFill/>
          <a:ln/>
        </p:spPr>
        <p:txBody>
          <a:bodyPr wrap="square" lIns="0" tIns="0" rIns="0" bIns="0" rtlCol="0" anchor="t"/>
          <a:lstStyle/>
          <a:p>
            <a:pPr indent="0" marL="0">
              <a:buNone/>
            </a:pPr>
            <a:r>
              <a:rPr lang="en-US" sz="950" dirty="0">
                <a:solidFill>
                  <a:srgbClr val="486581"/>
                </a:solidFill>
                <a:latin typeface="Calibri" pitchFamily="34" charset="0"/>
                <a:ea typeface="Calibri" pitchFamily="34" charset="-122"/>
                <a:cs typeface="Calibri" pitchFamily="34" charset="-120"/>
              </a:rPr>
              <a:t>The kernel's accounting for your container: CPU charged, periods throttled, bytes resident, kills delivered. Exact about what it cost; blind to what it was doing.</a:t>
            </a:r>
            <a:endParaRPr lang="en-US" sz="950" dirty="0"/>
          </a:p>
        </p:txBody>
      </p:sp>
      <p:sp>
        <p:nvSpPr>
          <p:cNvPr id="12" name="Shape 10"/>
          <p:cNvSpPr/>
          <p:nvPr/>
        </p:nvSpPr>
        <p:spPr>
          <a:xfrm>
            <a:off x="4251960" y="2011680"/>
            <a:ext cx="4434840" cy="822960"/>
          </a:xfrm>
          <a:prstGeom prst="roundRect">
            <a:avLst>
              <a:gd name="adj" fmla="val 5556"/>
            </a:avLst>
          </a:prstGeom>
          <a:solidFill>
            <a:srgbClr val="F0F4F8"/>
          </a:solidFill>
          <a:ln w="12700">
            <a:solidFill>
              <a:srgbClr val="D9E2EC"/>
            </a:solidFill>
            <a:prstDash val="solid"/>
          </a:ln>
        </p:spPr>
      </p:sp>
      <p:sp>
        <p:nvSpPr>
          <p:cNvPr id="13" name="Shape 11"/>
          <p:cNvSpPr/>
          <p:nvPr/>
        </p:nvSpPr>
        <p:spPr>
          <a:xfrm>
            <a:off x="4389120" y="2130552"/>
            <a:ext cx="219456" cy="219456"/>
          </a:xfrm>
          <a:prstGeom prst="ellipse">
            <a:avLst/>
          </a:prstGeom>
          <a:solidFill>
            <a:srgbClr val="2680C2"/>
          </a:solidFill>
          <a:ln w="12700">
            <a:solidFill>
              <a:srgbClr val="2680C2"/>
            </a:solidFill>
            <a:prstDash val="solid"/>
          </a:ln>
        </p:spPr>
      </p:sp>
      <p:sp>
        <p:nvSpPr>
          <p:cNvPr id="14" name="Text 12"/>
          <p:cNvSpPr txBox="1"/>
          <p:nvPr/>
        </p:nvSpPr>
        <p:spPr>
          <a:xfrm>
            <a:off x="4389120" y="2130552"/>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txBox="1"/>
          <p:nvPr/>
        </p:nvSpPr>
        <p:spPr>
          <a:xfrm>
            <a:off x="4681728" y="2103120"/>
            <a:ext cx="3886200" cy="237744"/>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Inside, continuously</a:t>
            </a:r>
            <a:endParaRPr lang="en-US" sz="1250" dirty="0"/>
          </a:p>
        </p:txBody>
      </p:sp>
      <p:sp>
        <p:nvSpPr>
          <p:cNvPr id="16" name="Text 14"/>
          <p:cNvSpPr txBox="1"/>
          <p:nvPr/>
        </p:nvSpPr>
        <p:spPr>
          <a:xfrm>
            <a:off x="4389120" y="2359152"/>
            <a:ext cx="4160520" cy="420624"/>
          </a:xfrm>
          <a:prstGeom prst="rect">
            <a:avLst/>
          </a:prstGeom>
          <a:noFill/>
          <a:ln/>
        </p:spPr>
        <p:txBody>
          <a:bodyPr wrap="square" lIns="0" tIns="0" rIns="0" bIns="0" rtlCol="0" anchor="t"/>
          <a:lstStyle/>
          <a:p>
            <a:pPr indent="0" marL="0">
              <a:buNone/>
            </a:pPr>
            <a:r>
              <a:rPr lang="en-US" sz="950" dirty="0">
                <a:solidFill>
                  <a:srgbClr val="486581"/>
                </a:solidFill>
                <a:latin typeface="Calibri" pitchFamily="34" charset="0"/>
                <a:ea typeface="Calibri" pitchFamily="34" charset="-122"/>
                <a:cs typeface="Calibri" pitchFamily="34" charset="-120"/>
              </a:rPr>
              <a:t>Your app measuring itself: requests by route, pool waits, heap by pool, GC pauses. Knows what it was doing — as an average, and as a sample every few seconds.</a:t>
            </a:r>
            <a:endParaRPr lang="en-US" sz="950" dirty="0"/>
          </a:p>
        </p:txBody>
      </p:sp>
      <p:sp>
        <p:nvSpPr>
          <p:cNvPr id="17" name="Shape 15"/>
          <p:cNvSpPr/>
          <p:nvPr/>
        </p:nvSpPr>
        <p:spPr>
          <a:xfrm>
            <a:off x="4251960" y="2907792"/>
            <a:ext cx="4434840" cy="822960"/>
          </a:xfrm>
          <a:prstGeom prst="roundRect">
            <a:avLst>
              <a:gd name="adj" fmla="val 5556"/>
            </a:avLst>
          </a:prstGeom>
          <a:solidFill>
            <a:srgbClr val="F0F4F8"/>
          </a:solidFill>
          <a:ln w="12700">
            <a:solidFill>
              <a:srgbClr val="D9E2EC"/>
            </a:solidFill>
            <a:prstDash val="solid"/>
          </a:ln>
        </p:spPr>
      </p:sp>
      <p:sp>
        <p:nvSpPr>
          <p:cNvPr id="18" name="Shape 16"/>
          <p:cNvSpPr/>
          <p:nvPr/>
        </p:nvSpPr>
        <p:spPr>
          <a:xfrm>
            <a:off x="4389120" y="3026664"/>
            <a:ext cx="219456" cy="219456"/>
          </a:xfrm>
          <a:prstGeom prst="ellipse">
            <a:avLst/>
          </a:prstGeom>
          <a:solidFill>
            <a:srgbClr val="2680C2"/>
          </a:solidFill>
          <a:ln w="12700">
            <a:solidFill>
              <a:srgbClr val="2680C2"/>
            </a:solidFill>
            <a:prstDash val="solid"/>
          </a:ln>
        </p:spPr>
      </p:sp>
      <p:sp>
        <p:nvSpPr>
          <p:cNvPr id="19" name="Text 17"/>
          <p:cNvSpPr txBox="1"/>
          <p:nvPr/>
        </p:nvSpPr>
        <p:spPr>
          <a:xfrm>
            <a:off x="4389120" y="3026664"/>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8"/>
          <p:cNvSpPr txBox="1"/>
          <p:nvPr/>
        </p:nvSpPr>
        <p:spPr>
          <a:xfrm>
            <a:off x="4681728" y="2999232"/>
            <a:ext cx="3886200" cy="237744"/>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Inside, on demand</a:t>
            </a:r>
            <a:endParaRPr lang="en-US" sz="1250" dirty="0"/>
          </a:p>
        </p:txBody>
      </p:sp>
      <p:sp>
        <p:nvSpPr>
          <p:cNvPr id="21" name="Text 19"/>
          <p:cNvSpPr txBox="1"/>
          <p:nvPr/>
        </p:nvSpPr>
        <p:spPr>
          <a:xfrm>
            <a:off x="4389120" y="3255264"/>
            <a:ext cx="4160520" cy="420624"/>
          </a:xfrm>
          <a:prstGeom prst="rect">
            <a:avLst/>
          </a:prstGeom>
          <a:noFill/>
          <a:ln/>
        </p:spPr>
        <p:txBody>
          <a:bodyPr wrap="square" lIns="0" tIns="0" rIns="0" bIns="0" rtlCol="0" anchor="t"/>
          <a:lstStyle/>
          <a:p>
            <a:pPr indent="0" marL="0">
              <a:buNone/>
            </a:pPr>
            <a:r>
              <a:rPr lang="en-US" sz="950" dirty="0">
                <a:solidFill>
                  <a:srgbClr val="486581"/>
                </a:solidFill>
                <a:latin typeface="Calibri" pitchFamily="34" charset="0"/>
                <a:ea typeface="Calibri" pitchFamily="34" charset="-122"/>
                <a:cs typeface="Calibri" pitchFamily="34" charset="-120"/>
              </a:rPr>
              <a:t>Stop it and ask: a thread dump, a heap histogram, a flight recording. Sees everything about one process right now, and only because you asked.</a:t>
            </a:r>
            <a:endParaRPr lang="en-US" sz="950" dirty="0"/>
          </a:p>
        </p:txBody>
      </p:sp>
      <p:sp>
        <p:nvSpPr>
          <p:cNvPr id="22" name="Shape 20"/>
          <p:cNvSpPr/>
          <p:nvPr/>
        </p:nvSpPr>
        <p:spPr>
          <a:xfrm>
            <a:off x="457200" y="4114800"/>
            <a:ext cx="8229600" cy="713232"/>
          </a:xfrm>
          <a:prstGeom prst="roundRect">
            <a:avLst>
              <a:gd name="adj" fmla="val 7692"/>
            </a:avLst>
          </a:prstGeom>
          <a:solidFill>
            <a:srgbClr val="F0F4F8"/>
          </a:solidFill>
          <a:ln w="12700">
            <a:solidFill>
              <a:srgbClr val="D9E2EC"/>
            </a:solidFill>
            <a:prstDash val="solid"/>
          </a:ln>
        </p:spPr>
      </p:sp>
      <p:sp>
        <p:nvSpPr>
          <p:cNvPr id="23" name="Text 21"/>
          <p:cNvSpPr txBox="1"/>
          <p:nvPr/>
        </p:nvSpPr>
        <p:spPr>
          <a:xfrm>
            <a:off x="640080" y="4187952"/>
            <a:ext cx="7863840" cy="182880"/>
          </a:xfrm>
          <a:prstGeom prst="rect">
            <a:avLst/>
          </a:prstGeom>
          <a:noFill/>
          <a:ln/>
        </p:spPr>
        <p:txBody>
          <a:bodyPr wrap="square" lIns="0" tIns="0" rIns="0" bIns="0" rtlCol="0" anchor="ctr"/>
          <a:lstStyle/>
          <a:p>
            <a:pPr indent="0" marL="0">
              <a:buNone/>
            </a:pPr>
            <a:r>
              <a:rPr lang="en-US" sz="850" b="1" spc="90" kern="0" dirty="0">
                <a:solidFill>
                  <a:srgbClr val="0A558C"/>
                </a:solidFill>
                <a:latin typeface="Calibri" pitchFamily="34" charset="0"/>
                <a:ea typeface="Calibri" pitchFamily="34" charset="-122"/>
                <a:cs typeface="Calibri" pitchFamily="34" charset="-120"/>
              </a:rPr>
              <a:t>THE RULE</a:t>
            </a:r>
            <a:endParaRPr lang="en-US" sz="850" dirty="0"/>
          </a:p>
        </p:txBody>
      </p:sp>
      <p:sp>
        <p:nvSpPr>
          <p:cNvPr id="24" name="Text 22"/>
          <p:cNvSpPr txBox="1"/>
          <p:nvPr/>
        </p:nvSpPr>
        <p:spPr>
          <a:xfrm>
            <a:off x="640080" y="4370832"/>
            <a:ext cx="7863840" cy="402336"/>
          </a:xfrm>
          <a:prstGeom prst="rect">
            <a:avLst/>
          </a:prstGeom>
          <a:noFill/>
          <a:ln/>
        </p:spPr>
        <p:txBody>
          <a:bodyPr wrap="square" lIns="0" tIns="0" rIns="0" bIns="0" rtlCol="0" anchor="t"/>
          <a:lstStyle/>
          <a:p>
            <a:pPr indent="0" marL="0">
              <a:buNone/>
            </a:pPr>
            <a:r>
              <a:rPr lang="en-US" sz="1100" dirty="0">
                <a:solidFill>
                  <a:srgbClr val="102A43"/>
                </a:solidFill>
                <a:latin typeface="Calibri" pitchFamily="34" charset="0"/>
                <a:ea typeface="Calibri" pitchFamily="34" charset="-122"/>
                <a:cs typeface="Calibri" pitchFamily="34" charset="-120"/>
              </a:rPr>
              <a:t>When two numbers disagree, don’t stare harder at one — change instrument. A number that makes no sense is usually a correct number read from the wrong place.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140" kern="0" dirty="0">
                <a:solidFill>
                  <a:srgbClr val="0A558C"/>
                </a:solidFill>
                <a:latin typeface="Calibri" pitchFamily="34" charset="0"/>
                <a:ea typeface="Calibri" pitchFamily="34" charset="-122"/>
                <a:cs typeface="Calibri" pitchFamily="34" charset="-120"/>
              </a:rPr>
              <a:t>WHEN IT BREAKS</a:t>
            </a:r>
            <a:endParaRPr lang="en-US" sz="10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900" b="1" dirty="0">
                <a:solidFill>
                  <a:srgbClr val="102A43"/>
                </a:solidFill>
                <a:latin typeface="Cambria" pitchFamily="34" charset="0"/>
                <a:ea typeface="Cambria" pitchFamily="34" charset="-122"/>
                <a:cs typeface="Cambria" pitchFamily="34" charset="-120"/>
              </a:rPr>
              <a:t>Five things Kubernetes does to your pod</a:t>
            </a:r>
            <a:endParaRPr lang="en-US" sz="2900" dirty="0"/>
          </a:p>
        </p:txBody>
      </p:sp>
      <p:sp>
        <p:nvSpPr>
          <p:cNvPr id="4" name="Text 2"/>
          <p:cNvSpPr txBox="1"/>
          <p:nvPr/>
        </p:nvSpPr>
        <p:spPr>
          <a:xfrm>
            <a:off x="457200" y="1042416"/>
            <a:ext cx="8229600" cy="384048"/>
          </a:xfrm>
          <a:prstGeom prst="rect">
            <a:avLst/>
          </a:prstGeom>
          <a:noFill/>
          <a:ln/>
        </p:spPr>
        <p:txBody>
          <a:bodyPr wrap="square" lIns="0" tIns="0" rIns="0" bIns="0" rtlCol="0" anchor="ctr"/>
          <a:lstStyle/>
          <a:p>
            <a:pPr indent="0" marL="0">
              <a:buNone/>
            </a:pPr>
            <a:r>
              <a:rPr lang="en-US" sz="1250" i="1" dirty="0">
                <a:solidFill>
                  <a:srgbClr val="486581"/>
                </a:solidFill>
                <a:latin typeface="Calibri" pitchFamily="34" charset="0"/>
                <a:ea typeface="Calibri" pitchFamily="34" charset="-122"/>
                <a:cs typeface="Calibri" pitchFamily="34" charset="-120"/>
              </a:rPr>
              <a:t>Admit it, schedule it, start it, route to it, kill it — always in that order. Each step writes down why in exactly one place, and it is rarely the place you were looking.</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8229600" cy="914400"/>
        </p:xfrm>
        <a:graphic>
          <a:graphicData uri="http://schemas.openxmlformats.org/drawingml/2006/table">
            <a:tbl>
              <a:tblPr/>
              <a:tblGrid>
                <a:gridCol w="2743200"/>
                <a:gridCol w="1280160"/>
                <a:gridCol w="4206240"/>
              </a:tblGrid>
              <a:tr h="0">
                <a:tc>
                  <a:txBody>
                    <a:bodyPr/>
                    <a:lstStyle/>
                    <a:p>
                      <a:pPr indent="0" marL="0">
                        <a:buNone/>
                      </a:pPr>
                      <a:r>
                        <a:rPr lang="en-US" sz="850" b="1" spc="80" kern="0" dirty="0">
                          <a:solidFill>
                            <a:srgbClr val="0A558C"/>
                          </a:solidFill>
                          <a:latin typeface="Calibri" pitchFamily="34" charset="0"/>
                          <a:ea typeface="Calibri" pitchFamily="34" charset="-122"/>
                          <a:cs typeface="Calibri" pitchFamily="34" charset="-120"/>
                        </a:rPr>
                        <a:t>WHAT YOU SEE</a:t>
                      </a:r>
                      <a:endParaRPr lang="en-US" sz="8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tcPr>
                </a:tc>
                <a:tc>
                  <a:txBody>
                    <a:bodyPr/>
                    <a:lstStyle/>
                    <a:p>
                      <a:pPr indent="0" marL="0">
                        <a:buNone/>
                      </a:pPr>
                      <a:r>
                        <a:rPr lang="en-US" sz="850" b="1" spc="80" kern="0" dirty="0">
                          <a:solidFill>
                            <a:srgbClr val="0A558C"/>
                          </a:solidFill>
                          <a:latin typeface="Calibri" pitchFamily="34" charset="0"/>
                          <a:ea typeface="Calibri" pitchFamily="34" charset="-122"/>
                          <a:cs typeface="Calibri" pitchFamily="34" charset="-120"/>
                        </a:rPr>
                        <a:t>WHICH STEP FAILED</a:t>
                      </a:r>
                      <a:endParaRPr lang="en-US" sz="8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tcPr>
                </a:tc>
                <a:tc>
                  <a:txBody>
                    <a:bodyPr/>
                    <a:lstStyle/>
                    <a:p>
                      <a:pPr indent="0" marL="0">
                        <a:buNone/>
                      </a:pPr>
                      <a:r>
                        <a:rPr lang="en-US" sz="850" b="1" spc="80" kern="0" dirty="0">
                          <a:solidFill>
                            <a:srgbClr val="0A558C"/>
                          </a:solidFill>
                          <a:latin typeface="Calibri" pitchFamily="34" charset="0"/>
                          <a:ea typeface="Calibri" pitchFamily="34" charset="-122"/>
                          <a:cs typeface="Calibri" pitchFamily="34" charset="-120"/>
                        </a:rPr>
                        <a:t>WHERE THE REASON IS WRITTEN</a:t>
                      </a:r>
                      <a:endParaRPr lang="en-US" sz="8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tcPr>
                </a:tc>
              </a:tr>
              <a:tr h="0">
                <a:tc>
                  <a:txBody>
                    <a:bodyPr/>
                    <a:lstStyle/>
                    <a:p>
                      <a:pPr indent="0" marL="0">
                        <a:buNone/>
                      </a:pPr>
                      <a:r>
                        <a:rPr lang="en-US" sz="950" dirty="0">
                          <a:solidFill>
                            <a:srgbClr val="102A43"/>
                          </a:solidFill>
                          <a:latin typeface="Courier New" pitchFamily="34" charset="0"/>
                          <a:ea typeface="Courier New" pitchFamily="34" charset="-122"/>
                          <a:cs typeface="Courier New" pitchFamily="34" charset="-120"/>
                        </a:rPr>
                        <a:t>helm upgrade</a:t>
                      </a:r>
                      <a:pPr indent="0" marL="0">
                        <a:buNone/>
                      </a:pPr>
                      <a:r>
                        <a:rPr lang="en-US" sz="950" dirty="0">
                          <a:solidFill>
                            <a:srgbClr val="102A43"/>
                          </a:solidFill>
                          <a:latin typeface="Calibri" pitchFamily="34" charset="0"/>
                          <a:ea typeface="Calibri" pitchFamily="34" charset="-122"/>
                          <a:cs typeface="Calibri" pitchFamily="34" charset="-120"/>
                        </a:rPr>
                        <a:t> succeeds, no new pod appears</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c>
                  <a:txBody>
                    <a:bodyPr/>
                    <a:lstStyle/>
                    <a:p>
                      <a:pPr indent="0" marL="0">
                        <a:buNone/>
                      </a:pPr>
                      <a:r>
                        <a:rPr lang="en-US" sz="950" dirty="0">
                          <a:solidFill>
                            <a:srgbClr val="486581"/>
                          </a:solidFill>
                          <a:latin typeface="Calibri" pitchFamily="34" charset="0"/>
                          <a:ea typeface="Calibri" pitchFamily="34" charset="-122"/>
                          <a:cs typeface="Calibri" pitchFamily="34" charset="-120"/>
                        </a:rPr>
                        <a:t>Admit</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c>
                  <a:txBody>
                    <a:bodyPr/>
                    <a:lstStyle/>
                    <a:p>
                      <a:pPr indent="0" marL="0">
                        <a:buNone/>
                      </a:pPr>
                      <a:r>
                        <a:rPr lang="en-US" sz="950" dirty="0">
                          <a:solidFill>
                            <a:srgbClr val="486581"/>
                          </a:solidFill>
                          <a:latin typeface="Calibri" pitchFamily="34" charset="0"/>
                          <a:ea typeface="Calibri" pitchFamily="34" charset="-122"/>
                          <a:cs typeface="Calibri" pitchFamily="34" charset="-120"/>
                        </a:rPr>
                        <a:t>a </a:t>
                      </a:r>
                      <a:pPr indent="0" marL="0">
                        <a:buNone/>
                      </a:pPr>
                      <a:r>
                        <a:rPr lang="en-US" sz="950" dirty="0">
                          <a:solidFill>
                            <a:srgbClr val="102A43"/>
                          </a:solidFill>
                          <a:latin typeface="Courier New" pitchFamily="34" charset="0"/>
                          <a:ea typeface="Courier New" pitchFamily="34" charset="-122"/>
                          <a:cs typeface="Courier New" pitchFamily="34" charset="-120"/>
                        </a:rPr>
                        <a:t>FailedCreate</a:t>
                      </a:r>
                      <a:pPr indent="0" marL="0">
                        <a:buNone/>
                      </a:pPr>
                      <a:r>
                        <a:rPr lang="en-US" sz="950" dirty="0">
                          <a:solidFill>
                            <a:srgbClr val="486581"/>
                          </a:solidFill>
                          <a:latin typeface="Calibri" pitchFamily="34" charset="0"/>
                          <a:ea typeface="Calibri" pitchFamily="34" charset="-122"/>
                          <a:cs typeface="Calibri" pitchFamily="34" charset="-120"/>
                        </a:rPr>
                        <a:t> event on the </a:t>
                      </a:r>
                      <a:pPr indent="0" marL="0">
                        <a:buNone/>
                      </a:pPr>
                      <a:r>
                        <a:rPr lang="en-US" sz="950" b="1" dirty="0">
                          <a:solidFill>
                            <a:srgbClr val="102A43"/>
                          </a:solidFill>
                          <a:latin typeface="Calibri" pitchFamily="34" charset="0"/>
                          <a:ea typeface="Calibri" pitchFamily="34" charset="-122"/>
                          <a:cs typeface="Calibri" pitchFamily="34" charset="-120"/>
                        </a:rPr>
                        <a:t>ReplicaSet</a:t>
                      </a:r>
                      <a:pPr indent="0" marL="0">
                        <a:buNone/>
                      </a:pPr>
                      <a:r>
                        <a:rPr lang="en-US" sz="950" dirty="0">
                          <a:solidFill>
                            <a:srgbClr val="486581"/>
                          </a:solidFill>
                          <a:latin typeface="Calibri" pitchFamily="34" charset="0"/>
                          <a:ea typeface="Calibri" pitchFamily="34" charset="-122"/>
                          <a:cs typeface="Calibri" pitchFamily="34" charset="-120"/>
                        </a:rPr>
                        <a:t> — quota, policy, a webhook. No pod ever existed to carry it</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r>
              <a:tr h="0">
                <a:tc>
                  <a:txBody>
                    <a:bodyPr/>
                    <a:lstStyle/>
                    <a:p>
                      <a:pPr indent="0" marL="0">
                        <a:buNone/>
                      </a:pPr>
                      <a:r>
                        <a:rPr lang="en-US" sz="950" dirty="0">
                          <a:solidFill>
                            <a:srgbClr val="102A43"/>
                          </a:solidFill>
                          <a:latin typeface="Courier New" pitchFamily="34" charset="0"/>
                          <a:ea typeface="Courier New" pitchFamily="34" charset="-122"/>
                          <a:cs typeface="Courier New" pitchFamily="34" charset="-120"/>
                        </a:rPr>
                        <a:t>Pending</a:t>
                      </a:r>
                      <a:pPr indent="0" marL="0">
                        <a:buNone/>
                      </a:pPr>
                      <a:r>
                        <a:rPr lang="en-US" sz="950" dirty="0">
                          <a:solidFill>
                            <a:srgbClr val="102A43"/>
                          </a:solidFill>
                          <a:latin typeface="Calibri" pitchFamily="34" charset="0"/>
                          <a:ea typeface="Calibri" pitchFamily="34" charset="-122"/>
                          <a:cs typeface="Calibri" pitchFamily="34" charset="-120"/>
                        </a:rPr>
                        <a:t>, no node assigned</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950" dirty="0">
                          <a:solidFill>
                            <a:srgbClr val="486581"/>
                          </a:solidFill>
                          <a:latin typeface="Calibri" pitchFamily="34" charset="0"/>
                          <a:ea typeface="Calibri" pitchFamily="34" charset="-122"/>
                          <a:cs typeface="Calibri" pitchFamily="34" charset="-120"/>
                        </a:rPr>
                        <a:t>Schedule</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950" dirty="0">
                          <a:solidFill>
                            <a:srgbClr val="486581"/>
                          </a:solidFill>
                          <a:latin typeface="Calibri" pitchFamily="34" charset="0"/>
                          <a:ea typeface="Calibri" pitchFamily="34" charset="-122"/>
                          <a:cs typeface="Calibri" pitchFamily="34" charset="-120"/>
                        </a:rPr>
                        <a:t>the </a:t>
                      </a:r>
                      <a:pPr indent="0" marL="0">
                        <a:buNone/>
                      </a:pPr>
                      <a:r>
                        <a:rPr lang="en-US" sz="950" dirty="0">
                          <a:solidFill>
                            <a:srgbClr val="102A43"/>
                          </a:solidFill>
                          <a:latin typeface="Courier New" pitchFamily="34" charset="0"/>
                          <a:ea typeface="Courier New" pitchFamily="34" charset="-122"/>
                          <a:cs typeface="Courier New" pitchFamily="34" charset="-120"/>
                        </a:rPr>
                        <a:t>FailedScheduling</a:t>
                      </a:r>
                      <a:pPr indent="0" marL="0">
                        <a:buNone/>
                      </a:pPr>
                      <a:r>
                        <a:rPr lang="en-US" sz="950" dirty="0">
                          <a:solidFill>
                            <a:srgbClr val="486581"/>
                          </a:solidFill>
                          <a:latin typeface="Calibri" pitchFamily="34" charset="0"/>
                          <a:ea typeface="Calibri" pitchFamily="34" charset="-122"/>
                          <a:cs typeface="Calibri" pitchFamily="34" charset="-120"/>
                        </a:rPr>
                        <a:t> event — one sentence naming every node's reason. Read past the first comma</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02A43"/>
                          </a:solidFill>
                          <a:latin typeface="Courier New" pitchFamily="34" charset="0"/>
                          <a:ea typeface="Courier New" pitchFamily="34" charset="-122"/>
                          <a:cs typeface="Courier New" pitchFamily="34" charset="-120"/>
                        </a:rPr>
                        <a:t>ImagePullBackOff</a:t>
                      </a:r>
                      <a:pPr indent="0" marL="0">
                        <a:buNone/>
                      </a:pPr>
                      <a:r>
                        <a:rPr lang="en-US" sz="950" dirty="0">
                          <a:solidFill>
                            <a:srgbClr val="102A43"/>
                          </a:solidFill>
                          <a:latin typeface="Calibri" pitchFamily="34" charset="0"/>
                          <a:ea typeface="Calibri" pitchFamily="34" charset="-122"/>
                          <a:cs typeface="Calibri" pitchFamily="34" charset="-120"/>
                        </a:rPr>
                        <a:t>, </a:t>
                      </a:r>
                      <a:pPr indent="0" marL="0">
                        <a:buNone/>
                      </a:pPr>
                      <a:r>
                        <a:rPr lang="en-US" sz="950" dirty="0">
                          <a:solidFill>
                            <a:srgbClr val="102A43"/>
                          </a:solidFill>
                          <a:latin typeface="Courier New" pitchFamily="34" charset="0"/>
                          <a:ea typeface="Courier New" pitchFamily="34" charset="-122"/>
                          <a:cs typeface="Courier New" pitchFamily="34" charset="-120"/>
                        </a:rPr>
                        <a:t>CreateContainerConfigError</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c>
                  <a:txBody>
                    <a:bodyPr/>
                    <a:lstStyle/>
                    <a:p>
                      <a:pPr indent="0" marL="0">
                        <a:buNone/>
                      </a:pPr>
                      <a:r>
                        <a:rPr lang="en-US" sz="950" dirty="0">
                          <a:solidFill>
                            <a:srgbClr val="486581"/>
                          </a:solidFill>
                          <a:latin typeface="Calibri" pitchFamily="34" charset="0"/>
                          <a:ea typeface="Calibri" pitchFamily="34" charset="-122"/>
                          <a:cs typeface="Calibri" pitchFamily="34" charset="-120"/>
                        </a:rPr>
                        <a:t>Start</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c>
                  <a:txBody>
                    <a:bodyPr/>
                    <a:lstStyle/>
                    <a:p>
                      <a:pPr indent="0" marL="0">
                        <a:buNone/>
                      </a:pPr>
                      <a:r>
                        <a:rPr lang="en-US" sz="950" dirty="0">
                          <a:solidFill>
                            <a:srgbClr val="486581"/>
                          </a:solidFill>
                          <a:latin typeface="Calibri" pitchFamily="34" charset="0"/>
                          <a:ea typeface="Calibri" pitchFamily="34" charset="-122"/>
                          <a:cs typeface="Calibri" pitchFamily="34" charset="-120"/>
                        </a:rPr>
                        <a:t>the waiting reason and its message — the registry's error, or the missing ConfigMap key</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r>
              <a:tr h="0">
                <a:tc>
                  <a:txBody>
                    <a:bodyPr/>
                    <a:lstStyle/>
                    <a:p>
                      <a:pPr indent="0" marL="0">
                        <a:buNone/>
                      </a:pPr>
                      <a:r>
                        <a:rPr lang="en-US" sz="950" dirty="0">
                          <a:solidFill>
                            <a:srgbClr val="102A43"/>
                          </a:solidFill>
                          <a:latin typeface="Courier New" pitchFamily="34" charset="0"/>
                          <a:ea typeface="Courier New" pitchFamily="34" charset="-122"/>
                          <a:cs typeface="Courier New" pitchFamily="34" charset="-120"/>
                        </a:rPr>
                        <a:t>CrashLoopBackOff</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950" dirty="0">
                          <a:solidFill>
                            <a:srgbClr val="486581"/>
                          </a:solidFill>
                          <a:latin typeface="Calibri" pitchFamily="34" charset="0"/>
                          <a:ea typeface="Calibri" pitchFamily="34" charset="-122"/>
                          <a:cs typeface="Calibri" pitchFamily="34" charset="-120"/>
                        </a:rPr>
                        <a:t>Start ↔ Kill</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950" dirty="0">
                          <a:solidFill>
                            <a:srgbClr val="486581"/>
                          </a:solidFill>
                          <a:latin typeface="Calibri" pitchFamily="34" charset="0"/>
                          <a:ea typeface="Calibri" pitchFamily="34" charset="-122"/>
                          <a:cs typeface="Calibri" pitchFamily="34" charset="-120"/>
                        </a:rPr>
                        <a:t>the last exit code, then </a:t>
                      </a:r>
                      <a:pPr indent="0" marL="0">
                        <a:buNone/>
                      </a:pPr>
                      <a:r>
                        <a:rPr lang="en-US" sz="950" dirty="0">
                          <a:solidFill>
                            <a:srgbClr val="102A43"/>
                          </a:solidFill>
                          <a:latin typeface="Courier New" pitchFamily="34" charset="0"/>
                          <a:ea typeface="Courier New" pitchFamily="34" charset="-122"/>
                          <a:cs typeface="Courier New" pitchFamily="34" charset="-120"/>
                        </a:rPr>
                        <a:t>kubectl logs --previous</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02A43"/>
                          </a:solidFill>
                          <a:latin typeface="Courier New" pitchFamily="34" charset="0"/>
                          <a:ea typeface="Courier New" pitchFamily="34" charset="-122"/>
                          <a:cs typeface="Courier New" pitchFamily="34" charset="-120"/>
                        </a:rPr>
                        <a:t>Running</a:t>
                      </a:r>
                      <a:pPr indent="0" marL="0">
                        <a:buNone/>
                      </a:pPr>
                      <a:r>
                        <a:rPr lang="en-US" sz="950" dirty="0">
                          <a:solidFill>
                            <a:srgbClr val="102A43"/>
                          </a:solidFill>
                          <a:latin typeface="Calibri" pitchFamily="34" charset="0"/>
                          <a:ea typeface="Calibri" pitchFamily="34" charset="-122"/>
                          <a:cs typeface="Calibri" pitchFamily="34" charset="-120"/>
                        </a:rPr>
                        <a:t> but </a:t>
                      </a:r>
                      <a:pPr indent="0" marL="0">
                        <a:buNone/>
                      </a:pPr>
                      <a:r>
                        <a:rPr lang="en-US" sz="950" dirty="0">
                          <a:solidFill>
                            <a:srgbClr val="102A43"/>
                          </a:solidFill>
                          <a:latin typeface="Courier New" pitchFamily="34" charset="0"/>
                          <a:ea typeface="Courier New" pitchFamily="34" charset="-122"/>
                          <a:cs typeface="Courier New" pitchFamily="34" charset="-120"/>
                        </a:rPr>
                        <a:t>0/1</a:t>
                      </a:r>
                      <a:pPr indent="0" marL="0">
                        <a:buNone/>
                      </a:pPr>
                      <a:r>
                        <a:rPr lang="en-US" sz="950" dirty="0">
                          <a:solidFill>
                            <a:srgbClr val="102A43"/>
                          </a:solidFill>
                          <a:latin typeface="Calibri" pitchFamily="34" charset="0"/>
                          <a:ea typeface="Calibri" pitchFamily="34" charset="-122"/>
                          <a:cs typeface="Calibri" pitchFamily="34" charset="-120"/>
                        </a:rPr>
                        <a:t> for minutes</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c>
                  <a:txBody>
                    <a:bodyPr/>
                    <a:lstStyle/>
                    <a:p>
                      <a:pPr indent="0" marL="0">
                        <a:buNone/>
                      </a:pPr>
                      <a:r>
                        <a:rPr lang="en-US" sz="950" dirty="0">
                          <a:solidFill>
                            <a:srgbClr val="486581"/>
                          </a:solidFill>
                          <a:latin typeface="Calibri" pitchFamily="34" charset="0"/>
                          <a:ea typeface="Calibri" pitchFamily="34" charset="-122"/>
                          <a:cs typeface="Calibri" pitchFamily="34" charset="-120"/>
                        </a:rPr>
                        <a:t>Route</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c>
                  <a:txBody>
                    <a:bodyPr/>
                    <a:lstStyle/>
                    <a:p>
                      <a:pPr indent="0" marL="0">
                        <a:buNone/>
                      </a:pPr>
                      <a:r>
                        <a:rPr lang="en-US" sz="950" dirty="0">
                          <a:solidFill>
                            <a:srgbClr val="486581"/>
                          </a:solidFill>
                          <a:latin typeface="Calibri" pitchFamily="34" charset="0"/>
                          <a:ea typeface="Calibri" pitchFamily="34" charset="-122"/>
                          <a:cs typeface="Calibri" pitchFamily="34" charset="-120"/>
                        </a:rPr>
                        <a:t>the readiness probe's own failure text, in the pod's events</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AFCFE"/>
                    </a:solidFill>
                  </a:tcPr>
                </a:tc>
              </a:tr>
              <a:tr h="0">
                <a:tc>
                  <a:txBody>
                    <a:bodyPr/>
                    <a:lstStyle/>
                    <a:p>
                      <a:pPr indent="0" marL="0">
                        <a:buNone/>
                      </a:pPr>
                      <a:r>
                        <a:rPr lang="en-US" sz="950" dirty="0">
                          <a:solidFill>
                            <a:srgbClr val="102A43"/>
                          </a:solidFill>
                          <a:latin typeface="Courier New" pitchFamily="34" charset="0"/>
                          <a:ea typeface="Courier New" pitchFamily="34" charset="-122"/>
                          <a:cs typeface="Courier New" pitchFamily="34" charset="-120"/>
                        </a:rPr>
                        <a:t>RESTARTS</a:t>
                      </a:r>
                      <a:pPr indent="0" marL="0">
                        <a:buNone/>
                      </a:pPr>
                      <a:r>
                        <a:rPr lang="en-US" sz="950" dirty="0">
                          <a:solidFill>
                            <a:srgbClr val="102A43"/>
                          </a:solidFill>
                          <a:latin typeface="Calibri" pitchFamily="34" charset="0"/>
                          <a:ea typeface="Calibri" pitchFamily="34" charset="-122"/>
                          <a:cs typeface="Calibri" pitchFamily="34" charset="-120"/>
                        </a:rPr>
                        <a:t> climbing</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950" dirty="0">
                          <a:solidFill>
                            <a:srgbClr val="486581"/>
                          </a:solidFill>
                          <a:latin typeface="Calibri" pitchFamily="34" charset="0"/>
                          <a:ea typeface="Calibri" pitchFamily="34" charset="-122"/>
                          <a:cs typeface="Calibri" pitchFamily="34" charset="-120"/>
                        </a:rPr>
                        <a:t>Kill</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950" dirty="0">
                          <a:solidFill>
                            <a:srgbClr val="102A43"/>
                          </a:solidFill>
                          <a:latin typeface="Courier New" pitchFamily="34" charset="0"/>
                          <a:ea typeface="Courier New" pitchFamily="34" charset="-122"/>
                          <a:cs typeface="Courier New" pitchFamily="34" charset="-120"/>
                        </a:rPr>
                        <a:t>lastState.terminated.reason</a:t>
                      </a:r>
                      <a:pPr indent="0" marL="0">
                        <a:buNone/>
                      </a:pPr>
                      <a:r>
                        <a:rPr lang="en-US" sz="950" dirty="0">
                          <a:solidFill>
                            <a:srgbClr val="486581"/>
                          </a:solidFill>
                          <a:latin typeface="Calibri" pitchFamily="34" charset="0"/>
                          <a:ea typeface="Calibri" pitchFamily="34" charset="-122"/>
                          <a:cs typeface="Calibri" pitchFamily="34" charset="-120"/>
                        </a:rPr>
                        <a:t> — </a:t>
                      </a:r>
                      <a:pPr indent="0" marL="0">
                        <a:buNone/>
                      </a:pPr>
                      <a:r>
                        <a:rPr lang="en-US" sz="950" dirty="0">
                          <a:solidFill>
                            <a:srgbClr val="102A43"/>
                          </a:solidFill>
                          <a:latin typeface="Courier New" pitchFamily="34" charset="0"/>
                          <a:ea typeface="Courier New" pitchFamily="34" charset="-122"/>
                          <a:cs typeface="Courier New" pitchFamily="34" charset="-120"/>
                        </a:rPr>
                        <a:t>OOMKilled</a:t>
                      </a:r>
                      <a:pPr indent="0" marL="0">
                        <a:buNone/>
                      </a:pPr>
                      <a:r>
                        <a:rPr lang="en-US" sz="950" dirty="0">
                          <a:solidFill>
                            <a:srgbClr val="486581"/>
                          </a:solidFill>
                          <a:latin typeface="Calibri" pitchFamily="34" charset="0"/>
                          <a:ea typeface="Calibri" pitchFamily="34" charset="-122"/>
                          <a:cs typeface="Calibri" pitchFamily="34" charset="-120"/>
                        </a:rPr>
                        <a:t>, or </a:t>
                      </a:r>
                      <a:pPr indent="0" marL="0">
                        <a:buNone/>
                      </a:pPr>
                      <a:r>
                        <a:rPr lang="en-US" sz="950" dirty="0">
                          <a:solidFill>
                            <a:srgbClr val="102A43"/>
                          </a:solidFill>
                          <a:latin typeface="Courier New" pitchFamily="34" charset="0"/>
                          <a:ea typeface="Courier New" pitchFamily="34" charset="-122"/>
                          <a:cs typeface="Courier New" pitchFamily="34" charset="-120"/>
                        </a:rPr>
                        <a:t>Error</a:t>
                      </a:r>
                      <a:pPr indent="0" marL="0">
                        <a:buNone/>
                      </a:pPr>
                      <a:r>
                        <a:rPr lang="en-US" sz="950" dirty="0">
                          <a:solidFill>
                            <a:srgbClr val="486581"/>
                          </a:solidFill>
                          <a:latin typeface="Calibri" pitchFamily="34" charset="0"/>
                          <a:ea typeface="Calibri" pitchFamily="34" charset="-122"/>
                          <a:cs typeface="Calibri" pitchFamily="34" charset="-120"/>
                        </a:rPr>
                        <a:t> beside a liveness event, or </a:t>
                      </a:r>
                      <a:pPr indent="0" marL="0">
                        <a:buNone/>
                      </a:pPr>
                      <a:r>
                        <a:rPr lang="en-US" sz="950" dirty="0">
                          <a:solidFill>
                            <a:srgbClr val="102A43"/>
                          </a:solidFill>
                          <a:latin typeface="Courier New" pitchFamily="34" charset="0"/>
                          <a:ea typeface="Courier New" pitchFamily="34" charset="-122"/>
                          <a:cs typeface="Courier New" pitchFamily="34" charset="-120"/>
                        </a:rPr>
                        <a:t>Unknown</a:t>
                      </a:r>
                      <a:endParaRPr lang="en-US" sz="950" dirty="0">
                        <a:latin typeface="Calibri" charset="0"/>
                        <a:ea typeface="Calibri" charset="0"/>
                        <a:cs typeface="Calibri" charset="0"/>
                      </a:endParaRPr>
                    </a:p>
                  </a:txBody>
                  <a:tcPr marL="101600" marR="101600" marT="50800" marB="76200" anchor="t">
                    <a:lnL w="0" cap="flat" cmpd="sng" algn="ctr">
                      <a:noFill/>
                    </a:lnL>
                    <a:lnR w="0" cap="flat" cmpd="sng" algn="ctr">
                      <a:noFill/>
                    </a:lnR>
                    <a:lnT w="0" cap="flat" cmpd="sng" algn="ctr">
                      <a:noFill/>
                    </a:lnT>
                    <a:lnB w="6350" cap="flat" cmpd="sng" algn="ctr">
                      <a:solidFill>
                        <a:srgbClr val="D9E2EC"/>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968496"/>
            <a:ext cx="8229600" cy="841248"/>
          </a:xfrm>
          <a:prstGeom prst="roundRect">
            <a:avLst>
              <a:gd name="adj" fmla="val 6522"/>
            </a:avLst>
          </a:prstGeom>
          <a:solidFill>
            <a:srgbClr val="F0F4F8"/>
          </a:solidFill>
          <a:ln w="12700">
            <a:solidFill>
              <a:srgbClr val="D9E2EC"/>
            </a:solidFill>
            <a:prstDash val="solid"/>
          </a:ln>
        </p:spPr>
      </p:sp>
      <p:sp>
        <p:nvSpPr>
          <p:cNvPr id="7" name="Text 4"/>
          <p:cNvSpPr txBox="1"/>
          <p:nvPr/>
        </p:nvSpPr>
        <p:spPr>
          <a:xfrm>
            <a:off x="640080" y="4041648"/>
            <a:ext cx="7863840" cy="182880"/>
          </a:xfrm>
          <a:prstGeom prst="rect">
            <a:avLst/>
          </a:prstGeom>
          <a:noFill/>
          <a:ln/>
        </p:spPr>
        <p:txBody>
          <a:bodyPr wrap="square" lIns="0" tIns="0" rIns="0" bIns="0" rtlCol="0" anchor="ctr"/>
          <a:lstStyle/>
          <a:p>
            <a:pPr indent="0" marL="0">
              <a:buNone/>
            </a:pPr>
            <a:r>
              <a:rPr lang="en-US" sz="850" b="1" spc="90" kern="0" dirty="0">
                <a:solidFill>
                  <a:srgbClr val="0A558C"/>
                </a:solidFill>
                <a:latin typeface="Calibri" pitchFamily="34" charset="0"/>
                <a:ea typeface="Calibri" pitchFamily="34" charset="-122"/>
                <a:cs typeface="Calibri" pitchFamily="34" charset="-120"/>
              </a:rPr>
              <a:t>THREE FAULTS, ONE WORD</a:t>
            </a:r>
            <a:endParaRPr lang="en-US" sz="850" dirty="0"/>
          </a:p>
        </p:txBody>
      </p:sp>
      <p:sp>
        <p:nvSpPr>
          <p:cNvPr id="8" name="Text 5"/>
          <p:cNvSpPr txBox="1"/>
          <p:nvPr/>
        </p:nvSpPr>
        <p:spPr>
          <a:xfrm>
            <a:off x="640080" y="4224528"/>
            <a:ext cx="7863840" cy="530352"/>
          </a:xfrm>
          <a:prstGeom prst="rect">
            <a:avLst/>
          </a:prstGeom>
          <a:noFill/>
          <a:ln/>
        </p:spPr>
        <p:txBody>
          <a:bodyPr wrap="square" lIns="0" tIns="0" rIns="0" bIns="0" rtlCol="0" anchor="t"/>
          <a:lstStyle/>
          <a:p>
            <a:pPr indent="0" marL="0">
              <a:buNone/>
            </a:pPr>
            <a:r>
              <a:rPr lang="en-US" sz="1100" dirty="0">
                <a:solidFill>
                  <a:srgbClr val="102A43"/>
                </a:solidFill>
                <a:latin typeface="Courier New" pitchFamily="34" charset="0"/>
                <a:ea typeface="Courier New" pitchFamily="34" charset="-122"/>
                <a:cs typeface="Courier New" pitchFamily="34" charset="-120"/>
              </a:rPr>
              <a:t>CrashLoopBackOff</a:t>
            </a:r>
            <a:pPr indent="0" marL="0">
              <a:buNone/>
            </a:pPr>
            <a:r>
              <a:rPr lang="en-US" sz="1100" dirty="0">
                <a:solidFill>
                  <a:srgbClr val="102A43"/>
                </a:solidFill>
                <a:latin typeface="Calibri" pitchFamily="34" charset="0"/>
                <a:ea typeface="Calibri" pitchFamily="34" charset="-122"/>
                <a:cs typeface="Calibri" pitchFamily="34" charset="-120"/>
              </a:rPr>
              <a:t> means three different things. </a:t>
            </a:r>
            <a:pPr indent="0" marL="0">
              <a:buNone/>
            </a:pPr>
            <a:r>
              <a:rPr lang="en-US" sz="1100" b="1" dirty="0">
                <a:solidFill>
                  <a:srgbClr val="102A43"/>
                </a:solidFill>
                <a:latin typeface="Calibri" pitchFamily="34" charset="0"/>
                <a:ea typeface="Calibri" pitchFamily="34" charset="-122"/>
                <a:cs typeface="Calibri" pitchFamily="34" charset="-120"/>
              </a:rPr>
              <a:t>Exit 1</a:t>
            </a:r>
            <a:pPr indent="0" marL="0">
              <a:buNone/>
            </a:pPr>
            <a:r>
              <a:rPr lang="en-US" sz="1100" dirty="0">
                <a:solidFill>
                  <a:srgbClr val="102A43"/>
                </a:solidFill>
                <a:latin typeface="Calibri" pitchFamily="34" charset="0"/>
                <a:ea typeface="Calibri" pitchFamily="34" charset="-122"/>
                <a:cs typeface="Calibri" pitchFamily="34" charset="-120"/>
              </a:rPr>
              <a:t> is your code — </a:t>
            </a:r>
            <a:pPr indent="0" marL="0">
              <a:buNone/>
            </a:pPr>
            <a:r>
              <a:rPr lang="en-US" sz="1100" dirty="0">
                <a:solidFill>
                  <a:srgbClr val="102A43"/>
                </a:solidFill>
                <a:latin typeface="Courier New" pitchFamily="34" charset="0"/>
                <a:ea typeface="Courier New" pitchFamily="34" charset="-122"/>
                <a:cs typeface="Courier New" pitchFamily="34" charset="-120"/>
              </a:rPr>
              <a:t>logs --previous</a:t>
            </a:r>
            <a:pPr indent="0" marL="0">
              <a:buNone/>
            </a:pPr>
            <a:r>
              <a:rPr lang="en-US" sz="1100" dirty="0">
                <a:solidFill>
                  <a:srgbClr val="102A43"/>
                </a:solidFill>
                <a:latin typeface="Calibri" pitchFamily="34" charset="0"/>
                <a:ea typeface="Calibri" pitchFamily="34" charset="-122"/>
                <a:cs typeface="Calibri" pitchFamily="34" charset="-120"/>
              </a:rPr>
              <a:t> has its last words. </a:t>
            </a:r>
            <a:pPr indent="0" marL="0">
              <a:buNone/>
            </a:pPr>
            <a:r>
              <a:rPr lang="en-US" sz="1100" b="1" dirty="0">
                <a:solidFill>
                  <a:srgbClr val="102A43"/>
                </a:solidFill>
                <a:latin typeface="Calibri" pitchFamily="34" charset="0"/>
                <a:ea typeface="Calibri" pitchFamily="34" charset="-122"/>
                <a:cs typeface="Calibri" pitchFamily="34" charset="-120"/>
              </a:rPr>
              <a:t>137 with </a:t>
            </a:r>
            <a:pPr indent="0" marL="0">
              <a:buNone/>
            </a:pPr>
            <a:r>
              <a:rPr lang="en-US" sz="1100" b="1" dirty="0">
                <a:solidFill>
                  <a:srgbClr val="102A43"/>
                </a:solidFill>
                <a:latin typeface="Courier New" pitchFamily="34" charset="0"/>
                <a:ea typeface="Courier New" pitchFamily="34" charset="-122"/>
                <a:cs typeface="Courier New" pitchFamily="34" charset="-120"/>
              </a:rPr>
              <a:t>OOMKilled</a:t>
            </a:r>
            <a:pPr indent="0" marL="0">
              <a:buNone/>
            </a:pPr>
            <a:r>
              <a:rPr lang="en-US" sz="1100" dirty="0">
                <a:solidFill>
                  <a:srgbClr val="102A43"/>
                </a:solidFill>
                <a:latin typeface="Calibri" pitchFamily="34" charset="0"/>
                <a:ea typeface="Calibri" pitchFamily="34" charset="-122"/>
                <a:cs typeface="Calibri" pitchFamily="34" charset="-120"/>
              </a:rPr>
              <a:t> is the kernel at your memory limit. </a:t>
            </a:r>
            <a:pPr indent="0" marL="0">
              <a:buNone/>
            </a:pPr>
            <a:r>
              <a:rPr lang="en-US" sz="1100" b="1" dirty="0">
                <a:solidFill>
                  <a:srgbClr val="102A43"/>
                </a:solidFill>
                <a:latin typeface="Calibri" pitchFamily="34" charset="0"/>
                <a:ea typeface="Calibri" pitchFamily="34" charset="-122"/>
                <a:cs typeface="Calibri" pitchFamily="34" charset="-120"/>
              </a:rPr>
              <a:t>137 beside a liveness event</a:t>
            </a:r>
            <a:pPr indent="0" marL="0">
              <a:buNone/>
            </a:pPr>
            <a:r>
              <a:rPr lang="en-US" sz="1100" dirty="0">
                <a:solidFill>
                  <a:srgbClr val="102A43"/>
                </a:solidFill>
                <a:latin typeface="Calibri" pitchFamily="34" charset="0"/>
                <a:ea typeface="Calibri" pitchFamily="34" charset="-122"/>
                <a:cs typeface="Calibri" pitchFamily="34" charset="-120"/>
              </a:rPr>
              <a:t> is Kubernetes deciding you were wedged. And an empty log is not evidence about your app: it means the container never started.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140" kern="0" dirty="0">
                <a:solidFill>
                  <a:srgbClr val="0A558C"/>
                </a:solidFill>
                <a:latin typeface="Calibri" pitchFamily="34" charset="0"/>
                <a:ea typeface="Calibri" pitchFamily="34" charset="-122"/>
                <a:cs typeface="Calibri" pitchFamily="34" charset="-120"/>
              </a:rPr>
              <a:t>THIS WEEK</a:t>
            </a:r>
            <a:endParaRPr lang="en-US" sz="1000" dirty="0"/>
          </a:p>
        </p:txBody>
      </p:sp>
      <p:sp>
        <p:nvSpPr>
          <p:cNvPr id="3" name="Text 1"/>
          <p:cNvSpPr txBox="1"/>
          <p:nvPr/>
        </p:nvSpPr>
        <p:spPr>
          <a:xfrm>
            <a:off x="457200" y="502920"/>
            <a:ext cx="8229600" cy="502920"/>
          </a:xfrm>
          <a:prstGeom prst="rect">
            <a:avLst/>
          </a:prstGeom>
          <a:noFill/>
          <a:ln/>
        </p:spPr>
        <p:txBody>
          <a:bodyPr wrap="square" lIns="0" tIns="0" rIns="0" bIns="0" rtlCol="0" anchor="ctr"/>
          <a:lstStyle/>
          <a:p>
            <a:pPr indent="0" marL="0">
              <a:buNone/>
            </a:pPr>
            <a:r>
              <a:rPr lang="en-US" sz="2900" b="1" dirty="0">
                <a:solidFill>
                  <a:srgbClr val="102A43"/>
                </a:solidFill>
                <a:latin typeface="Cambria" pitchFamily="34" charset="0"/>
                <a:ea typeface="Cambria" pitchFamily="34" charset="-122"/>
                <a:cs typeface="Cambria" pitchFamily="34" charset="-120"/>
              </a:rPr>
              <a:t>Four things to do with your own service</a:t>
            </a:r>
            <a:endParaRPr lang="en-US" sz="2900" dirty="0"/>
          </a:p>
        </p:txBody>
      </p:sp>
      <p:sp>
        <p:nvSpPr>
          <p:cNvPr id="4" name="Shape 2"/>
          <p:cNvSpPr/>
          <p:nvPr/>
        </p:nvSpPr>
        <p:spPr>
          <a:xfrm>
            <a:off x="457200" y="1133856"/>
            <a:ext cx="256032" cy="256032"/>
          </a:xfrm>
          <a:prstGeom prst="ellipse">
            <a:avLst/>
          </a:prstGeom>
          <a:solidFill>
            <a:srgbClr val="2680C2"/>
          </a:solidFill>
          <a:ln w="12700">
            <a:solidFill>
              <a:srgbClr val="2680C2"/>
            </a:solidFill>
            <a:prstDash val="solid"/>
          </a:ln>
        </p:spPr>
      </p:sp>
      <p:sp>
        <p:nvSpPr>
          <p:cNvPr id="5" name="Text 3"/>
          <p:cNvSpPr txBox="1"/>
          <p:nvPr/>
        </p:nvSpPr>
        <p:spPr>
          <a:xfrm>
            <a:off x="457200" y="11338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804672" y="1115568"/>
            <a:ext cx="3630168" cy="274320"/>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Open your values file and read it as three doors</a:t>
            </a:r>
            <a:endParaRPr lang="en-US" sz="1250" dirty="0"/>
          </a:p>
        </p:txBody>
      </p:sp>
      <p:sp>
        <p:nvSpPr>
          <p:cNvPr id="7" name="Text 5"/>
          <p:cNvSpPr txBox="1"/>
          <p:nvPr/>
        </p:nvSpPr>
        <p:spPr>
          <a:xfrm>
            <a:off x="804672" y="1408176"/>
            <a:ext cx="3630168" cy="658368"/>
          </a:xfrm>
          <a:prstGeom prst="rect">
            <a:avLst/>
          </a:prstGeom>
          <a:noFill/>
          <a:ln/>
        </p:spPr>
        <p:txBody>
          <a:bodyPr wrap="square" lIns="0" tIns="0" rIns="0" bIns="0" rtlCol="0" anchor="t"/>
          <a:lstStyle/>
          <a:p>
            <a:pPr indent="0" marL="0">
              <a:buNone/>
            </a:pPr>
            <a:r>
              <a:rPr lang="en-US" sz="1000" dirty="0">
                <a:solidFill>
                  <a:srgbClr val="486581"/>
                </a:solidFill>
                <a:latin typeface="Calibri" pitchFamily="34" charset="0"/>
                <a:ea typeface="Calibri" pitchFamily="34" charset="-122"/>
                <a:cs typeface="Calibri" pitchFamily="34" charset="-120"/>
              </a:rPr>
              <a:t>For every number in it, can you say where it came from? A request nobody can defend is the number your autoscaler is dividing by.</a:t>
            </a:r>
            <a:endParaRPr lang="en-US" sz="1000" dirty="0"/>
          </a:p>
        </p:txBody>
      </p:sp>
      <p:sp>
        <p:nvSpPr>
          <p:cNvPr id="8" name="Shape 6"/>
          <p:cNvSpPr/>
          <p:nvPr/>
        </p:nvSpPr>
        <p:spPr>
          <a:xfrm>
            <a:off x="4709160" y="1133856"/>
            <a:ext cx="256032" cy="256032"/>
          </a:xfrm>
          <a:prstGeom prst="ellipse">
            <a:avLst/>
          </a:prstGeom>
          <a:solidFill>
            <a:srgbClr val="2680C2"/>
          </a:solidFill>
          <a:ln w="12700">
            <a:solidFill>
              <a:srgbClr val="2680C2"/>
            </a:solidFill>
            <a:prstDash val="solid"/>
          </a:ln>
        </p:spPr>
      </p:sp>
      <p:sp>
        <p:nvSpPr>
          <p:cNvPr id="9" name="Text 7"/>
          <p:cNvSpPr txBox="1"/>
          <p:nvPr/>
        </p:nvSpPr>
        <p:spPr>
          <a:xfrm>
            <a:off x="4709160" y="11338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5056632" y="1115568"/>
            <a:ext cx="3630168" cy="274320"/>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Check your readiness probe touches nothing but you</a:t>
            </a:r>
            <a:endParaRPr lang="en-US" sz="1250" dirty="0"/>
          </a:p>
        </p:txBody>
      </p:sp>
      <p:sp>
        <p:nvSpPr>
          <p:cNvPr id="11" name="Text 9"/>
          <p:cNvSpPr txBox="1"/>
          <p:nvPr/>
        </p:nvSpPr>
        <p:spPr>
          <a:xfrm>
            <a:off x="5056632" y="1408176"/>
            <a:ext cx="3630168" cy="658368"/>
          </a:xfrm>
          <a:prstGeom prst="rect">
            <a:avLst/>
          </a:prstGeom>
          <a:noFill/>
          <a:ln/>
        </p:spPr>
        <p:txBody>
          <a:bodyPr wrap="square" lIns="0" tIns="0" rIns="0" bIns="0" rtlCol="0" anchor="t"/>
          <a:lstStyle/>
          <a:p>
            <a:pPr indent="0" marL="0">
              <a:buNone/>
            </a:pPr>
            <a:r>
              <a:rPr lang="en-US" sz="1000" dirty="0">
                <a:solidFill>
                  <a:srgbClr val="486581"/>
                </a:solidFill>
                <a:latin typeface="Calibri" pitchFamily="34" charset="0"/>
                <a:ea typeface="Calibri" pitchFamily="34" charset="-122"/>
                <a:cs typeface="Calibri" pitchFamily="34" charset="-120"/>
              </a:rPr>
              <a:t>Five minutes and one line. It is the most common way a thirty-second blip somewhere else becomes your full outage.</a:t>
            </a:r>
            <a:endParaRPr lang="en-US" sz="1000" dirty="0"/>
          </a:p>
        </p:txBody>
      </p:sp>
      <p:sp>
        <p:nvSpPr>
          <p:cNvPr id="12" name="Shape 10"/>
          <p:cNvSpPr/>
          <p:nvPr/>
        </p:nvSpPr>
        <p:spPr>
          <a:xfrm>
            <a:off x="457200" y="2185416"/>
            <a:ext cx="256032" cy="256032"/>
          </a:xfrm>
          <a:prstGeom prst="ellipse">
            <a:avLst/>
          </a:prstGeom>
          <a:solidFill>
            <a:srgbClr val="2680C2"/>
          </a:solidFill>
          <a:ln w="12700">
            <a:solidFill>
              <a:srgbClr val="2680C2"/>
            </a:solidFill>
            <a:prstDash val="solid"/>
          </a:ln>
        </p:spPr>
      </p:sp>
      <p:sp>
        <p:nvSpPr>
          <p:cNvPr id="13" name="Text 11"/>
          <p:cNvSpPr txBox="1"/>
          <p:nvPr/>
        </p:nvSpPr>
        <p:spPr>
          <a:xfrm>
            <a:off x="457200" y="218541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txBox="1"/>
          <p:nvPr/>
        </p:nvSpPr>
        <p:spPr>
          <a:xfrm>
            <a:off x="804672" y="2167128"/>
            <a:ext cx="3630168" cy="274320"/>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Read </a:t>
            </a:r>
            <a:pPr indent="0" marL="0">
              <a:buNone/>
            </a:pPr>
            <a:r>
              <a:rPr lang="en-US" sz="1250" b="1" dirty="0">
                <a:solidFill>
                  <a:srgbClr val="102A43"/>
                </a:solidFill>
                <a:latin typeface="Courier New" pitchFamily="34" charset="0"/>
                <a:ea typeface="Courier New" pitchFamily="34" charset="-122"/>
                <a:cs typeface="Courier New" pitchFamily="34" charset="-120"/>
              </a:rPr>
              <a:t>kubectl get pods</a:t>
            </a:r>
            <a:pPr indent="0" marL="0">
              <a:buNone/>
            </a:pPr>
            <a:r>
              <a:rPr lang="en-US" sz="1250" b="1" dirty="0">
                <a:solidFill>
                  <a:srgbClr val="102A43"/>
                </a:solidFill>
                <a:latin typeface="Calibri" pitchFamily="34" charset="0"/>
                <a:ea typeface="Calibri" pitchFamily="34" charset="-122"/>
                <a:cs typeface="Calibri" pitchFamily="34" charset="-120"/>
              </a:rPr>
              <a:t> as the five steps</a:t>
            </a:r>
            <a:endParaRPr lang="en-US" sz="1250" dirty="0"/>
          </a:p>
        </p:txBody>
      </p:sp>
      <p:sp>
        <p:nvSpPr>
          <p:cNvPr id="15" name="Text 13"/>
          <p:cNvSpPr txBox="1"/>
          <p:nvPr/>
        </p:nvSpPr>
        <p:spPr>
          <a:xfrm>
            <a:off x="804672" y="2459736"/>
            <a:ext cx="3630168" cy="658368"/>
          </a:xfrm>
          <a:prstGeom prst="rect">
            <a:avLst/>
          </a:prstGeom>
          <a:noFill/>
          <a:ln/>
        </p:spPr>
        <p:txBody>
          <a:bodyPr wrap="square" lIns="0" tIns="0" rIns="0" bIns="0" rtlCol="0" anchor="t"/>
          <a:lstStyle/>
          <a:p>
            <a:pPr indent="0" marL="0">
              <a:buNone/>
            </a:pPr>
            <a:r>
              <a:rPr lang="en-US" sz="1000" dirty="0">
                <a:solidFill>
                  <a:srgbClr val="486581"/>
                </a:solidFill>
                <a:latin typeface="Calibri" pitchFamily="34" charset="0"/>
                <a:ea typeface="Calibri" pitchFamily="34" charset="-122"/>
                <a:cs typeface="Calibri" pitchFamily="34" charset="-120"/>
              </a:rPr>
              <a:t>STATUS covers admit, schedule and start; READY is route; RESTARTS is kill — and a young AGE during an old incident means the evidence already died with the last pod.</a:t>
            </a:r>
            <a:endParaRPr lang="en-US" sz="1000" dirty="0"/>
          </a:p>
        </p:txBody>
      </p:sp>
      <p:sp>
        <p:nvSpPr>
          <p:cNvPr id="16" name="Shape 14"/>
          <p:cNvSpPr/>
          <p:nvPr/>
        </p:nvSpPr>
        <p:spPr>
          <a:xfrm>
            <a:off x="4709160" y="2185416"/>
            <a:ext cx="256032" cy="256032"/>
          </a:xfrm>
          <a:prstGeom prst="ellipse">
            <a:avLst/>
          </a:prstGeom>
          <a:solidFill>
            <a:srgbClr val="2680C2"/>
          </a:solidFill>
          <a:ln w="12700">
            <a:solidFill>
              <a:srgbClr val="2680C2"/>
            </a:solidFill>
            <a:prstDash val="solid"/>
          </a:ln>
        </p:spPr>
      </p:sp>
      <p:sp>
        <p:nvSpPr>
          <p:cNvPr id="17" name="Text 15"/>
          <p:cNvSpPr txBox="1"/>
          <p:nvPr/>
        </p:nvSpPr>
        <p:spPr>
          <a:xfrm>
            <a:off x="4709160" y="218541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6"/>
          <p:cNvSpPr txBox="1"/>
          <p:nvPr/>
        </p:nvSpPr>
        <p:spPr>
          <a:xfrm>
            <a:off x="5056632" y="2167128"/>
            <a:ext cx="3630168" cy="274320"/>
          </a:xfrm>
          <a:prstGeom prst="rect">
            <a:avLst/>
          </a:prstGeom>
          <a:noFill/>
          <a:ln/>
        </p:spPr>
        <p:txBody>
          <a:bodyPr wrap="square" lIns="0" tIns="0" rIns="0" bIns="0" rtlCol="0" anchor="ctr"/>
          <a:lstStyle/>
          <a:p>
            <a:pPr indent="0" marL="0">
              <a:buNone/>
            </a:pPr>
            <a:r>
              <a:rPr lang="en-US" sz="1250" b="1" dirty="0">
                <a:solidFill>
                  <a:srgbClr val="102A43"/>
                </a:solidFill>
                <a:latin typeface="Calibri" pitchFamily="34" charset="0"/>
                <a:ea typeface="Calibri" pitchFamily="34" charset="-122"/>
                <a:cs typeface="Calibri" pitchFamily="34" charset="-120"/>
              </a:rPr>
              <a:t>Find both views of one of your pods</a:t>
            </a:r>
            <a:endParaRPr lang="en-US" sz="1250" dirty="0"/>
          </a:p>
        </p:txBody>
      </p:sp>
      <p:sp>
        <p:nvSpPr>
          <p:cNvPr id="19" name="Text 17"/>
          <p:cNvSpPr txBox="1"/>
          <p:nvPr/>
        </p:nvSpPr>
        <p:spPr>
          <a:xfrm>
            <a:off x="5056632" y="2459736"/>
            <a:ext cx="3630168" cy="658368"/>
          </a:xfrm>
          <a:prstGeom prst="rect">
            <a:avLst/>
          </a:prstGeom>
          <a:noFill/>
          <a:ln/>
        </p:spPr>
        <p:txBody>
          <a:bodyPr wrap="square" lIns="0" tIns="0" rIns="0" bIns="0" rtlCol="0" anchor="t"/>
          <a:lstStyle/>
          <a:p>
            <a:pPr indent="0" marL="0">
              <a:buNone/>
            </a:pPr>
            <a:r>
              <a:rPr lang="en-US" sz="1000" dirty="0">
                <a:solidFill>
                  <a:srgbClr val="486581"/>
                </a:solidFill>
                <a:latin typeface="Calibri" pitchFamily="34" charset="0"/>
                <a:ea typeface="Calibri" pitchFamily="34" charset="-122"/>
                <a:cs typeface="Calibri" pitchFamily="34" charset="-120"/>
              </a:rPr>
              <a:t>Your app's own metrics endpoint, and the cluster's view of the same container. Know which number comes from where before the day you need to tell them apart.</a:t>
            </a:r>
            <a:endParaRPr lang="en-US" sz="1000" dirty="0"/>
          </a:p>
        </p:txBody>
      </p:sp>
      <p:sp>
        <p:nvSpPr>
          <p:cNvPr id="20" name="Shape 18"/>
          <p:cNvSpPr/>
          <p:nvPr/>
        </p:nvSpPr>
        <p:spPr>
          <a:xfrm>
            <a:off x="457200" y="3447288"/>
            <a:ext cx="8229600" cy="914400"/>
          </a:xfrm>
          <a:prstGeom prst="roundRect">
            <a:avLst>
              <a:gd name="adj" fmla="val 6000"/>
            </a:avLst>
          </a:prstGeom>
          <a:solidFill>
            <a:srgbClr val="F0F4F8"/>
          </a:solidFill>
          <a:ln w="12700">
            <a:solidFill>
              <a:srgbClr val="D9E2EC"/>
            </a:solidFill>
            <a:prstDash val="solid"/>
          </a:ln>
        </p:spPr>
      </p:sp>
      <p:sp>
        <p:nvSpPr>
          <p:cNvPr id="21" name="Text 19"/>
          <p:cNvSpPr txBox="1"/>
          <p:nvPr/>
        </p:nvSpPr>
        <p:spPr>
          <a:xfrm>
            <a:off x="640080" y="3538728"/>
            <a:ext cx="7863840" cy="182880"/>
          </a:xfrm>
          <a:prstGeom prst="rect">
            <a:avLst/>
          </a:prstGeom>
          <a:noFill/>
          <a:ln/>
        </p:spPr>
        <p:txBody>
          <a:bodyPr wrap="square" lIns="0" tIns="0" rIns="0" bIns="0" rtlCol="0" anchor="ctr"/>
          <a:lstStyle/>
          <a:p>
            <a:pPr indent="0" marL="0">
              <a:buNone/>
            </a:pPr>
            <a:r>
              <a:rPr lang="en-US" sz="850" b="1" spc="90" kern="0" dirty="0">
                <a:solidFill>
                  <a:srgbClr val="0A558C"/>
                </a:solidFill>
                <a:latin typeface="Calibri" pitchFamily="34" charset="0"/>
                <a:ea typeface="Calibri" pitchFamily="34" charset="-122"/>
                <a:cs typeface="Calibri" pitchFamily="34" charset="-120"/>
              </a:rPr>
              <a:t>WHERE TO GO NEXT, IN THE ORDER YOU WILL NEED IT</a:t>
            </a:r>
            <a:endParaRPr lang="en-US" sz="850" dirty="0"/>
          </a:p>
        </p:txBody>
      </p:sp>
      <p:sp>
        <p:nvSpPr>
          <p:cNvPr id="22" name="Text 20">
            <a:hlinkClick r:id="rId1" tooltip=""/>
          </p:cNvPr>
          <p:cNvSpPr txBox="1"/>
          <p:nvPr/>
        </p:nvSpPr>
        <p:spPr>
          <a:xfrm>
            <a:off x="640080" y="3758184"/>
            <a:ext cx="1856232" cy="219456"/>
          </a:xfrm>
          <a:prstGeom prst="rect">
            <a:avLst/>
          </a:prstGeom>
          <a:noFill/>
          <a:ln/>
        </p:spPr>
        <p:txBody>
          <a:bodyPr wrap="square" lIns="0" tIns="0" rIns="0" bIns="0" rtlCol="0" anchor="ctr"/>
          <a:lstStyle/>
          <a:p>
            <a:pPr indent="0" marL="0">
              <a:buNone/>
            </a:pPr>
            <a:r>
              <a:rPr lang="en-US" sz="1100" b="1" u="sng" dirty="0">
                <a:solidFill>
                  <a:srgbClr val="0A558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Three Doors</a:t>
            </a:r>
            <a:endParaRPr lang="en-US" sz="1100" dirty="0"/>
          </a:p>
        </p:txBody>
      </p:sp>
      <p:sp>
        <p:nvSpPr>
          <p:cNvPr id="23" name="Text 21"/>
          <p:cNvSpPr txBox="1"/>
          <p:nvPr/>
        </p:nvSpPr>
        <p:spPr>
          <a:xfrm>
            <a:off x="640080" y="3959352"/>
            <a:ext cx="1856232" cy="347472"/>
          </a:xfrm>
          <a:prstGeom prst="rect">
            <a:avLst/>
          </a:prstGeom>
          <a:noFill/>
          <a:ln/>
        </p:spPr>
        <p:txBody>
          <a:bodyPr wrap="square" lIns="0" tIns="0" rIns="0" bIns="0" rtlCol="0" anchor="t"/>
          <a:lstStyle/>
          <a:p>
            <a:pPr indent="0" marL="0">
              <a:buNone/>
            </a:pPr>
            <a:r>
              <a:rPr lang="en-US" sz="900" dirty="0">
                <a:solidFill>
                  <a:srgbClr val="486581"/>
                </a:solidFill>
                <a:latin typeface="Calibri" pitchFamily="34" charset="0"/>
                <a:ea typeface="Calibri" pitchFamily="34" charset="-122"/>
                <a:cs typeface="Calibri" pitchFamily="34" charset="-120"/>
              </a:rPr>
              <a:t>the model above, in full, with the failure gallery</a:t>
            </a:r>
            <a:endParaRPr lang="en-US" sz="900" dirty="0"/>
          </a:p>
        </p:txBody>
      </p:sp>
      <p:sp>
        <p:nvSpPr>
          <p:cNvPr id="24" name="Text 22">
            <a:hlinkClick r:id="rId2" tooltip=""/>
          </p:cNvPr>
          <p:cNvSpPr txBox="1"/>
          <p:nvPr/>
        </p:nvSpPr>
        <p:spPr>
          <a:xfrm>
            <a:off x="2606040" y="3758184"/>
            <a:ext cx="1856232" cy="219456"/>
          </a:xfrm>
          <a:prstGeom prst="rect">
            <a:avLst/>
          </a:prstGeom>
          <a:noFill/>
          <a:ln/>
        </p:spPr>
        <p:txBody>
          <a:bodyPr wrap="square" lIns="0" tIns="0" rIns="0" bIns="0" rtlCol="0" anchor="ctr"/>
          <a:lstStyle/>
          <a:p>
            <a:pPr indent="0" marL="0">
              <a:buNone/>
            </a:pPr>
            <a:r>
              <a:rPr lang="en-US" sz="1100" b="1" u="sng" dirty="0">
                <a:solidFill>
                  <a:srgbClr val="0A558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Sizing Walkthrough</a:t>
            </a:r>
            <a:endParaRPr lang="en-US" sz="1100" dirty="0"/>
          </a:p>
        </p:txBody>
      </p:sp>
      <p:sp>
        <p:nvSpPr>
          <p:cNvPr id="25" name="Text 23"/>
          <p:cNvSpPr txBox="1"/>
          <p:nvPr/>
        </p:nvSpPr>
        <p:spPr>
          <a:xfrm>
            <a:off x="2606040" y="3959352"/>
            <a:ext cx="1856232" cy="347472"/>
          </a:xfrm>
          <a:prstGeom prst="rect">
            <a:avLst/>
          </a:prstGeom>
          <a:noFill/>
          <a:ln/>
        </p:spPr>
        <p:txBody>
          <a:bodyPr wrap="square" lIns="0" tIns="0" rIns="0" bIns="0" rtlCol="0" anchor="t"/>
          <a:lstStyle/>
          <a:p>
            <a:pPr indent="0" marL="0">
              <a:buNone/>
            </a:pPr>
            <a:r>
              <a:rPr lang="en-US" sz="900" dirty="0">
                <a:solidFill>
                  <a:srgbClr val="486581"/>
                </a:solidFill>
                <a:latin typeface="Calibri" pitchFamily="34" charset="0"/>
                <a:ea typeface="Calibri" pitchFamily="34" charset="-122"/>
                <a:cs typeface="Calibri" pitchFamily="34" charset="-120"/>
              </a:rPr>
              <a:t>turning a load test into requests, limits and probes</a:t>
            </a:r>
            <a:endParaRPr lang="en-US" sz="900" dirty="0"/>
          </a:p>
        </p:txBody>
      </p:sp>
      <p:sp>
        <p:nvSpPr>
          <p:cNvPr id="26" name="Text 24">
            <a:hlinkClick r:id="rId3" tooltip=""/>
          </p:cNvPr>
          <p:cNvSpPr txBox="1"/>
          <p:nvPr/>
        </p:nvSpPr>
        <p:spPr>
          <a:xfrm>
            <a:off x="4572000" y="3758184"/>
            <a:ext cx="1856232" cy="219456"/>
          </a:xfrm>
          <a:prstGeom prst="rect">
            <a:avLst/>
          </a:prstGeom>
          <a:noFill/>
          <a:ln/>
        </p:spPr>
        <p:txBody>
          <a:bodyPr wrap="square" lIns="0" tIns="0" rIns="0" bIns="0" rtlCol="0" anchor="ctr"/>
          <a:lstStyle/>
          <a:p>
            <a:pPr indent="0" marL="0">
              <a:buNone/>
            </a:pPr>
            <a:r>
              <a:rPr lang="en-US" sz="1100" b="1" u="sng" dirty="0">
                <a:solidFill>
                  <a:srgbClr val="0A558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 Two Roads</a:t>
            </a:r>
            <a:endParaRPr lang="en-US" sz="1100" dirty="0"/>
          </a:p>
        </p:txBody>
      </p:sp>
      <p:sp>
        <p:nvSpPr>
          <p:cNvPr id="27" name="Text 25"/>
          <p:cNvSpPr txBox="1"/>
          <p:nvPr/>
        </p:nvSpPr>
        <p:spPr>
          <a:xfrm>
            <a:off x="4572000" y="3959352"/>
            <a:ext cx="1856232" cy="347472"/>
          </a:xfrm>
          <a:prstGeom prst="rect">
            <a:avLst/>
          </a:prstGeom>
          <a:noFill/>
          <a:ln/>
        </p:spPr>
        <p:txBody>
          <a:bodyPr wrap="square" lIns="0" tIns="0" rIns="0" bIns="0" rtlCol="0" anchor="t"/>
          <a:lstStyle/>
          <a:p>
            <a:pPr indent="0" marL="0">
              <a:buNone/>
            </a:pPr>
            <a:r>
              <a:rPr lang="en-US" sz="900" dirty="0">
                <a:solidFill>
                  <a:srgbClr val="486581"/>
                </a:solidFill>
                <a:latin typeface="Calibri" pitchFamily="34" charset="0"/>
                <a:ea typeface="Calibri" pitchFamily="34" charset="-122"/>
                <a:cs typeface="Calibri" pitchFamily="34" charset="-120"/>
              </a:rPr>
              <a:t>the five steps, in full, for the day something breaks</a:t>
            </a:r>
            <a:endParaRPr lang="en-US" sz="900" dirty="0"/>
          </a:p>
        </p:txBody>
      </p:sp>
      <p:sp>
        <p:nvSpPr>
          <p:cNvPr id="28" name="Text 26">
            <a:hlinkClick r:id="rId4" tooltip=""/>
          </p:cNvPr>
          <p:cNvSpPr txBox="1"/>
          <p:nvPr/>
        </p:nvSpPr>
        <p:spPr>
          <a:xfrm>
            <a:off x="6537960" y="3758184"/>
            <a:ext cx="1856232" cy="219456"/>
          </a:xfrm>
          <a:prstGeom prst="rect">
            <a:avLst/>
          </a:prstGeom>
          <a:noFill/>
          <a:ln/>
        </p:spPr>
        <p:txBody>
          <a:bodyPr wrap="square" lIns="0" tIns="0" rIns="0" bIns="0" rtlCol="0" anchor="ctr"/>
          <a:lstStyle/>
          <a:p>
            <a:pPr indent="0" marL="0">
              <a:buNone/>
            </a:pPr>
            <a:r>
              <a:rPr lang="en-US" sz="1100" b="1" u="sng" dirty="0">
                <a:solidFill>
                  <a:srgbClr val="0A558C"/>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 Three Lenses</a:t>
            </a:r>
            <a:endParaRPr lang="en-US" sz="1100" dirty="0"/>
          </a:p>
        </p:txBody>
      </p:sp>
      <p:sp>
        <p:nvSpPr>
          <p:cNvPr id="29" name="Text 27"/>
          <p:cNvSpPr txBox="1"/>
          <p:nvPr/>
        </p:nvSpPr>
        <p:spPr>
          <a:xfrm>
            <a:off x="6537960" y="3959352"/>
            <a:ext cx="1856232" cy="347472"/>
          </a:xfrm>
          <a:prstGeom prst="rect">
            <a:avLst/>
          </a:prstGeom>
          <a:noFill/>
          <a:ln/>
        </p:spPr>
        <p:txBody>
          <a:bodyPr wrap="square" lIns="0" tIns="0" rIns="0" bIns="0" rtlCol="0" anchor="t"/>
          <a:lstStyle/>
          <a:p>
            <a:pPr indent="0" marL="0">
              <a:buNone/>
            </a:pPr>
            <a:r>
              <a:rPr lang="en-US" sz="900" dirty="0">
                <a:solidFill>
                  <a:srgbClr val="486581"/>
                </a:solidFill>
                <a:latin typeface="Calibri" pitchFamily="34" charset="0"/>
                <a:ea typeface="Calibri" pitchFamily="34" charset="-122"/>
                <a:cs typeface="Calibri" pitchFamily="34" charset="-120"/>
              </a:rPr>
              <a:t>the three places to stand, for the day something is slow</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from what you already know</dc:title>
  <dc:subject>PptxGenJS Presentation</dc:subject>
  <dc:creator>K8s Soup to Nuts</dc:creator>
  <cp:lastModifiedBy>K8s Soup to Nuts</cp:lastModifiedBy>
  <cp:revision>1</cp:revision>
  <dcterms:created xsi:type="dcterms:W3CDTF">2026-09-11T01:50:22Z</dcterms:created>
  <dcterms:modified xsi:type="dcterms:W3CDTF">2026-09-11T01:50:22Z</dcterms:modified>
</cp:coreProperties>
</file>